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charts/chart1.xml" ContentType="application/vnd.openxmlformats-officedocument.drawingml.chart+xml"/>
  <Override PartName="/ppt/charts/style1.xml" ContentType="application/vnd.ms-office.chartstyle+xml"/>
  <Override PartName="/ppt/charts/colors1.xml" ContentType="application/vnd.ms-office.chartcolorstyle+xml"/>
  <Override PartName="/ppt/charts/chart2.xml" ContentType="application/vnd.openxmlformats-officedocument.drawingml.chart+xml"/>
  <Override PartName="/ppt/charts/style2.xml" ContentType="application/vnd.ms-office.chartstyle+xml"/>
  <Override PartName="/ppt/charts/colors2.xml" ContentType="application/vnd.ms-office.chartcolorstyle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21"/>
  </p:notesMasterIdLst>
  <p:handoutMasterIdLst>
    <p:handoutMasterId r:id="rId22"/>
  </p:handoutMasterIdLst>
  <p:sldIdLst>
    <p:sldId id="257" r:id="rId2"/>
    <p:sldId id="259" r:id="rId3"/>
    <p:sldId id="261" r:id="rId4"/>
    <p:sldId id="262" r:id="rId5"/>
    <p:sldId id="265" r:id="rId6"/>
    <p:sldId id="281" r:id="rId7"/>
    <p:sldId id="269" r:id="rId8"/>
    <p:sldId id="270" r:id="rId9"/>
    <p:sldId id="282" r:id="rId10"/>
    <p:sldId id="275" r:id="rId11"/>
    <p:sldId id="276" r:id="rId12"/>
    <p:sldId id="271" r:id="rId13"/>
    <p:sldId id="272" r:id="rId14"/>
    <p:sldId id="273" r:id="rId15"/>
    <p:sldId id="274" r:id="rId16"/>
    <p:sldId id="279" r:id="rId17"/>
    <p:sldId id="268" r:id="rId18"/>
    <p:sldId id="280" r:id="rId19"/>
    <p:sldId id="260" r:id="rId20"/>
  </p:sldIdLst>
  <p:sldSz cx="12192000" cy="6858000"/>
  <p:notesSz cx="6858000" cy="9144000"/>
  <p:defaultTextStyle>
    <a:defPPr>
      <a:defRPr lang="es-EC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  <p:ext uri="{2D200454-40CA-4A62-9FC3-DE9A4176ACB9}">
      <p15:notes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6D9807"/>
    <a:srgbClr val="FF7A02"/>
    <a:srgbClr val="0492D2"/>
    <a:srgbClr val="C40069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A73FF76A-A7D4-471E-8732-AAC675A2AEB4}" v="34" dt="2026-05-25T05:27:15.132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11"/>
    <p:restoredTop sz="94694"/>
  </p:normalViewPr>
  <p:slideViewPr>
    <p:cSldViewPr snapToGrid="0" snapToObjects="1">
      <p:cViewPr>
        <p:scale>
          <a:sx n="75" d="100"/>
          <a:sy n="75" d="100"/>
        </p:scale>
        <p:origin x="516" y="-30"/>
      </p:cViewPr>
      <p:guideLst/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" d="1"/>
        <a:sy n="1" d="1"/>
      </p:scale>
      <p:origin x="0" y="0"/>
    </p:cViewPr>
  </p:notesTextViewPr>
  <p:notesViewPr>
    <p:cSldViewPr snapToGrid="0" snapToObjects="1">
      <p:cViewPr varScale="1">
        <p:scale>
          <a:sx n="99" d="100"/>
          <a:sy n="99" d="100"/>
        </p:scale>
        <p:origin x="4272" y="184"/>
      </p:cViewPr>
      <p:guideLst/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tableStyles" Target="tableStyles.xml"/><Relationship Id="rId3" Type="http://schemas.openxmlformats.org/officeDocument/2006/relationships/slide" Target="slides/slide2.xml"/><Relationship Id="rId21" Type="http://schemas.openxmlformats.org/officeDocument/2006/relationships/notesMaster" Target="notesMasters/notesMaster1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viewProps" Target="view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presProps" Target="presProps.xml"/><Relationship Id="rId28" Type="http://schemas.microsoft.com/office/2015/10/relationships/revisionInfo" Target="revisionInfo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handoutMaster" Target="handoutMasters/handoutMaster1.xml"/><Relationship Id="rId27" Type="http://schemas.microsoft.com/office/2016/11/relationships/changesInfo" Target="changesInfos/changesInfo1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Farith Mejia" userId="1e64b9c38bf0dbe8" providerId="LiveId" clId="{4CECA832-106F-4C17-BA3A-5BC2F1DB790F}"/>
    <pc:docChg chg="undo custSel addSld delSld modSld">
      <pc:chgData name="Farith Mejia" userId="1e64b9c38bf0dbe8" providerId="LiveId" clId="{4CECA832-106F-4C17-BA3A-5BC2F1DB790F}" dt="2026-05-25T05:39:50.548" v="116" actId="1076"/>
      <pc:docMkLst>
        <pc:docMk/>
      </pc:docMkLst>
      <pc:sldChg chg="addSp delSp modSp mod">
        <pc:chgData name="Farith Mejia" userId="1e64b9c38bf0dbe8" providerId="LiveId" clId="{4CECA832-106F-4C17-BA3A-5BC2F1DB790F}" dt="2026-05-25T05:24:31.584" v="86" actId="1076"/>
        <pc:sldMkLst>
          <pc:docMk/>
          <pc:sldMk cId="3679696970" sldId="269"/>
        </pc:sldMkLst>
        <pc:spChg chg="del mod">
          <ac:chgData name="Farith Mejia" userId="1e64b9c38bf0dbe8" providerId="LiveId" clId="{4CECA832-106F-4C17-BA3A-5BC2F1DB790F}" dt="2026-05-25T05:16:02.480" v="31" actId="478"/>
          <ac:spMkLst>
            <pc:docMk/>
            <pc:sldMk cId="3679696970" sldId="269"/>
            <ac:spMk id="3" creationId="{0B519B00-93D9-357A-923E-02954AE37663}"/>
          </ac:spMkLst>
        </pc:spChg>
        <pc:spChg chg="add del mod">
          <ac:chgData name="Farith Mejia" userId="1e64b9c38bf0dbe8" providerId="LiveId" clId="{4CECA832-106F-4C17-BA3A-5BC2F1DB790F}" dt="2026-05-25T05:17:08.320" v="34" actId="1032"/>
          <ac:spMkLst>
            <pc:docMk/>
            <pc:sldMk cId="3679696970" sldId="269"/>
            <ac:spMk id="4" creationId="{9D160A2F-8EAA-6D4A-C540-6F8B4D9460BC}"/>
          </ac:spMkLst>
        </pc:spChg>
        <pc:spChg chg="add del mod">
          <ac:chgData name="Farith Mejia" userId="1e64b9c38bf0dbe8" providerId="LiveId" clId="{4CECA832-106F-4C17-BA3A-5BC2F1DB790F}" dt="2026-05-25T05:22:36.221" v="76" actId="22"/>
          <ac:spMkLst>
            <pc:docMk/>
            <pc:sldMk cId="3679696970" sldId="269"/>
            <ac:spMk id="10" creationId="{84887DD3-7F37-1E16-4059-80660DF431C3}"/>
          </ac:spMkLst>
        </pc:spChg>
        <pc:spChg chg="add del mod">
          <ac:chgData name="Farith Mejia" userId="1e64b9c38bf0dbe8" providerId="LiveId" clId="{4CECA832-106F-4C17-BA3A-5BC2F1DB790F}" dt="2026-05-25T05:23:58.747" v="82" actId="931"/>
          <ac:spMkLst>
            <pc:docMk/>
            <pc:sldMk cId="3679696970" sldId="269"/>
            <ac:spMk id="14" creationId="{3AE1BB10-48C1-EF86-7BFD-E08C39653ABA}"/>
          </ac:spMkLst>
        </pc:spChg>
        <pc:graphicFrameChg chg="add del modGraphic">
          <ac:chgData name="Farith Mejia" userId="1e64b9c38bf0dbe8" providerId="LiveId" clId="{4CECA832-106F-4C17-BA3A-5BC2F1DB790F}" dt="2026-05-25T05:16:56.826" v="33" actId="1032"/>
          <ac:graphicFrameMkLst>
            <pc:docMk/>
            <pc:sldMk cId="3679696970" sldId="269"/>
            <ac:graphicFrameMk id="5" creationId="{89FC6E7E-4A70-291B-5C81-F0658F0C7FE7}"/>
          </ac:graphicFrameMkLst>
        </pc:graphicFrameChg>
        <pc:graphicFrameChg chg="add del mod modGraphic">
          <ac:chgData name="Farith Mejia" userId="1e64b9c38bf0dbe8" providerId="LiveId" clId="{4CECA832-106F-4C17-BA3A-5BC2F1DB790F}" dt="2026-05-25T05:20:08.991" v="75" actId="478"/>
          <ac:graphicFrameMkLst>
            <pc:docMk/>
            <pc:sldMk cId="3679696970" sldId="269"/>
            <ac:graphicFrameMk id="8" creationId="{93FCC15D-8B9D-DF01-CCCC-D696105489C4}"/>
          </ac:graphicFrameMkLst>
        </pc:graphicFrameChg>
        <pc:picChg chg="add del mod ord">
          <ac:chgData name="Farith Mejia" userId="1e64b9c38bf0dbe8" providerId="LiveId" clId="{4CECA832-106F-4C17-BA3A-5BC2F1DB790F}" dt="2026-05-25T05:22:51.476" v="81" actId="478"/>
          <ac:picMkLst>
            <pc:docMk/>
            <pc:sldMk cId="3679696970" sldId="269"/>
            <ac:picMk id="12" creationId="{C1687A4E-81EF-249F-C211-1270F4741040}"/>
          </ac:picMkLst>
        </pc:picChg>
        <pc:picChg chg="add mod ord">
          <ac:chgData name="Farith Mejia" userId="1e64b9c38bf0dbe8" providerId="LiveId" clId="{4CECA832-106F-4C17-BA3A-5BC2F1DB790F}" dt="2026-05-25T05:24:31.584" v="86" actId="1076"/>
          <ac:picMkLst>
            <pc:docMk/>
            <pc:sldMk cId="3679696970" sldId="269"/>
            <ac:picMk id="16" creationId="{DB374572-4A32-2792-C55E-25C4EBCFC2EE}"/>
          </ac:picMkLst>
        </pc:picChg>
      </pc:sldChg>
      <pc:sldChg chg="addSp modSp mod">
        <pc:chgData name="Farith Mejia" userId="1e64b9c38bf0dbe8" providerId="LiveId" clId="{4CECA832-106F-4C17-BA3A-5BC2F1DB790F}" dt="2026-05-25T05:36:20.436" v="104" actId="1076"/>
        <pc:sldMkLst>
          <pc:docMk/>
          <pc:sldMk cId="2775649296" sldId="270"/>
        </pc:sldMkLst>
        <pc:spChg chg="mod">
          <ac:chgData name="Farith Mejia" userId="1e64b9c38bf0dbe8" providerId="LiveId" clId="{4CECA832-106F-4C17-BA3A-5BC2F1DB790F}" dt="2026-05-25T05:27:35.863" v="98" actId="1076"/>
          <ac:spMkLst>
            <pc:docMk/>
            <pc:sldMk cId="2775649296" sldId="270"/>
            <ac:spMk id="3" creationId="{0B519B00-93D9-357A-923E-02954AE37663}"/>
          </ac:spMkLst>
        </pc:spChg>
        <pc:picChg chg="add mod">
          <ac:chgData name="Farith Mejia" userId="1e64b9c38bf0dbe8" providerId="LiveId" clId="{4CECA832-106F-4C17-BA3A-5BC2F1DB790F}" dt="2026-05-25T05:36:20.436" v="104" actId="1076"/>
          <ac:picMkLst>
            <pc:docMk/>
            <pc:sldMk cId="2775649296" sldId="270"/>
            <ac:picMk id="4" creationId="{E1FA5A78-7630-3CCA-3198-94292947C5CC}"/>
          </ac:picMkLst>
        </pc:picChg>
      </pc:sldChg>
      <pc:sldChg chg="delSp modSp del mod">
        <pc:chgData name="Farith Mejia" userId="1e64b9c38bf0dbe8" providerId="LiveId" clId="{4CECA832-106F-4C17-BA3A-5BC2F1DB790F}" dt="2026-05-25T05:10:52.455" v="13" actId="2696"/>
        <pc:sldMkLst>
          <pc:docMk/>
          <pc:sldMk cId="2767428349" sldId="278"/>
        </pc:sldMkLst>
        <pc:graphicFrameChg chg="del mod">
          <ac:chgData name="Farith Mejia" userId="1e64b9c38bf0dbe8" providerId="LiveId" clId="{4CECA832-106F-4C17-BA3A-5BC2F1DB790F}" dt="2026-05-25T05:10:47.901" v="12" actId="478"/>
          <ac:graphicFrameMkLst>
            <pc:docMk/>
            <pc:sldMk cId="2767428349" sldId="278"/>
            <ac:graphicFrameMk id="5" creationId="{935967D4-A8DA-44F7-B7A3-39F2A995D7D5}"/>
          </ac:graphicFrameMkLst>
        </pc:graphicFrameChg>
      </pc:sldChg>
      <pc:sldChg chg="addSp delSp modSp mod">
        <pc:chgData name="Farith Mejia" userId="1e64b9c38bf0dbe8" providerId="LiveId" clId="{4CECA832-106F-4C17-BA3A-5BC2F1DB790F}" dt="2026-05-25T05:14:10.719" v="26" actId="113"/>
        <pc:sldMkLst>
          <pc:docMk/>
          <pc:sldMk cId="3122196134" sldId="281"/>
        </pc:sldMkLst>
        <pc:spChg chg="del mod">
          <ac:chgData name="Farith Mejia" userId="1e64b9c38bf0dbe8" providerId="LiveId" clId="{4CECA832-106F-4C17-BA3A-5BC2F1DB790F}" dt="2026-05-25T05:07:44.443" v="2" actId="22"/>
          <ac:spMkLst>
            <pc:docMk/>
            <pc:sldMk cId="3122196134" sldId="281"/>
            <ac:spMk id="3" creationId="{0B519B00-93D9-357A-923E-02954AE37663}"/>
          </ac:spMkLst>
        </pc:spChg>
        <pc:spChg chg="add mod">
          <ac:chgData name="Farith Mejia" userId="1e64b9c38bf0dbe8" providerId="LiveId" clId="{4CECA832-106F-4C17-BA3A-5BC2F1DB790F}" dt="2026-05-25T05:14:10.719" v="26" actId="113"/>
          <ac:spMkLst>
            <pc:docMk/>
            <pc:sldMk cId="3122196134" sldId="281"/>
            <ac:spMk id="8" creationId="{88BC1BFE-19D3-3795-11CF-AF74F16884F5}"/>
          </ac:spMkLst>
        </pc:spChg>
        <pc:picChg chg="add mod ord">
          <ac:chgData name="Farith Mejia" userId="1e64b9c38bf0dbe8" providerId="LiveId" clId="{4CECA832-106F-4C17-BA3A-5BC2F1DB790F}" dt="2026-05-25T05:13:29.345" v="17" actId="1076"/>
          <ac:picMkLst>
            <pc:docMk/>
            <pc:sldMk cId="3122196134" sldId="281"/>
            <ac:picMk id="4" creationId="{E5797B80-AFDC-86EE-42F7-9D3ED78324EE}"/>
          </ac:picMkLst>
        </pc:picChg>
      </pc:sldChg>
      <pc:sldChg chg="addSp modSp add mod">
        <pc:chgData name="Farith Mejia" userId="1e64b9c38bf0dbe8" providerId="LiveId" clId="{4CECA832-106F-4C17-BA3A-5BC2F1DB790F}" dt="2026-05-25T05:39:50.548" v="116" actId="1076"/>
        <pc:sldMkLst>
          <pc:docMk/>
          <pc:sldMk cId="1460025607" sldId="282"/>
        </pc:sldMkLst>
        <pc:picChg chg="mod">
          <ac:chgData name="Farith Mejia" userId="1e64b9c38bf0dbe8" providerId="LiveId" clId="{4CECA832-106F-4C17-BA3A-5BC2F1DB790F}" dt="2026-05-25T05:39:48.049" v="115" actId="14100"/>
          <ac:picMkLst>
            <pc:docMk/>
            <pc:sldMk cId="1460025607" sldId="282"/>
            <ac:picMk id="4" creationId="{85427761-F186-BC8F-211E-29D2DAA9917B}"/>
          </ac:picMkLst>
        </pc:picChg>
        <pc:picChg chg="add mod">
          <ac:chgData name="Farith Mejia" userId="1e64b9c38bf0dbe8" providerId="LiveId" clId="{4CECA832-106F-4C17-BA3A-5BC2F1DB790F}" dt="2026-05-25T05:39:50.548" v="116" actId="1076"/>
          <ac:picMkLst>
            <pc:docMk/>
            <pc:sldMk cId="1460025607" sldId="282"/>
            <ac:picMk id="5" creationId="{D0A50D88-97CE-5447-2CEE-07F25E217521}"/>
          </ac:picMkLst>
        </pc:picChg>
      </pc:sldChg>
    </pc:docChg>
  </pc:docChgLst>
</pc:chgInfo>
</file>

<file path=ppt/charts/_rels/chart1.xml.rels><?xml version="1.0" encoding="UTF-8" standalone="yes"?>
<Relationships xmlns="http://schemas.openxmlformats.org/package/2006/relationships"><Relationship Id="rId3" Type="http://schemas.openxmlformats.org/officeDocument/2006/relationships/package" Target="../embeddings/Microsoft_Excel_Worksheet.xlsx"/><Relationship Id="rId2" Type="http://schemas.microsoft.com/office/2011/relationships/chartColorStyle" Target="colors1.xml"/><Relationship Id="rId1" Type="http://schemas.microsoft.com/office/2011/relationships/chartStyle" Target="style1.xml"/></Relationships>
</file>

<file path=ppt/charts/_rels/chart2.xml.rels><?xml version="1.0" encoding="UTF-8" standalone="yes"?>
<Relationships xmlns="http://schemas.openxmlformats.org/package/2006/relationships"><Relationship Id="rId3" Type="http://schemas.openxmlformats.org/officeDocument/2006/relationships/package" Target="../embeddings/Microsoft_Excel_Worksheet1.xlsx"/><Relationship Id="rId2" Type="http://schemas.microsoft.com/office/2011/relationships/chartColorStyle" Target="colors2.xml"/><Relationship Id="rId1" Type="http://schemas.microsoft.com/office/2011/relationships/chartStyle" Target="style2.xml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s-MX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1"/>
    <c:view3D>
      <c:rotX val="15"/>
      <c:rotY val="20"/>
      <c:depthPercent val="100"/>
      <c:rAngAx val="1"/>
    </c:view3D>
    <c:floor>
      <c:thickness val="0"/>
      <c:spPr>
        <a:noFill/>
        <a:ln>
          <a:noFill/>
        </a:ln>
        <a:effectLst/>
        <a:sp3d/>
      </c:spPr>
    </c:floor>
    <c:sideWall>
      <c:thickness val="0"/>
      <c:spPr>
        <a:noFill/>
        <a:ln>
          <a:noFill/>
        </a:ln>
        <a:effectLst/>
        <a:sp3d/>
      </c:spPr>
    </c:sideWall>
    <c:backWall>
      <c:thickness val="0"/>
      <c:spPr>
        <a:noFill/>
        <a:ln>
          <a:noFill/>
        </a:ln>
        <a:effectLst/>
        <a:sp3d/>
      </c:spPr>
    </c:backWall>
    <c:plotArea>
      <c:layout>
        <c:manualLayout>
          <c:layoutTarget val="inner"/>
          <c:xMode val="edge"/>
          <c:yMode val="edge"/>
          <c:x val="3.2197798196093579E-2"/>
          <c:y val="6.0598331528830401E-2"/>
          <c:w val="0.93597771724171319"/>
          <c:h val="0.57983016851281199"/>
        </c:manualLayout>
      </c:layout>
      <c:bar3DChart>
        <c:barDir val="col"/>
        <c:grouping val="clustered"/>
        <c:varyColors val="0"/>
        <c:ser>
          <c:idx val="0"/>
          <c:order val="0"/>
          <c:tx>
            <c:strRef>
              <c:f>Hoja1!$B$1</c:f>
              <c:strCache>
                <c:ptCount val="1"/>
                <c:pt idx="0">
                  <c:v>Columna1</c:v>
                </c:pt>
              </c:strCache>
            </c:strRef>
          </c:tx>
          <c:spPr>
            <a:gradFill>
              <a:gsLst>
                <a:gs pos="100000">
                  <a:schemeClr val="accent6">
                    <a:alpha val="0"/>
                  </a:schemeClr>
                </a:gs>
                <a:gs pos="50000">
                  <a:schemeClr val="accent6"/>
                </a:gs>
              </a:gsLst>
              <a:lin ang="5400000" scaled="0"/>
            </a:gradFill>
            <a:ln>
              <a:noFill/>
            </a:ln>
            <a:effectLst/>
            <a:sp3d/>
          </c:spPr>
          <c:invertIfNegative val="0"/>
          <c:cat>
            <c:strRef>
              <c:f>Hoja1!$A$2:$A$4</c:f>
              <c:strCache>
                <c:ptCount val="3"/>
                <c:pt idx="0">
                  <c:v>R1</c:v>
                </c:pt>
                <c:pt idx="1">
                  <c:v>R2</c:v>
                </c:pt>
                <c:pt idx="2">
                  <c:v>R3</c:v>
                </c:pt>
              </c:strCache>
            </c:strRef>
          </c:cat>
          <c:val>
            <c:numRef>
              <c:f>Hoja1!$B$2:$B$4</c:f>
              <c:numCache>
                <c:formatCode>General</c:formatCode>
                <c:ptCount val="3"/>
                <c:pt idx="0">
                  <c:v>7</c:v>
                </c:pt>
                <c:pt idx="1">
                  <c:v>9</c:v>
                </c:pt>
                <c:pt idx="2">
                  <c:v>10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E4C7-594F-B13D-3E9D938185BD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150"/>
        <c:gapDepth val="0"/>
        <c:shape val="box"/>
        <c:axId val="414286040"/>
        <c:axId val="414291288"/>
        <c:axId val="0"/>
      </c:bar3DChart>
      <c:catAx>
        <c:axId val="414286040"/>
        <c:scaling>
          <c:orientation val="minMax"/>
        </c:scaling>
        <c:delete val="0"/>
        <c:axPos val="b"/>
        <c:numFmt formatCode="General" sourceLinked="1"/>
        <c:majorTickMark val="none"/>
        <c:minorTickMark val="none"/>
        <c:tickLblPos val="nextTo"/>
        <c:spPr>
          <a:noFill/>
          <a:ln>
            <a:noFill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197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es-EC"/>
          </a:p>
        </c:txPr>
        <c:crossAx val="414291288"/>
        <c:crosses val="autoZero"/>
        <c:auto val="1"/>
        <c:lblAlgn val="ctr"/>
        <c:lblOffset val="100"/>
        <c:noMultiLvlLbl val="0"/>
      </c:catAx>
      <c:valAx>
        <c:axId val="414291288"/>
        <c:scaling>
          <c:orientation val="minMax"/>
        </c:scaling>
        <c:delete val="0"/>
        <c:axPos val="l"/>
        <c:majorGridlines>
          <c:spPr>
            <a:ln w="9525" cap="flat" cmpd="sng" algn="ctr">
              <a:solidFill>
                <a:schemeClr val="tx1">
                  <a:lumMod val="5000"/>
                  <a:lumOff val="95000"/>
                </a:schemeClr>
              </a:solidFill>
              <a:round/>
            </a:ln>
            <a:effectLst/>
          </c:spPr>
        </c:majorGridlines>
        <c:numFmt formatCode="General" sourceLinked="1"/>
        <c:majorTickMark val="none"/>
        <c:minorTickMark val="none"/>
        <c:tickLblPos val="nextTo"/>
        <c:spPr>
          <a:noFill/>
          <a:ln>
            <a:noFill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197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es-EC"/>
          </a:p>
        </c:txPr>
        <c:crossAx val="414286040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gap"/>
    <c:showDLblsOverMax val="0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</c:chart>
  <c:spPr>
    <a:noFill/>
    <a:ln>
      <a:noFill/>
    </a:ln>
    <a:effectLst/>
  </c:spPr>
  <c:txPr>
    <a:bodyPr/>
    <a:lstStyle/>
    <a:p>
      <a:pPr>
        <a:defRPr/>
      </a:pPr>
      <a:endParaRPr lang="es-EC"/>
    </a:p>
  </c:txPr>
  <c:externalData r:id="rId3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s-MX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1"/>
    <c:plotArea>
      <c:layout>
        <c:manualLayout>
          <c:layoutTarget val="inner"/>
          <c:xMode val="edge"/>
          <c:yMode val="edge"/>
          <c:x val="0.15549247962934293"/>
          <c:y val="0.1430282887205839"/>
          <c:w val="0.68626943520172246"/>
          <c:h val="0.63799436137588683"/>
        </c:manualLayout>
      </c:layout>
      <c:pieChart>
        <c:varyColors val="1"/>
        <c:ser>
          <c:idx val="0"/>
          <c:order val="0"/>
          <c:tx>
            <c:strRef>
              <c:f>Hoja1!$B$1</c:f>
              <c:strCache>
                <c:ptCount val="1"/>
                <c:pt idx="0">
                  <c:v>Enunciado</c:v>
                </c:pt>
              </c:strCache>
            </c:strRef>
          </c:tx>
          <c:dPt>
            <c:idx val="0"/>
            <c:bubble3D val="0"/>
            <c:spPr>
              <a:gradFill rotWithShape="1">
                <a:gsLst>
                  <a:gs pos="0">
                    <a:schemeClr val="accent6">
                      <a:satMod val="103000"/>
                      <a:lumMod val="102000"/>
                      <a:tint val="94000"/>
                    </a:schemeClr>
                  </a:gs>
                  <a:gs pos="50000">
                    <a:schemeClr val="accent6">
                      <a:satMod val="110000"/>
                      <a:lumMod val="100000"/>
                      <a:shade val="100000"/>
                    </a:schemeClr>
                  </a:gs>
                  <a:gs pos="100000">
                    <a:schemeClr val="accent6">
                      <a:lumMod val="99000"/>
                      <a:satMod val="120000"/>
                      <a:shade val="78000"/>
                    </a:schemeClr>
                  </a:gs>
                </a:gsLst>
                <a:lin ang="5400000" scaled="0"/>
              </a:gradFill>
              <a:ln>
                <a:noFill/>
              </a:ln>
              <a:effectLst/>
            </c:spPr>
            <c:extLst>
              <c:ext xmlns:c16="http://schemas.microsoft.com/office/drawing/2014/chart" uri="{C3380CC4-5D6E-409C-BE32-E72D297353CC}">
                <c16:uniqueId val="{00000001-2232-7349-AF2A-B8E3DB1E296F}"/>
              </c:ext>
            </c:extLst>
          </c:dPt>
          <c:dPt>
            <c:idx val="1"/>
            <c:bubble3D val="0"/>
            <c:spPr>
              <a:gradFill rotWithShape="1">
                <a:gsLst>
                  <a:gs pos="0">
                    <a:schemeClr val="accent5">
                      <a:satMod val="103000"/>
                      <a:lumMod val="102000"/>
                      <a:tint val="94000"/>
                    </a:schemeClr>
                  </a:gs>
                  <a:gs pos="50000">
                    <a:schemeClr val="accent5">
                      <a:satMod val="110000"/>
                      <a:lumMod val="100000"/>
                      <a:shade val="100000"/>
                    </a:schemeClr>
                  </a:gs>
                  <a:gs pos="100000">
                    <a:schemeClr val="accent5">
                      <a:lumMod val="99000"/>
                      <a:satMod val="120000"/>
                      <a:shade val="78000"/>
                    </a:schemeClr>
                  </a:gs>
                </a:gsLst>
                <a:lin ang="5400000" scaled="0"/>
              </a:gradFill>
              <a:ln>
                <a:noFill/>
              </a:ln>
              <a:effectLst/>
            </c:spPr>
            <c:extLst>
              <c:ext xmlns:c16="http://schemas.microsoft.com/office/drawing/2014/chart" uri="{C3380CC4-5D6E-409C-BE32-E72D297353CC}">
                <c16:uniqueId val="{00000003-2232-7349-AF2A-B8E3DB1E296F}"/>
              </c:ext>
            </c:extLst>
          </c:dPt>
          <c:dLbls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lIns="38100" tIns="19050" rIns="38100" bIns="19050" anchor="ctr" anchorCtr="1">
                <a:spAutoFit/>
              </a:bodyPr>
              <a:lstStyle/>
              <a:p>
                <a:pPr>
                  <a:defRPr sz="1197" b="0" i="0" u="none" strike="noStrike" kern="1200" baseline="0">
                    <a:solidFill>
                      <a:schemeClr val="tx2"/>
                    </a:solidFill>
                    <a:latin typeface="+mn-lt"/>
                    <a:ea typeface="+mn-ea"/>
                    <a:cs typeface="+mn-cs"/>
                  </a:defRPr>
                </a:pPr>
                <a:endParaRPr lang="es-EC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1"/>
            <c:leaderLines>
              <c:spPr>
                <a:ln w="9525">
                  <a:solidFill>
                    <a:schemeClr val="tx2">
                      <a:lumMod val="35000"/>
                      <a:lumOff val="65000"/>
                    </a:schemeClr>
                  </a:solidFill>
                </a:ln>
                <a:effectLst/>
              </c:spPr>
            </c:leaderLines>
            <c:extLst>
              <c:ext xmlns:c15="http://schemas.microsoft.com/office/drawing/2012/chart" uri="{CE6537A1-D6FC-4f65-9D91-7224C49458BB}"/>
            </c:extLst>
          </c:dLbls>
          <c:cat>
            <c:strRef>
              <c:f>Hoja1!$A$2:$A$3</c:f>
              <c:strCache>
                <c:ptCount val="2"/>
                <c:pt idx="0">
                  <c:v>Respuesta 1</c:v>
                </c:pt>
                <c:pt idx="1">
                  <c:v>Respuesta 2</c:v>
                </c:pt>
              </c:strCache>
            </c:strRef>
          </c:cat>
          <c:val>
            <c:numRef>
              <c:f>Hoja1!$B$2:$B$3</c:f>
              <c:numCache>
                <c:formatCode>General</c:formatCode>
                <c:ptCount val="2"/>
                <c:pt idx="0">
                  <c:v>57</c:v>
                </c:pt>
                <c:pt idx="1">
                  <c:v>43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4-2232-7349-AF2A-B8E3DB1E296F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  <c:showLeaderLines val="1"/>
        </c:dLbls>
        <c:firstSliceAng val="0"/>
      </c:pieChart>
      <c:spPr>
        <a:noFill/>
        <a:ln>
          <a:noFill/>
        </a:ln>
        <a:effectLst/>
      </c:spPr>
    </c:plotArea>
    <c:legend>
      <c:legendPos val="b"/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197" b="0" i="0" u="none" strike="noStrike" kern="1200" baseline="0">
              <a:solidFill>
                <a:schemeClr val="tx2"/>
              </a:solidFill>
              <a:latin typeface="+mn-lt"/>
              <a:ea typeface="+mn-ea"/>
              <a:cs typeface="+mn-cs"/>
            </a:defRPr>
          </a:pPr>
          <a:endParaRPr lang="es-EC"/>
        </a:p>
      </c:txPr>
    </c:legend>
    <c:plotVisOnly val="1"/>
    <c:dispBlanksAs val="gap"/>
    <c:showDLblsOverMax val="0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</c:chart>
  <c:spPr>
    <a:noFill/>
    <a:ln>
      <a:noFill/>
    </a:ln>
    <a:effectLst/>
  </c:spPr>
  <c:txPr>
    <a:bodyPr/>
    <a:lstStyle/>
    <a:p>
      <a:pPr>
        <a:defRPr/>
      </a:pPr>
      <a:endParaRPr lang="es-EC"/>
    </a:p>
  </c:txPr>
  <c:externalData r:id="rId3">
    <c:autoUpdate val="0"/>
  </c:externalData>
</c:chartSpace>
</file>

<file path=ppt/charts/colors1.xml><?xml version="1.0" encoding="utf-8"?>
<cs:colorStyle xmlns:cs="http://schemas.microsoft.com/office/drawing/2012/chartStyle" xmlns:a="http://schemas.openxmlformats.org/drawingml/2006/main" meth="cycle" id="13">
  <a:schemeClr val="accent6"/>
  <a:schemeClr val="accent5"/>
  <a:schemeClr val="accent4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2.xml><?xml version="1.0" encoding="utf-8"?>
<cs:colorStyle xmlns:cs="http://schemas.microsoft.com/office/drawing/2012/chartStyle" xmlns:a="http://schemas.openxmlformats.org/drawingml/2006/main" meth="cycle" id="13">
  <a:schemeClr val="accent6"/>
  <a:schemeClr val="accent5"/>
  <a:schemeClr val="accent4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style1.xml><?xml version="1.0" encoding="utf-8"?>
<cs:chartStyle xmlns:cs="http://schemas.microsoft.com/office/drawing/2012/chartStyle" xmlns:a="http://schemas.openxmlformats.org/drawingml/2006/main" id="293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197" kern="1200" cap="all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/>
    <cs:defRPr sz="1197" kern="1200"/>
  </cs:categoryAxis>
  <cs:chartArea mods="allowNoFillOverride allowNoLineOverride">
    <cs:lnRef idx="0"/>
    <cs:fillRef idx="0"/>
    <cs:effectRef idx="0"/>
    <cs:fontRef idx="minor">
      <a:schemeClr val="dk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1197" kern="1200"/>
  </cs:dataLabel>
  <cs:dataLabelCallout>
    <cs:lnRef idx="0"/>
    <cs:fillRef idx="0"/>
    <cs:effectRef idx="0"/>
    <cs:fontRef idx="minor">
      <a:schemeClr val="bg1"/>
    </cs:fontRef>
    <cs:spPr>
      <a:solidFill>
        <a:schemeClr val="tx1">
          <a:lumMod val="50000"/>
          <a:lumOff val="50000"/>
        </a:schemeClr>
      </a:solidFill>
    </cs:spPr>
    <cs:defRPr sz="1197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0">
      <cs:styleClr val="auto"/>
    </cs:fillRef>
    <cs:effectRef idx="0"/>
    <cs:fontRef idx="minor">
      <a:schemeClr val="dk1"/>
    </cs:fontRef>
    <cs:spPr>
      <a:gradFill flip="none" rotWithShape="1">
        <a:gsLst>
          <a:gs pos="0">
            <a:schemeClr val="phClr"/>
          </a:gs>
          <a:gs pos="75000">
            <a:schemeClr val="phClr">
              <a:lumMod val="60000"/>
              <a:lumOff val="40000"/>
            </a:schemeClr>
          </a:gs>
          <a:gs pos="51000">
            <a:schemeClr val="phClr">
              <a:alpha val="75000"/>
            </a:schemeClr>
          </a:gs>
          <a:gs pos="100000">
            <a:schemeClr val="phClr">
              <a:lumMod val="20000"/>
              <a:lumOff val="80000"/>
              <a:alpha val="15000"/>
            </a:schemeClr>
          </a:gs>
        </a:gsLst>
        <a:lin ang="5400000" scaled="0"/>
      </a:gradFill>
    </cs:spPr>
  </cs:dataPoint>
  <cs:dataPoint3D>
    <cs:lnRef idx="0"/>
    <cs:fillRef idx="0">
      <cs:styleClr val="auto"/>
    </cs:fillRef>
    <cs:effectRef idx="0"/>
    <cs:fontRef idx="minor">
      <a:schemeClr val="tx1"/>
    </cs:fontRef>
    <cs:spPr>
      <a:gradFill>
        <a:gsLst>
          <a:gs pos="100000">
            <a:schemeClr val="phClr">
              <a:alpha val="0"/>
            </a:schemeClr>
          </a:gs>
          <a:gs pos="50000">
            <a:schemeClr val="phClr"/>
          </a:gs>
        </a:gsLst>
        <a:lin ang="5400000" scaled="0"/>
      </a:gradFill>
      <a:sp3d/>
    </cs:spPr>
  </cs:dataPoint3D>
  <cs:dataPointLine>
    <cs:lnRef idx="0">
      <cs:styleClr val="auto"/>
    </cs:lnRef>
    <cs:fillRef idx="0"/>
    <cs:effectRef idx="0"/>
    <cs:fontRef idx="minor">
      <a:schemeClr val="dk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0">
      <cs:styleClr val="auto"/>
    </cs:fillRef>
    <cs:effectRef idx="0"/>
    <cs:fontRef idx="minor">
      <a:schemeClr val="dk1"/>
    </cs:fontRef>
    <cs:spPr>
      <a:gradFill flip="none" rotWithShape="1">
        <a:gsLst>
          <a:gs pos="0">
            <a:schemeClr val="phClr"/>
          </a:gs>
          <a:gs pos="75000">
            <a:schemeClr val="phClr">
              <a:lumMod val="60000"/>
              <a:lumOff val="40000"/>
            </a:schemeClr>
          </a:gs>
          <a:gs pos="51000">
            <a:schemeClr val="phClr">
              <a:alpha val="75000"/>
            </a:schemeClr>
          </a:gs>
          <a:gs pos="100000">
            <a:schemeClr val="phClr">
              <a:lumMod val="20000"/>
              <a:lumOff val="80000"/>
              <a:alpha val="15000"/>
            </a:schemeClr>
          </a:gs>
        </a:gsLst>
        <a:lin ang="5400000" scaled="0"/>
      </a:gradFill>
      <a:ln w="9525" cap="flat" cmpd="sng" algn="ctr">
        <a:solidFill>
          <a:schemeClr val="phClr">
            <a:shade val="95000"/>
          </a:schemeClr>
        </a:solidFill>
        <a:round/>
      </a:ln>
    </cs:spPr>
  </cs:dataPointMarker>
  <cs:dataPointMarkerLayout symbol="circle" size="6"/>
  <cs:dataPointWireframe>
    <cs:lnRef idx="0">
      <cs:styleClr val="auto"/>
    </cs:lnRef>
    <cs:fillRef idx="0"/>
    <cs:effectRef idx="0"/>
    <cs:fontRef idx="minor">
      <a:schemeClr val="dk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ln w="9525">
        <a:solidFill>
          <a:schemeClr val="tx1">
            <a:lumMod val="15000"/>
            <a:lumOff val="85000"/>
          </a:schemeClr>
        </a:solidFill>
      </a:ln>
    </cs:spPr>
    <cs:defRPr sz="1197" kern="1200"/>
  </cs:dataTable>
  <cs:downBar>
    <cs:lnRef idx="0"/>
    <cs:fillRef idx="0"/>
    <cs:effectRef idx="0"/>
    <cs:fontRef idx="minor">
      <a:schemeClr val="dk1"/>
    </cs:fontRef>
    <cs:spPr>
      <a:solidFill>
        <a:schemeClr val="dk1">
          <a:lumMod val="75000"/>
          <a:lumOff val="25000"/>
        </a:schemeClr>
      </a:solidFill>
      <a:ln w="9525">
        <a:solidFill>
          <a:schemeClr val="tx1">
            <a:lumMod val="65000"/>
            <a:lumOff val="35000"/>
          </a:schemeClr>
        </a:solidFill>
      </a:ln>
    </cs:spPr>
  </cs:downBar>
  <cs:dropLine>
    <cs:lnRef idx="0"/>
    <cs:fillRef idx="0"/>
    <cs:effectRef idx="0"/>
    <cs:fontRef idx="minor">
      <a:schemeClr val="dk1"/>
    </cs:fontRef>
    <cs:spPr>
      <a:ln w="9525">
        <a:solidFill>
          <a:schemeClr val="tx1">
            <a:lumMod val="35000"/>
            <a:lumOff val="65000"/>
          </a:schemeClr>
        </a:solidFill>
      </a:ln>
    </cs:spPr>
  </cs:dropLine>
  <cs:errorBar>
    <cs:lnRef idx="0"/>
    <cs:fillRef idx="0"/>
    <cs:effectRef idx="0"/>
    <cs:fontRef idx="minor">
      <a:schemeClr val="dk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dk1"/>
    </cs:fontRef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dk1"/>
    </cs:fontRef>
    <cs:spPr>
      <a:ln w="9525">
        <a:solidFill>
          <a:schemeClr val="tx1">
            <a:lumMod val="50000"/>
            <a:lumOff val="50000"/>
          </a:schemeClr>
        </a:solidFill>
      </a:ln>
    </cs:spPr>
  </cs:hiLoLine>
  <cs:leaderLine>
    <cs:lnRef idx="0"/>
    <cs:fillRef idx="0"/>
    <cs:effectRef idx="0"/>
    <cs:fontRef idx="minor">
      <a:schemeClr val="dk1"/>
    </cs:fontRef>
    <cs:spPr>
      <a:ln w="9525">
        <a:solidFill>
          <a:schemeClr val="tx1">
            <a:lumMod val="35000"/>
            <a:lumOff val="65000"/>
          </a:schemeClr>
        </a:solidFill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legend>
  <cs:plotArea mods="allowNoFillOverride allowNoLineOverride">
    <cs:lnRef idx="0"/>
    <cs:fillRef idx="0"/>
    <cs:effectRef idx="0"/>
    <cs:fontRef idx="minor">
      <a:schemeClr val="dk1"/>
    </cs:fontRef>
  </cs:plotArea>
  <cs:plotArea3D mods="allowNoFillOverride allowNoLineOverride">
    <cs:lnRef idx="0"/>
    <cs:fillRef idx="0"/>
    <cs:effectRef idx="0"/>
    <cs:fontRef idx="minor">
      <a:schemeClr val="dk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  <a:headEnd type="none" w="sm" len="sm"/>
        <a:tailEnd type="none" w="sm" len="sm"/>
      </a:ln>
    </cs:spPr>
    <cs:defRPr sz="1197" kern="1200"/>
  </cs:seriesAxis>
  <cs:seriesLine>
    <cs:lnRef idx="0"/>
    <cs:fillRef idx="0"/>
    <cs:effectRef idx="0"/>
    <cs:fontRef idx="minor">
      <a:schemeClr val="dk1"/>
    </cs:fontRef>
    <cs:spPr>
      <a:ln w="9525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2200" b="1" kern="1200" cap="all" spc="50" baseline="0"/>
  </cs:title>
  <cs:trendline>
    <cs:lnRef idx="0">
      <cs:styleClr val="auto"/>
    </cs:lnRef>
    <cs:fillRef idx="0"/>
    <cs:effectRef idx="0"/>
    <cs:fontRef idx="minor">
      <a:schemeClr val="dk1"/>
    </cs:fontRef>
    <cs:spPr>
      <a:ln w="9525" cap="rnd">
        <a:solidFill>
          <a:schemeClr val="phClr"/>
        </a:solidFill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trendlineLabel>
  <cs:upBar>
    <cs:lnRef idx="0"/>
    <cs:fillRef idx="0"/>
    <cs:effectRef idx="0"/>
    <cs:fontRef idx="minor">
      <a:schemeClr val="dk1"/>
    </cs:fontRef>
    <cs:spPr>
      <a:solidFill>
        <a:schemeClr val="lt1"/>
      </a:solidFill>
      <a:ln w="9525">
        <a:solidFill>
          <a:schemeClr val="tx1">
            <a:lumMod val="65000"/>
            <a:lumOff val="35000"/>
          </a:schemeClr>
        </a:solidFill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valueAxis>
  <cs:wall>
    <cs:lnRef idx="0"/>
    <cs:fillRef idx="0"/>
    <cs:effectRef idx="0"/>
    <cs:fontRef idx="minor">
      <a:schemeClr val="dk1"/>
    </cs:fontRef>
  </cs:wall>
</cs:chartStyle>
</file>

<file path=ppt/charts/style2.xml><?xml version="1.0" encoding="utf-8"?>
<cs:chartStyle xmlns:cs="http://schemas.microsoft.com/office/drawing/2012/chartStyle" xmlns:a="http://schemas.openxmlformats.org/drawingml/2006/main" id="255">
  <cs:axisTitle>
    <cs:lnRef idx="0"/>
    <cs:fillRef idx="0"/>
    <cs:effectRef idx="0"/>
    <cs:fontRef idx="minor">
      <a:schemeClr val="tx2"/>
    </cs:fontRef>
    <cs:defRPr sz="1197" b="1" kern="1200"/>
  </cs:axisTitle>
  <cs:categoryAxis>
    <cs:lnRef idx="0"/>
    <cs:fillRef idx="0"/>
    <cs:effectRef idx="0"/>
    <cs:fontRef idx="minor">
      <a:schemeClr val="tx2"/>
    </cs:fontRef>
    <cs:spPr>
      <a:ln w="9525" cap="flat" cmpd="sng" algn="ctr">
        <a:solidFill>
          <a:schemeClr val="tx2">
            <a:lumMod val="15000"/>
            <a:lumOff val="85000"/>
          </a:schemeClr>
        </a:solidFill>
        <a:round/>
      </a:ln>
    </cs:spPr>
    <cs:defRPr sz="1197" kern="1200"/>
  </cs:categoryAxis>
  <cs:chartArea mods="allowNoFillOverride allowNoLineOverride">
    <cs:lnRef idx="0"/>
    <cs:fillRef idx="0"/>
    <cs:effectRef idx="0"/>
    <cs:fontRef idx="minor">
      <a:schemeClr val="tx2"/>
    </cs:fontRef>
    <cs:spPr>
      <a:solidFill>
        <a:schemeClr val="bg1"/>
      </a:solidFill>
      <a:ln w="9525" cap="flat" cmpd="sng" algn="ctr">
        <a:solidFill>
          <a:schemeClr val="tx2">
            <a:lumMod val="15000"/>
            <a:lumOff val="85000"/>
          </a:schemeClr>
        </a:solidFill>
        <a:round/>
      </a:ln>
    </cs:spPr>
    <cs:defRPr sz="1197" kern="1200"/>
  </cs:chartArea>
  <cs:dataLabel>
    <cs:lnRef idx="0"/>
    <cs:fillRef idx="0"/>
    <cs:effectRef idx="0"/>
    <cs:fontRef idx="minor">
      <a:schemeClr val="tx2"/>
    </cs:fontRef>
    <cs:defRPr sz="1197" kern="1200"/>
  </cs:dataLabel>
  <cs:dataLabelCallout>
    <cs:lnRef idx="0"/>
    <cs:fillRef idx="0"/>
    <cs:effectRef idx="0"/>
    <cs:fontRef idx="minor">
      <a:schemeClr val="dk2">
        <a:lumMod val="7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1197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3">
      <cs:styleClr val="auto"/>
    </cs:fillRef>
    <cs:effectRef idx="2"/>
    <cs:fontRef idx="minor">
      <a:schemeClr val="tx2"/>
    </cs:fontRef>
  </cs:dataPoint>
  <cs:dataPoint3D>
    <cs:lnRef idx="0"/>
    <cs:fillRef idx="3">
      <cs:styleClr val="auto"/>
    </cs:fillRef>
    <cs:effectRef idx="2"/>
    <cs:fontRef idx="minor">
      <a:schemeClr val="tx2"/>
    </cs:fontRef>
  </cs:dataPoint3D>
  <cs:dataPointLine>
    <cs:lnRef idx="0">
      <cs:styleClr val="auto"/>
    </cs:lnRef>
    <cs:fillRef idx="3"/>
    <cs:effectRef idx="2"/>
    <cs:fontRef idx="minor">
      <a:schemeClr val="tx2"/>
    </cs:fontRef>
    <cs:spPr>
      <a:ln w="31750" cap="rnd">
        <a:solidFill>
          <a:schemeClr val="phClr"/>
        </a:solidFill>
        <a:round/>
      </a:ln>
    </cs:spPr>
  </cs:dataPointLine>
  <cs:dataPointMarker>
    <cs:lnRef idx="0"/>
    <cs:fillRef idx="3">
      <cs:styleClr val="auto"/>
    </cs:fillRef>
    <cs:effectRef idx="2"/>
    <cs:fontRef idx="minor">
      <a:schemeClr val="tx2"/>
    </cs:fontRef>
    <cs:spPr>
      <a:ln w="12700">
        <a:solidFill>
          <a:schemeClr val="lt2"/>
        </a:solidFill>
        <a:round/>
      </a:ln>
    </cs:spPr>
  </cs:dataPointMarker>
  <cs:dataPointMarkerLayout symbol="circle" size="6"/>
  <cs:dataPointWireframe>
    <cs:lnRef idx="0">
      <cs:styleClr val="auto"/>
    </cs:lnRef>
    <cs:fillRef idx="3"/>
    <cs:effectRef idx="2"/>
    <cs:fontRef idx="minor">
      <a:schemeClr val="tx2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2"/>
    </cs:fontRef>
    <cs:spPr>
      <a:ln w="9525">
        <a:solidFill>
          <a:schemeClr val="tx2">
            <a:lumMod val="15000"/>
            <a:lumOff val="85000"/>
          </a:schemeClr>
        </a:solidFill>
      </a:ln>
    </cs:spPr>
    <cs:defRPr sz="1197" kern="1200"/>
  </cs:dataTable>
  <cs:downBar>
    <cs:lnRef idx="0"/>
    <cs:fillRef idx="0"/>
    <cs:effectRef idx="0"/>
    <cs:fontRef idx="minor">
      <a:schemeClr val="dk1"/>
    </cs:fontRef>
    <cs:spPr>
      <a:solidFill>
        <a:schemeClr val="dk1">
          <a:lumMod val="65000"/>
          <a:lumOff val="35000"/>
        </a:schemeClr>
      </a:solidFill>
      <a:ln w="9525">
        <a:solidFill>
          <a:schemeClr val="tx1">
            <a:lumMod val="65000"/>
            <a:lumOff val="35000"/>
          </a:schemeClr>
        </a:solidFill>
      </a:ln>
    </cs:spPr>
  </cs:downBar>
  <cs:dropLine>
    <cs:lnRef idx="0"/>
    <cs:fillRef idx="0"/>
    <cs:effectRef idx="0"/>
    <cs:fontRef idx="minor">
      <a:schemeClr val="tx2"/>
    </cs:fontRef>
    <cs:spPr>
      <a:ln w="9525">
        <a:solidFill>
          <a:schemeClr val="tx2">
            <a:lumMod val="60000"/>
            <a:lumOff val="40000"/>
          </a:schemeClr>
        </a:solidFill>
        <a:prstDash val="dash"/>
      </a:ln>
    </cs:spPr>
  </cs:dropLine>
  <cs:errorBar>
    <cs:lnRef idx="0"/>
    <cs:fillRef idx="0"/>
    <cs:effectRef idx="0"/>
    <cs:fontRef idx="minor">
      <a:schemeClr val="tx2"/>
    </cs:fontRef>
    <cs:spPr>
      <a:ln w="9525">
        <a:solidFill>
          <a:schemeClr val="tx2">
            <a:lumMod val="75000"/>
          </a:schemeClr>
        </a:solidFill>
        <a:round/>
      </a:ln>
    </cs:spPr>
  </cs:errorBar>
  <cs:floor>
    <cs:lnRef idx="0"/>
    <cs:fillRef idx="0"/>
    <cs:effectRef idx="0"/>
    <cs:fontRef idx="minor">
      <a:schemeClr val="tx2"/>
    </cs:fontRef>
  </cs:floor>
  <cs:gridlineMajor>
    <cs:lnRef idx="0"/>
    <cs:fillRef idx="0"/>
    <cs:effectRef idx="0"/>
    <cs:fontRef idx="minor">
      <a:schemeClr val="tx2"/>
    </cs:fontRef>
    <cs:spPr>
      <a:ln w="9525" cap="flat" cmpd="sng" algn="ctr">
        <a:solidFill>
          <a:schemeClr val="tx2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2"/>
    </cs:fontRef>
    <cs:spPr>
      <a:ln>
        <a:solidFill>
          <a:schemeClr val="tx2">
            <a:lumMod val="5000"/>
            <a:lumOff val="95000"/>
          </a:schemeClr>
        </a:solidFill>
      </a:ln>
    </cs:spPr>
  </cs:gridlineMinor>
  <cs:hiLoLine>
    <cs:lnRef idx="0"/>
    <cs:fillRef idx="0"/>
    <cs:effectRef idx="0"/>
    <cs:fontRef idx="minor">
      <a:schemeClr val="tx2"/>
    </cs:fontRef>
    <cs:spPr>
      <a:ln w="9525">
        <a:solidFill>
          <a:schemeClr val="tx2">
            <a:lumMod val="60000"/>
            <a:lumOff val="40000"/>
          </a:schemeClr>
        </a:solidFill>
        <a:prstDash val="dash"/>
      </a:ln>
    </cs:spPr>
  </cs:hiLoLine>
  <cs:leaderLine>
    <cs:lnRef idx="0"/>
    <cs:fillRef idx="0"/>
    <cs:effectRef idx="0"/>
    <cs:fontRef idx="minor">
      <a:schemeClr val="tx2"/>
    </cs:fontRef>
    <cs:spPr>
      <a:ln w="9525">
        <a:solidFill>
          <a:schemeClr val="tx2">
            <a:lumMod val="35000"/>
            <a:lumOff val="65000"/>
          </a:schemeClr>
        </a:solidFill>
      </a:ln>
    </cs:spPr>
  </cs:leaderLine>
  <cs:legend>
    <cs:lnRef idx="0"/>
    <cs:fillRef idx="0"/>
    <cs:effectRef idx="0"/>
    <cs:fontRef idx="minor">
      <a:schemeClr val="tx2"/>
    </cs:fontRef>
    <cs:defRPr sz="1197" kern="1200"/>
  </cs:legend>
  <cs:plotArea>
    <cs:lnRef idx="0"/>
    <cs:fillRef idx="0"/>
    <cs:effectRef idx="0"/>
    <cs:fontRef idx="minor">
      <a:schemeClr val="tx2"/>
    </cs:fontRef>
  </cs:plotArea>
  <cs:plotArea3D>
    <cs:lnRef idx="0"/>
    <cs:fillRef idx="0"/>
    <cs:effectRef idx="0"/>
    <cs:fontRef idx="minor">
      <a:schemeClr val="tx2"/>
    </cs:fontRef>
  </cs:plotArea3D>
  <cs:seriesAxis>
    <cs:lnRef idx="0"/>
    <cs:fillRef idx="0"/>
    <cs:effectRef idx="0"/>
    <cs:fontRef idx="minor">
      <a:schemeClr val="tx2"/>
    </cs:fontRef>
    <cs:spPr>
      <a:ln w="9525" cap="flat" cmpd="sng" algn="ctr">
        <a:solidFill>
          <a:schemeClr val="tx2">
            <a:lumMod val="15000"/>
            <a:lumOff val="85000"/>
          </a:schemeClr>
        </a:solidFill>
        <a:round/>
      </a:ln>
    </cs:spPr>
    <cs:defRPr sz="1197" kern="1200"/>
  </cs:seriesAxis>
  <cs:seriesLine>
    <cs:lnRef idx="0"/>
    <cs:fillRef idx="0"/>
    <cs:effectRef idx="0"/>
    <cs:fontRef idx="minor">
      <a:schemeClr val="tx2"/>
    </cs:fontRef>
    <cs:spPr>
      <a:ln w="9525">
        <a:solidFill>
          <a:schemeClr val="tx2">
            <a:lumMod val="60000"/>
            <a:lumOff val="40000"/>
          </a:schemeClr>
        </a:solidFill>
        <a:prstDash val="dash"/>
      </a:ln>
    </cs:spPr>
  </cs:seriesLine>
  <cs:title>
    <cs:lnRef idx="0"/>
    <cs:fillRef idx="0"/>
    <cs:effectRef idx="0"/>
    <cs:fontRef idx="minor">
      <a:schemeClr val="tx2"/>
    </cs:fontRef>
    <cs:defRPr sz="2128" b="1" kern="1200"/>
  </cs:title>
  <cs:trendline>
    <cs:lnRef idx="0">
      <cs:styleClr val="auto"/>
    </cs:lnRef>
    <cs:fillRef idx="0"/>
    <cs:effectRef idx="0"/>
    <cs:fontRef idx="minor">
      <a:schemeClr val="tx2"/>
    </cs:fontRef>
    <cs:spPr>
      <a:ln w="19050" cap="rnd">
        <a:solidFill>
          <a:schemeClr val="phClr"/>
        </a:solidFill>
        <a:prstDash val="sysDash"/>
      </a:ln>
    </cs:spPr>
  </cs:trendline>
  <cs:trendlineLabel>
    <cs:lnRef idx="0"/>
    <cs:fillRef idx="0"/>
    <cs:effectRef idx="0"/>
    <cs:fontRef idx="minor">
      <a:schemeClr val="tx2"/>
    </cs:fontRef>
    <cs:defRPr sz="1197" kern="1200"/>
  </cs:trendlineLabel>
  <cs:upBar>
    <cs:lnRef idx="0"/>
    <cs:fillRef idx="0"/>
    <cs:effectRef idx="0"/>
    <cs:fontRef idx="minor">
      <a:schemeClr val="tx2"/>
    </cs:fontRef>
    <cs:spPr>
      <a:solidFill>
        <a:schemeClr val="lt1"/>
      </a:solidFill>
      <a:ln w="9525">
        <a:solidFill>
          <a:schemeClr val="tx1">
            <a:lumMod val="15000"/>
            <a:lumOff val="85000"/>
          </a:schemeClr>
        </a:solidFill>
      </a:ln>
    </cs:spPr>
  </cs:upBar>
  <cs:valueAxis>
    <cs:lnRef idx="0"/>
    <cs:fillRef idx="0"/>
    <cs:effectRef idx="0"/>
    <cs:fontRef idx="minor">
      <a:schemeClr val="tx2"/>
    </cs:fontRef>
    <cs:defRPr sz="1197" kern="1200"/>
  </cs:valueAxis>
  <cs:wall>
    <cs:lnRef idx="0"/>
    <cs:fillRef idx="0"/>
    <cs:effectRef idx="0"/>
    <cs:fontRef idx="minor">
      <a:schemeClr val="tx2"/>
    </cs:fontRef>
  </cs:wall>
</cs:chartStyle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encabezado 1">
            <a:extLst>
              <a:ext uri="{FF2B5EF4-FFF2-40B4-BE49-F238E27FC236}">
                <a16:creationId xmlns:a16="http://schemas.microsoft.com/office/drawing/2014/main" id="{D91A6DFF-8510-C500-CEC3-756B1BDA860E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s-EC"/>
          </a:p>
        </p:txBody>
      </p:sp>
      <p:sp>
        <p:nvSpPr>
          <p:cNvPr id="3" name="Marcador de fecha 2">
            <a:extLst>
              <a:ext uri="{FF2B5EF4-FFF2-40B4-BE49-F238E27FC236}">
                <a16:creationId xmlns:a16="http://schemas.microsoft.com/office/drawing/2014/main" id="{701A4D70-395F-F4B9-5FE9-42577B8DDF3B}"/>
              </a:ext>
            </a:extLst>
          </p:cNvPr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24A645C0-0030-3A4F-AC87-AA7E15384AB9}" type="datetimeFigureOut">
              <a:rPr lang="es-EC" smtClean="0"/>
              <a:t>20/5/2026</a:t>
            </a:fld>
            <a:endParaRPr lang="es-EC"/>
          </a:p>
        </p:txBody>
      </p:sp>
      <p:sp>
        <p:nvSpPr>
          <p:cNvPr id="4" name="Marcador de pie de página 3">
            <a:extLst>
              <a:ext uri="{FF2B5EF4-FFF2-40B4-BE49-F238E27FC236}">
                <a16:creationId xmlns:a16="http://schemas.microsoft.com/office/drawing/2014/main" id="{C306E421-EB67-9068-6FCF-C3D865047236}"/>
              </a:ext>
            </a:extLst>
          </p:cNvPr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s-EC"/>
          </a:p>
        </p:txBody>
      </p:sp>
      <p:sp>
        <p:nvSpPr>
          <p:cNvPr id="5" name="Marcador de número de diapositiva 4">
            <a:extLst>
              <a:ext uri="{FF2B5EF4-FFF2-40B4-BE49-F238E27FC236}">
                <a16:creationId xmlns:a16="http://schemas.microsoft.com/office/drawing/2014/main" id="{8185F293-F04E-38A1-5E10-596EC0794101}"/>
              </a:ext>
            </a:extLst>
          </p:cNvPr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2EC9B5C5-C7D3-7D4A-9831-7FEA362E93CA}" type="slidenum">
              <a:rPr lang="es-EC" smtClean="0"/>
              <a:t>‹Nº›</a:t>
            </a:fld>
            <a:endParaRPr lang="es-EC"/>
          </a:p>
        </p:txBody>
      </p:sp>
    </p:spTree>
    <p:extLst>
      <p:ext uri="{BB962C8B-B14F-4D97-AF65-F5344CB8AC3E}">
        <p14:creationId xmlns:p14="http://schemas.microsoft.com/office/powerpoint/2010/main" val="1960105932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encabezado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s-EC"/>
          </a:p>
        </p:txBody>
      </p:sp>
      <p:sp>
        <p:nvSpPr>
          <p:cNvPr id="3" name="Marcador de fecha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BDEBC4A6-58CE-1A42-AEBC-3C083FC98C1B}" type="datetimeFigureOut">
              <a:rPr lang="es-EC" smtClean="0"/>
              <a:t>20/5/2026</a:t>
            </a:fld>
            <a:endParaRPr lang="es-EC"/>
          </a:p>
        </p:txBody>
      </p:sp>
      <p:sp>
        <p:nvSpPr>
          <p:cNvPr id="4" name="Marcador de imagen de diapositiva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s-EC"/>
          </a:p>
        </p:txBody>
      </p:sp>
      <p:sp>
        <p:nvSpPr>
          <p:cNvPr id="5" name="Marcador de notas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EC"/>
          </a:p>
        </p:txBody>
      </p:sp>
      <p:sp>
        <p:nvSpPr>
          <p:cNvPr id="6" name="Marcador de pie de página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s-EC"/>
          </a:p>
        </p:txBody>
      </p:sp>
      <p:sp>
        <p:nvSpPr>
          <p:cNvPr id="7" name="Marcador de número de diapositiva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2F156A32-C3AE-EA4D-B481-059ABDF01A91}" type="slidenum">
              <a:rPr lang="es-EC" smtClean="0"/>
              <a:t>‹Nº›</a:t>
            </a:fld>
            <a:endParaRPr lang="es-EC"/>
          </a:p>
        </p:txBody>
      </p:sp>
    </p:spTree>
    <p:extLst>
      <p:ext uri="{BB962C8B-B14F-4D97-AF65-F5344CB8AC3E}">
        <p14:creationId xmlns:p14="http://schemas.microsoft.com/office/powerpoint/2010/main" val="1902868660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imagen de diapositiva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Marcador de nota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s-EC"/>
          </a:p>
        </p:txBody>
      </p:sp>
      <p:sp>
        <p:nvSpPr>
          <p:cNvPr id="4" name="Marcador de número de diapositiva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F156A32-C3AE-EA4D-B481-059ABDF01A91}" type="slidenum">
              <a:rPr lang="es-EC" smtClean="0"/>
              <a:t>1</a:t>
            </a:fld>
            <a:endParaRPr lang="es-EC"/>
          </a:p>
        </p:txBody>
      </p:sp>
    </p:spTree>
    <p:extLst>
      <p:ext uri="{BB962C8B-B14F-4D97-AF65-F5344CB8AC3E}">
        <p14:creationId xmlns:p14="http://schemas.microsoft.com/office/powerpoint/2010/main" val="2680167885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g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jpg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Diseño personalizad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43650959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Diapositiva de título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A901302B-0616-B5D3-ECCE-058359531D8F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  <a:prstGeom prst="rect">
            <a:avLst/>
          </a:prstGeom>
        </p:spPr>
        <p:txBody>
          <a:bodyPr anchor="b"/>
          <a:lstStyle>
            <a:lvl1pPr algn="ctr">
              <a:defRPr sz="6000">
                <a:solidFill>
                  <a:schemeClr val="bg1"/>
                </a:solidFill>
              </a:defRPr>
            </a:lvl1pPr>
          </a:lstStyle>
          <a:p>
            <a:r>
              <a:rPr lang="es-ES" dirty="0"/>
              <a:t>Haga clic para modificar el estilo de título del patrón</a:t>
            </a:r>
            <a:endParaRPr lang="es-EC" dirty="0"/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91564C63-B3AA-E309-2194-D7C6374C4A53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  <a:prstGeom prst="rect">
            <a:avLst/>
          </a:prstGeom>
        </p:spPr>
        <p:txBody>
          <a:bodyPr/>
          <a:lstStyle>
            <a:lvl1pPr marL="0" indent="0" algn="ctr">
              <a:buNone/>
              <a:defRPr sz="2400">
                <a:solidFill>
                  <a:schemeClr val="bg1"/>
                </a:solidFill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s-ES" dirty="0"/>
              <a:t>Haga clic para modificar el estilo de subtítulo del patrón</a:t>
            </a:r>
            <a:endParaRPr lang="es-EC" dirty="0"/>
          </a:p>
        </p:txBody>
      </p:sp>
    </p:spTree>
    <p:extLst>
      <p:ext uri="{BB962C8B-B14F-4D97-AF65-F5344CB8AC3E}">
        <p14:creationId xmlns:p14="http://schemas.microsoft.com/office/powerpoint/2010/main" val="3628214953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ítulo y objetos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5596AE4F-68D1-58AE-399B-ED8C89DF6A8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/>
          <a:lstStyle/>
          <a:p>
            <a:r>
              <a:rPr lang="es-ES" dirty="0"/>
              <a:t>Haga clic para modificar el estilo de título del patrón</a:t>
            </a:r>
            <a:endParaRPr lang="es-EC" dirty="0"/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FD6928AC-CA04-C1F1-2338-F8DD866ED7D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EC"/>
          </a:p>
        </p:txBody>
      </p:sp>
    </p:spTree>
    <p:extLst>
      <p:ext uri="{BB962C8B-B14F-4D97-AF65-F5344CB8AC3E}">
        <p14:creationId xmlns:p14="http://schemas.microsoft.com/office/powerpoint/2010/main" val="2370968157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ción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43971046-1272-8636-CC1B-A5B2B5596FF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  <a:prstGeom prst="rect">
            <a:avLst/>
          </a:prstGeom>
        </p:spPr>
        <p:txBody>
          <a:bodyPr/>
          <a:lstStyle/>
          <a:p>
            <a:r>
              <a:rPr lang="es-ES"/>
              <a:t>Haga clic para modificar el estilo de título del patrón</a:t>
            </a:r>
            <a:endParaRPr lang="es-EC"/>
          </a:p>
        </p:txBody>
      </p:sp>
      <p:sp>
        <p:nvSpPr>
          <p:cNvPr id="3" name="Marcador de texto 2">
            <a:extLst>
              <a:ext uri="{FF2B5EF4-FFF2-40B4-BE49-F238E27FC236}">
                <a16:creationId xmlns:a16="http://schemas.microsoft.com/office/drawing/2014/main" id="{FFCEA2A2-3047-E9CF-D9C0-D7ECFDD7B30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  <a:prstGeom prst="rect">
            <a:avLst/>
          </a:prstGeo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4" name="Marcador de contenido 3">
            <a:extLst>
              <a:ext uri="{FF2B5EF4-FFF2-40B4-BE49-F238E27FC236}">
                <a16:creationId xmlns:a16="http://schemas.microsoft.com/office/drawing/2014/main" id="{A3B75996-A587-378E-DE5E-1F84AABA674F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  <a:prstGeom prst="rect">
            <a:avLst/>
          </a:prstGeom>
        </p:spPr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EC"/>
          </a:p>
        </p:txBody>
      </p:sp>
      <p:sp>
        <p:nvSpPr>
          <p:cNvPr id="5" name="Marcador de texto 4">
            <a:extLst>
              <a:ext uri="{FF2B5EF4-FFF2-40B4-BE49-F238E27FC236}">
                <a16:creationId xmlns:a16="http://schemas.microsoft.com/office/drawing/2014/main" id="{3402C6AF-B09D-E163-89D5-6FB3422FE833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  <a:prstGeom prst="rect">
            <a:avLst/>
          </a:prstGeo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6" name="Marcador de contenido 5">
            <a:extLst>
              <a:ext uri="{FF2B5EF4-FFF2-40B4-BE49-F238E27FC236}">
                <a16:creationId xmlns:a16="http://schemas.microsoft.com/office/drawing/2014/main" id="{9F42A881-5142-C8A1-11A9-419C2BCD666B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  <a:prstGeom prst="rect">
            <a:avLst/>
          </a:prstGeom>
        </p:spPr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EC"/>
          </a:p>
        </p:txBody>
      </p:sp>
    </p:spTree>
    <p:extLst>
      <p:ext uri="{BB962C8B-B14F-4D97-AF65-F5344CB8AC3E}">
        <p14:creationId xmlns:p14="http://schemas.microsoft.com/office/powerpoint/2010/main" val="1252138283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En blanco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ítulo 1">
            <a:extLst>
              <a:ext uri="{FF2B5EF4-FFF2-40B4-BE49-F238E27FC236}">
                <a16:creationId xmlns:a16="http://schemas.microsoft.com/office/drawing/2014/main" id="{7582DDE6-59BE-A35B-00AF-21C442A86E6D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838200" y="2766218"/>
            <a:ext cx="10515600" cy="1325563"/>
          </a:xfrm>
          <a:prstGeom prst="rect">
            <a:avLst/>
          </a:prstGeom>
        </p:spPr>
        <p:txBody>
          <a:bodyPr/>
          <a:lstStyle>
            <a:lvl1pPr algn="ctr">
              <a:defRPr sz="5400" b="1">
                <a:solidFill>
                  <a:schemeClr val="bg1"/>
                </a:solidFill>
              </a:defRPr>
            </a:lvl1pPr>
          </a:lstStyle>
          <a:p>
            <a:r>
              <a:rPr lang="es-ES" dirty="0"/>
              <a:t>GRACIAS</a:t>
            </a:r>
            <a:endParaRPr lang="es-EC" dirty="0"/>
          </a:p>
        </p:txBody>
      </p:sp>
    </p:spTree>
    <p:extLst>
      <p:ext uri="{BB962C8B-B14F-4D97-AF65-F5344CB8AC3E}">
        <p14:creationId xmlns:p14="http://schemas.microsoft.com/office/powerpoint/2010/main" val="72597438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7" Type="http://schemas.openxmlformats.org/officeDocument/2006/relationships/image" Target="../media/image1.jpg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theme" Target="../theme/theme1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7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62177032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56" r:id="rId1"/>
    <p:sldLayoutId id="2147483649" r:id="rId2"/>
    <p:sldLayoutId id="2147483650" r:id="rId3"/>
    <p:sldLayoutId id="2147483653" r:id="rId4"/>
    <p:sldLayoutId id="2147483655" r:id="rId5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s-EC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3.xml"/><Relationship Id="rId5" Type="http://schemas.openxmlformats.org/officeDocument/2006/relationships/image" Target="../media/image8.png"/><Relationship Id="rId4" Type="http://schemas.openxmlformats.org/officeDocument/2006/relationships/image" Target="../media/image7.png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3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3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3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3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chart" Target="../charts/chart1.xml"/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3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chart" Target="../charts/chart2.xml"/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3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2">
            <a:extLst>
              <a:ext uri="{FF2B5EF4-FFF2-40B4-BE49-F238E27FC236}">
                <a16:creationId xmlns:a16="http://schemas.microsoft.com/office/drawing/2014/main" id="{1C325EAB-975C-2F68-A630-B1E94C256C09}"/>
              </a:ext>
            </a:extLst>
          </p:cNvPr>
          <p:cNvSpPr txBox="1">
            <a:spLocks noChangeArrowheads="1"/>
          </p:cNvSpPr>
          <p:nvPr/>
        </p:nvSpPr>
        <p:spPr>
          <a:xfrm>
            <a:off x="475736" y="3961233"/>
            <a:ext cx="8843210" cy="1625683"/>
          </a:xfrm>
          <a:prstGeom prst="rect">
            <a:avLst/>
          </a:prstGeom>
        </p:spPr>
        <p:txBody>
          <a:bodyPr vert="horz" lIns="91440" tIns="45720" rIns="91440" bIns="45720" rtlCol="0" anchor="t">
            <a:noAutofit/>
          </a:bodyPr>
          <a:lstStyle>
            <a:lvl1pPr algn="l" defTabSz="914400" rtl="0" eaLnBrk="1" latinLnBrk="0" hangingPunct="1">
              <a:lnSpc>
                <a:spcPct val="89000"/>
              </a:lnSpc>
              <a:spcBef>
                <a:spcPct val="0"/>
              </a:spcBef>
              <a:buNone/>
              <a:defRPr sz="4400" kern="1200" baseline="0">
                <a:solidFill>
                  <a:schemeClr val="tx2"/>
                </a:solidFill>
                <a:latin typeface="+mj-lt"/>
                <a:ea typeface="+mj-ea"/>
                <a:cs typeface="+mj-cs"/>
              </a:defRPr>
            </a:lvl1pPr>
          </a:lstStyle>
          <a:p>
            <a:pPr fontAlgn="auto">
              <a:lnSpc>
                <a:spcPct val="150000"/>
              </a:lnSpc>
              <a:spcAft>
                <a:spcPts val="0"/>
              </a:spcAft>
              <a:defRPr/>
            </a:pPr>
            <a:r>
              <a:rPr lang="es-ES" sz="2200" dirty="0">
                <a:solidFill>
                  <a:schemeClr val="bg1"/>
                </a:solidFill>
                <a:latin typeface="Avenir Medium" panose="02000503020000020003" pitchFamily="2" charset="0"/>
              </a:rPr>
              <a:t>Estudiante: </a:t>
            </a:r>
            <a:r>
              <a:rPr lang="es-ES" sz="2200" dirty="0">
                <a:solidFill>
                  <a:schemeClr val="bg1"/>
                </a:solidFill>
                <a:latin typeface="Avenir Book" panose="02000503020000020003" pitchFamily="2" charset="0"/>
              </a:rPr>
              <a:t>Farith Anselmo Mejia Dueñas</a:t>
            </a:r>
            <a:br>
              <a:rPr lang="es-ES" sz="2200" dirty="0">
                <a:solidFill>
                  <a:schemeClr val="bg1"/>
                </a:solidFill>
                <a:latin typeface="Avenir Book" panose="02000503020000020003" pitchFamily="2" charset="0"/>
              </a:rPr>
            </a:br>
            <a:r>
              <a:rPr lang="es-ES" sz="2200" dirty="0">
                <a:solidFill>
                  <a:schemeClr val="bg1"/>
                </a:solidFill>
                <a:latin typeface="Avenir Medium" panose="02000503020000020003" pitchFamily="2" charset="0"/>
              </a:rPr>
              <a:t>Director: René Elizalde Solano</a:t>
            </a:r>
            <a:br>
              <a:rPr lang="es-ES" sz="2200" dirty="0">
                <a:solidFill>
                  <a:schemeClr val="bg1"/>
                </a:solidFill>
                <a:latin typeface="Avenir Book" panose="02000503020000020003" pitchFamily="2" charset="0"/>
              </a:rPr>
            </a:br>
            <a:r>
              <a:rPr lang="es-ES_tradnl" sz="2200" b="1" dirty="0">
                <a:solidFill>
                  <a:schemeClr val="bg1"/>
                </a:solidFill>
                <a:latin typeface="Avenir Book" panose="02000503020000020003" pitchFamily="2" charset="0"/>
              </a:rPr>
              <a:t>25 de mayo del 2026</a:t>
            </a:r>
            <a:endParaRPr lang="es-ES" sz="2200" b="1" dirty="0">
              <a:solidFill>
                <a:schemeClr val="bg1"/>
              </a:solidFill>
              <a:latin typeface="Avenir Book" panose="02000503020000020003" pitchFamily="2" charset="0"/>
            </a:endParaRPr>
          </a:p>
        </p:txBody>
      </p:sp>
      <p:sp>
        <p:nvSpPr>
          <p:cNvPr id="10" name="Rectangle 2">
            <a:extLst>
              <a:ext uri="{FF2B5EF4-FFF2-40B4-BE49-F238E27FC236}">
                <a16:creationId xmlns:a16="http://schemas.microsoft.com/office/drawing/2014/main" id="{EE4E910F-FB4B-4D6B-5A58-130B2EEF3BCF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75736" y="1402249"/>
            <a:ext cx="7574636" cy="1494519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anchor="ctr"/>
          <a:lstStyle/>
          <a:p>
            <a:pPr algn="just">
              <a:defRPr/>
            </a:pPr>
            <a:r>
              <a:rPr lang="es-MX" sz="3200" dirty="0">
                <a:solidFill>
                  <a:schemeClr val="bg1"/>
                </a:solidFill>
              </a:rPr>
              <a:t>Sistema IoT para el monitoreo inteligente de la calidad del aire en zonas urbanas de Quito.</a:t>
            </a:r>
            <a:endParaRPr lang="es-ES" sz="3200" dirty="0">
              <a:ln w="0"/>
              <a:solidFill>
                <a:schemeClr val="bg1"/>
              </a:solidFill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  <a:latin typeface="Avenir Medium" panose="02000503020000020003" pitchFamily="2" charset="0"/>
            </a:endParaRPr>
          </a:p>
        </p:txBody>
      </p:sp>
      <p:sp>
        <p:nvSpPr>
          <p:cNvPr id="11" name="Rectangle 2">
            <a:extLst>
              <a:ext uri="{FF2B5EF4-FFF2-40B4-BE49-F238E27FC236}">
                <a16:creationId xmlns:a16="http://schemas.microsoft.com/office/drawing/2014/main" id="{F7561AB2-5B57-29E6-059B-ACE41B912A22}"/>
              </a:ext>
            </a:extLst>
          </p:cNvPr>
          <p:cNvSpPr txBox="1">
            <a:spLocks noChangeArrowheads="1"/>
          </p:cNvSpPr>
          <p:nvPr/>
        </p:nvSpPr>
        <p:spPr>
          <a:xfrm>
            <a:off x="7439025" y="4107415"/>
            <a:ext cx="4752975" cy="1264685"/>
          </a:xfrm>
          <a:prstGeom prst="rect">
            <a:avLst/>
          </a:prstGeom>
          <a:solidFill>
            <a:schemeClr val="accent4"/>
          </a:solidFill>
          <a:ln>
            <a:solidFill>
              <a:schemeClr val="accent1">
                <a:lumMod val="75000"/>
              </a:schemeClr>
            </a:solidFill>
          </a:ln>
        </p:spPr>
        <p:txBody>
          <a:bodyPr vert="horz" lIns="91440" tIns="45720" rIns="91440" bIns="45720" rtlCol="0" anchor="ctr">
            <a:noAutofit/>
          </a:bodyPr>
          <a:lstStyle>
            <a:lvl1pPr algn="l" defTabSz="914400" rtl="0" eaLnBrk="1" latinLnBrk="0" hangingPunct="1">
              <a:lnSpc>
                <a:spcPct val="89000"/>
              </a:lnSpc>
              <a:spcBef>
                <a:spcPct val="0"/>
              </a:spcBef>
              <a:buNone/>
              <a:defRPr sz="4400" kern="1200" baseline="0">
                <a:solidFill>
                  <a:schemeClr val="tx2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 fontAlgn="auto">
              <a:lnSpc>
                <a:spcPct val="100000"/>
              </a:lnSpc>
              <a:spcAft>
                <a:spcPts val="0"/>
              </a:spcAft>
              <a:defRPr/>
            </a:pPr>
            <a:r>
              <a:rPr lang="es-ES" sz="2800" b="1" dirty="0">
                <a:solidFill>
                  <a:schemeClr val="accent1">
                    <a:lumMod val="75000"/>
                  </a:schemeClr>
                </a:solidFill>
                <a:latin typeface="Avenir Black" panose="02000503020000020003" pitchFamily="2" charset="0"/>
              </a:rPr>
              <a:t>Carrera de Tecnologías de la Información</a:t>
            </a:r>
          </a:p>
          <a:p>
            <a:pPr algn="ctr" fontAlgn="auto">
              <a:lnSpc>
                <a:spcPct val="100000"/>
              </a:lnSpc>
              <a:spcAft>
                <a:spcPts val="0"/>
              </a:spcAft>
              <a:defRPr/>
            </a:pPr>
            <a:r>
              <a:rPr lang="es-ES" sz="2800" b="1" dirty="0">
                <a:solidFill>
                  <a:schemeClr val="accent1">
                    <a:lumMod val="75000"/>
                  </a:schemeClr>
                </a:solidFill>
                <a:latin typeface="Avenir Black" panose="02000503020000020003" pitchFamily="2" charset="0"/>
              </a:rPr>
              <a:t>Prácticum 4.2 - TIC </a:t>
            </a:r>
          </a:p>
        </p:txBody>
      </p:sp>
    </p:spTree>
    <p:extLst>
      <p:ext uri="{BB962C8B-B14F-4D97-AF65-F5344CB8AC3E}">
        <p14:creationId xmlns:p14="http://schemas.microsoft.com/office/powerpoint/2010/main" val="3075112421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Google Shape;309;p3">
            <a:extLst>
              <a:ext uri="{FF2B5EF4-FFF2-40B4-BE49-F238E27FC236}">
                <a16:creationId xmlns:a16="http://schemas.microsoft.com/office/drawing/2014/main" id="{81D2A54E-BF77-12C8-43D6-D990AAD710B8}"/>
              </a:ext>
            </a:extLst>
          </p:cNvPr>
          <p:cNvSpPr txBox="1"/>
          <p:nvPr/>
        </p:nvSpPr>
        <p:spPr>
          <a:xfrm>
            <a:off x="544068" y="625839"/>
            <a:ext cx="4700594" cy="59129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2060"/>
              </a:buClr>
              <a:buSzPts val="3600"/>
              <a:buFont typeface="Arial"/>
              <a:buNone/>
            </a:pPr>
            <a:r>
              <a:rPr lang="es-PE" sz="3600" b="1" i="0" u="none" strike="noStrike" cap="none" dirty="0">
                <a:latin typeface="Avenir Book" panose="02000503020000020003" pitchFamily="2" charset="0"/>
                <a:ea typeface="Arial"/>
                <a:cs typeface="Arial"/>
                <a:sym typeface="Arial"/>
              </a:rPr>
              <a:t>Agenda</a:t>
            </a:r>
            <a:endParaRPr sz="3600" b="1" i="0" u="none" strike="noStrike" cap="none" dirty="0">
              <a:latin typeface="Avenir Book" panose="02000503020000020003" pitchFamily="2" charset="0"/>
              <a:ea typeface="Arial"/>
              <a:cs typeface="Arial"/>
              <a:sym typeface="Arial"/>
            </a:endParaRPr>
          </a:p>
        </p:txBody>
      </p:sp>
      <p:sp>
        <p:nvSpPr>
          <p:cNvPr id="29" name="Google Shape;347;p4">
            <a:extLst>
              <a:ext uri="{FF2B5EF4-FFF2-40B4-BE49-F238E27FC236}">
                <a16:creationId xmlns:a16="http://schemas.microsoft.com/office/drawing/2014/main" id="{0DA6E412-884A-9F39-6E62-8818B03A1DA6}"/>
              </a:ext>
            </a:extLst>
          </p:cNvPr>
          <p:cNvSpPr/>
          <p:nvPr/>
        </p:nvSpPr>
        <p:spPr>
          <a:xfrm>
            <a:off x="0" y="1433020"/>
            <a:ext cx="1576552" cy="66507"/>
          </a:xfrm>
          <a:prstGeom prst="roundRect">
            <a:avLst>
              <a:gd name="adj" fmla="val 50000"/>
            </a:avLst>
          </a:prstGeom>
          <a:solidFill>
            <a:srgbClr val="FFC000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lt1"/>
              </a:solidFill>
              <a:latin typeface="Avenir Book" panose="02000503020000020003" pitchFamily="2" charset="0"/>
              <a:ea typeface="Calibri"/>
              <a:cs typeface="Calibri"/>
              <a:sym typeface="Calibri"/>
            </a:endParaRPr>
          </a:p>
        </p:txBody>
      </p:sp>
      <p:sp>
        <p:nvSpPr>
          <p:cNvPr id="30" name="Line 2">
            <a:extLst>
              <a:ext uri="{FF2B5EF4-FFF2-40B4-BE49-F238E27FC236}">
                <a16:creationId xmlns:a16="http://schemas.microsoft.com/office/drawing/2014/main" id="{2016390E-0F03-26BC-1441-A6AFD7EAC858}"/>
              </a:ext>
            </a:extLst>
          </p:cNvPr>
          <p:cNvSpPr>
            <a:spLocks noChangeShapeType="1"/>
          </p:cNvSpPr>
          <p:nvPr/>
        </p:nvSpPr>
        <p:spPr bwMode="auto">
          <a:xfrm>
            <a:off x="1264309" y="2474052"/>
            <a:ext cx="3920945" cy="1523"/>
          </a:xfrm>
          <a:prstGeom prst="line">
            <a:avLst/>
          </a:prstGeom>
          <a:noFill/>
          <a:ln w="19050">
            <a:solidFill>
              <a:srgbClr val="002060"/>
            </a:solidFill>
            <a:prstDash val="sysDot"/>
            <a:round/>
            <a:headEnd/>
            <a:tailEnd type="oval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es-PE" sz="1200" dirty="0">
              <a:solidFill>
                <a:schemeClr val="tx1">
                  <a:lumMod val="75000"/>
                  <a:lumOff val="25000"/>
                </a:schemeClr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34" name="Text Box 6">
            <a:extLst>
              <a:ext uri="{FF2B5EF4-FFF2-40B4-BE49-F238E27FC236}">
                <a16:creationId xmlns:a16="http://schemas.microsoft.com/office/drawing/2014/main" id="{64878578-78CA-8C20-E2E1-17942888C114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279936" y="2056175"/>
            <a:ext cx="1289135" cy="40011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 algn="ctr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es-PE" sz="2000" dirty="0" err="1">
                <a:latin typeface="Avenir Book" panose="02000503020000020003" pitchFamily="2" charset="0"/>
                <a:cs typeface="Arial" panose="020B0604020202020204" pitchFamily="34" charset="0"/>
              </a:rPr>
              <a:t>Objetivos</a:t>
            </a:r>
            <a:endParaRPr lang="en-US" altLang="es-PE" sz="2000" dirty="0">
              <a:latin typeface="Avenir Book" panose="02000503020000020003" pitchFamily="2" charset="0"/>
              <a:cs typeface="Arial" panose="020B0604020202020204" pitchFamily="34" charset="0"/>
            </a:endParaRPr>
          </a:p>
        </p:txBody>
      </p:sp>
      <p:sp>
        <p:nvSpPr>
          <p:cNvPr id="66" name="TextBox 68">
            <a:extLst>
              <a:ext uri="{FF2B5EF4-FFF2-40B4-BE49-F238E27FC236}">
                <a16:creationId xmlns:a16="http://schemas.microsoft.com/office/drawing/2014/main" id="{3B2A87C5-1050-AC85-3C26-EB8C1D6A6CEF}"/>
              </a:ext>
            </a:extLst>
          </p:cNvPr>
          <p:cNvSpPr txBox="1"/>
          <p:nvPr/>
        </p:nvSpPr>
        <p:spPr>
          <a:xfrm>
            <a:off x="723900" y="2026610"/>
            <a:ext cx="527709" cy="461665"/>
          </a:xfrm>
          <a:prstGeom prst="rect">
            <a:avLst/>
          </a:prstGeom>
          <a:solidFill>
            <a:schemeClr val="accent4">
              <a:lumMod val="60000"/>
              <a:lumOff val="40000"/>
            </a:schemeClr>
          </a:solidFill>
        </p:spPr>
        <p:txBody>
          <a:bodyPr wrap="none" rtlCol="0">
            <a:spAutoFit/>
          </a:bodyPr>
          <a:lstStyle/>
          <a:p>
            <a:pPr algn="r"/>
            <a:r>
              <a:rPr lang="id-ID" sz="2400" b="1" dirty="0">
                <a:solidFill>
                  <a:srgbClr val="002060"/>
                </a:solidFill>
                <a:latin typeface="Arial" panose="020B0604020202020204" pitchFamily="34" charset="0"/>
                <a:ea typeface="Lato" panose="020F0502020204030203" pitchFamily="34" charset="0"/>
                <a:cs typeface="Arial" panose="020B0604020202020204" pitchFamily="34" charset="0"/>
              </a:rPr>
              <a:t>01</a:t>
            </a:r>
          </a:p>
        </p:txBody>
      </p:sp>
      <p:sp>
        <p:nvSpPr>
          <p:cNvPr id="67" name="Line 2">
            <a:extLst>
              <a:ext uri="{FF2B5EF4-FFF2-40B4-BE49-F238E27FC236}">
                <a16:creationId xmlns:a16="http://schemas.microsoft.com/office/drawing/2014/main" id="{3D951A81-BE62-BEC0-5B12-F1D84623D714}"/>
              </a:ext>
            </a:extLst>
          </p:cNvPr>
          <p:cNvSpPr>
            <a:spLocks noChangeShapeType="1"/>
          </p:cNvSpPr>
          <p:nvPr/>
        </p:nvSpPr>
        <p:spPr bwMode="auto">
          <a:xfrm>
            <a:off x="1278761" y="3326347"/>
            <a:ext cx="3920945" cy="1523"/>
          </a:xfrm>
          <a:prstGeom prst="line">
            <a:avLst/>
          </a:prstGeom>
          <a:noFill/>
          <a:ln w="19050">
            <a:solidFill>
              <a:srgbClr val="002060"/>
            </a:solidFill>
            <a:prstDash val="sysDot"/>
            <a:round/>
            <a:headEnd/>
            <a:tailEnd type="oval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es-PE" sz="1200" dirty="0">
              <a:solidFill>
                <a:schemeClr val="tx1">
                  <a:lumMod val="75000"/>
                  <a:lumOff val="25000"/>
                </a:schemeClr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68" name="Text Box 6">
            <a:extLst>
              <a:ext uri="{FF2B5EF4-FFF2-40B4-BE49-F238E27FC236}">
                <a16:creationId xmlns:a16="http://schemas.microsoft.com/office/drawing/2014/main" id="{56C7EEAB-E62F-AFDE-3B4C-4B44F63A650F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294388" y="2908470"/>
            <a:ext cx="1810111" cy="40011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 algn="ctr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es-PE" sz="2000" dirty="0" err="1">
                <a:latin typeface="Avenir Book" panose="02000503020000020003" pitchFamily="2" charset="0"/>
                <a:cs typeface="Arial" panose="020B0604020202020204" pitchFamily="34" charset="0"/>
              </a:rPr>
              <a:t>Componentes</a:t>
            </a:r>
            <a:endParaRPr lang="en-US" altLang="es-PE" sz="2000" dirty="0">
              <a:latin typeface="Avenir Book" panose="02000503020000020003" pitchFamily="2" charset="0"/>
              <a:cs typeface="Arial" panose="020B0604020202020204" pitchFamily="34" charset="0"/>
            </a:endParaRPr>
          </a:p>
        </p:txBody>
      </p:sp>
      <p:sp>
        <p:nvSpPr>
          <p:cNvPr id="69" name="TextBox 68">
            <a:extLst>
              <a:ext uri="{FF2B5EF4-FFF2-40B4-BE49-F238E27FC236}">
                <a16:creationId xmlns:a16="http://schemas.microsoft.com/office/drawing/2014/main" id="{BC2C5568-8C62-81A2-5788-F6FBC829E090}"/>
              </a:ext>
            </a:extLst>
          </p:cNvPr>
          <p:cNvSpPr txBox="1"/>
          <p:nvPr/>
        </p:nvSpPr>
        <p:spPr>
          <a:xfrm>
            <a:off x="738351" y="2878905"/>
            <a:ext cx="527710" cy="461665"/>
          </a:xfrm>
          <a:prstGeom prst="rect">
            <a:avLst/>
          </a:prstGeom>
          <a:solidFill>
            <a:schemeClr val="accent4">
              <a:lumMod val="60000"/>
              <a:lumOff val="40000"/>
            </a:schemeClr>
          </a:solidFill>
        </p:spPr>
        <p:txBody>
          <a:bodyPr wrap="none" rtlCol="0">
            <a:spAutoFit/>
          </a:bodyPr>
          <a:lstStyle/>
          <a:p>
            <a:pPr algn="r"/>
            <a:r>
              <a:rPr lang="id-ID" sz="2400" b="1" dirty="0">
                <a:solidFill>
                  <a:srgbClr val="002060"/>
                </a:solidFill>
                <a:latin typeface="Arial" panose="020B0604020202020204" pitchFamily="34" charset="0"/>
                <a:ea typeface="Lato" panose="020F0502020204030203" pitchFamily="34" charset="0"/>
                <a:cs typeface="Arial" panose="020B0604020202020204" pitchFamily="34" charset="0"/>
              </a:rPr>
              <a:t>02</a:t>
            </a:r>
          </a:p>
        </p:txBody>
      </p:sp>
      <p:sp>
        <p:nvSpPr>
          <p:cNvPr id="70" name="Line 2">
            <a:extLst>
              <a:ext uri="{FF2B5EF4-FFF2-40B4-BE49-F238E27FC236}">
                <a16:creationId xmlns:a16="http://schemas.microsoft.com/office/drawing/2014/main" id="{1BD7D81E-394F-7ED8-485A-64BCAAEA401A}"/>
              </a:ext>
            </a:extLst>
          </p:cNvPr>
          <p:cNvSpPr>
            <a:spLocks noChangeShapeType="1"/>
          </p:cNvSpPr>
          <p:nvPr/>
        </p:nvSpPr>
        <p:spPr bwMode="auto">
          <a:xfrm>
            <a:off x="1278761" y="4186034"/>
            <a:ext cx="3920945" cy="1523"/>
          </a:xfrm>
          <a:prstGeom prst="line">
            <a:avLst/>
          </a:prstGeom>
          <a:noFill/>
          <a:ln w="19050">
            <a:solidFill>
              <a:srgbClr val="002060"/>
            </a:solidFill>
            <a:prstDash val="sysDot"/>
            <a:round/>
            <a:headEnd/>
            <a:tailEnd type="oval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es-PE" sz="1200" dirty="0">
              <a:solidFill>
                <a:schemeClr val="tx1">
                  <a:lumMod val="75000"/>
                  <a:lumOff val="25000"/>
                </a:schemeClr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71" name="Text Box 6">
            <a:extLst>
              <a:ext uri="{FF2B5EF4-FFF2-40B4-BE49-F238E27FC236}">
                <a16:creationId xmlns:a16="http://schemas.microsoft.com/office/drawing/2014/main" id="{539EC4DE-DFF7-AF99-DF9E-2C350C8429DB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294388" y="3768157"/>
            <a:ext cx="3407343" cy="40011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 algn="ctr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es-PE" sz="2000" dirty="0">
                <a:latin typeface="Avenir Book" panose="02000503020000020003" pitchFamily="2" charset="0"/>
                <a:cs typeface="Arial" panose="020B0604020202020204" pitchFamily="34" charset="0"/>
              </a:rPr>
              <a:t>Marco </a:t>
            </a:r>
            <a:r>
              <a:rPr lang="en-US" altLang="es-PE" sz="2000" dirty="0" err="1">
                <a:latin typeface="Avenir Book" panose="02000503020000020003" pitchFamily="2" charset="0"/>
                <a:cs typeface="Arial" panose="020B0604020202020204" pitchFamily="34" charset="0"/>
              </a:rPr>
              <a:t>Teórico</a:t>
            </a:r>
            <a:r>
              <a:rPr lang="en-US" altLang="es-PE" sz="2000" dirty="0">
                <a:latin typeface="Avenir Book" panose="02000503020000020003" pitchFamily="2" charset="0"/>
                <a:cs typeface="Arial" panose="020B0604020202020204" pitchFamily="34" charset="0"/>
              </a:rPr>
              <a:t> / Estado de </a:t>
            </a:r>
            <a:r>
              <a:rPr lang="en-US" altLang="es-PE" sz="2000" dirty="0" err="1">
                <a:latin typeface="Avenir Book" panose="02000503020000020003" pitchFamily="2" charset="0"/>
                <a:cs typeface="Arial" panose="020B0604020202020204" pitchFamily="34" charset="0"/>
              </a:rPr>
              <a:t>arte</a:t>
            </a:r>
            <a:endParaRPr lang="en-US" altLang="es-PE" sz="2000" dirty="0">
              <a:latin typeface="Avenir Book" panose="02000503020000020003" pitchFamily="2" charset="0"/>
              <a:cs typeface="Arial" panose="020B0604020202020204" pitchFamily="34" charset="0"/>
            </a:endParaRPr>
          </a:p>
        </p:txBody>
      </p:sp>
      <p:sp>
        <p:nvSpPr>
          <p:cNvPr id="72" name="TextBox 68">
            <a:extLst>
              <a:ext uri="{FF2B5EF4-FFF2-40B4-BE49-F238E27FC236}">
                <a16:creationId xmlns:a16="http://schemas.microsoft.com/office/drawing/2014/main" id="{20AFC25C-50A3-FF26-97F2-372C537A9A5D}"/>
              </a:ext>
            </a:extLst>
          </p:cNvPr>
          <p:cNvSpPr txBox="1"/>
          <p:nvPr/>
        </p:nvSpPr>
        <p:spPr>
          <a:xfrm>
            <a:off x="738351" y="3738592"/>
            <a:ext cx="527710" cy="461665"/>
          </a:xfrm>
          <a:prstGeom prst="rect">
            <a:avLst/>
          </a:prstGeom>
          <a:solidFill>
            <a:schemeClr val="accent4">
              <a:lumMod val="60000"/>
              <a:lumOff val="40000"/>
            </a:schemeClr>
          </a:solidFill>
        </p:spPr>
        <p:txBody>
          <a:bodyPr wrap="none" rtlCol="0">
            <a:spAutoFit/>
          </a:bodyPr>
          <a:lstStyle/>
          <a:p>
            <a:pPr algn="r"/>
            <a:r>
              <a:rPr lang="id-ID" sz="2400" b="1" dirty="0">
                <a:solidFill>
                  <a:srgbClr val="002060"/>
                </a:solidFill>
                <a:latin typeface="Arial" panose="020B0604020202020204" pitchFamily="34" charset="0"/>
                <a:ea typeface="Lato" panose="020F0502020204030203" pitchFamily="34" charset="0"/>
                <a:cs typeface="Arial" panose="020B0604020202020204" pitchFamily="34" charset="0"/>
              </a:rPr>
              <a:t>03</a:t>
            </a:r>
          </a:p>
        </p:txBody>
      </p:sp>
      <p:sp>
        <p:nvSpPr>
          <p:cNvPr id="73" name="Line 2">
            <a:extLst>
              <a:ext uri="{FF2B5EF4-FFF2-40B4-BE49-F238E27FC236}">
                <a16:creationId xmlns:a16="http://schemas.microsoft.com/office/drawing/2014/main" id="{DE47CEBA-F1F0-59C8-4057-10929540040F}"/>
              </a:ext>
            </a:extLst>
          </p:cNvPr>
          <p:cNvSpPr>
            <a:spLocks noChangeShapeType="1"/>
          </p:cNvSpPr>
          <p:nvPr/>
        </p:nvSpPr>
        <p:spPr bwMode="auto">
          <a:xfrm>
            <a:off x="1278761" y="5042715"/>
            <a:ext cx="3920945" cy="1523"/>
          </a:xfrm>
          <a:prstGeom prst="line">
            <a:avLst/>
          </a:prstGeom>
          <a:noFill/>
          <a:ln w="19050">
            <a:solidFill>
              <a:srgbClr val="002060"/>
            </a:solidFill>
            <a:prstDash val="sysDot"/>
            <a:round/>
            <a:headEnd/>
            <a:tailEnd type="oval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es-PE" sz="1200" dirty="0">
              <a:solidFill>
                <a:schemeClr val="tx1">
                  <a:lumMod val="75000"/>
                  <a:lumOff val="25000"/>
                </a:schemeClr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74" name="Text Box 6">
            <a:extLst>
              <a:ext uri="{FF2B5EF4-FFF2-40B4-BE49-F238E27FC236}">
                <a16:creationId xmlns:a16="http://schemas.microsoft.com/office/drawing/2014/main" id="{D4BCAEBB-7571-FEC1-41FB-D7B3B582D8B3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835256" y="2019174"/>
            <a:ext cx="2686954" cy="40011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 algn="ctr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es-PE" sz="2000" dirty="0" err="1">
                <a:latin typeface="Avenir Book" panose="02000503020000020003" pitchFamily="2" charset="0"/>
                <a:cs typeface="Arial" panose="020B0604020202020204" pitchFamily="34" charset="0"/>
              </a:rPr>
              <a:t>Análisis</a:t>
            </a:r>
            <a:r>
              <a:rPr lang="en-US" altLang="es-PE" sz="2000" dirty="0">
                <a:latin typeface="Avenir Book" panose="02000503020000020003" pitchFamily="2" charset="0"/>
                <a:cs typeface="Arial" panose="020B0604020202020204" pitchFamily="34" charset="0"/>
              </a:rPr>
              <a:t> de la </a:t>
            </a:r>
            <a:r>
              <a:rPr lang="en-US" altLang="es-PE" sz="2000" dirty="0" err="1">
                <a:latin typeface="Avenir Book" panose="02000503020000020003" pitchFamily="2" charset="0"/>
                <a:cs typeface="Arial" panose="020B0604020202020204" pitchFamily="34" charset="0"/>
              </a:rPr>
              <a:t>solución</a:t>
            </a:r>
            <a:endParaRPr lang="en-US" altLang="es-PE" sz="2000" dirty="0">
              <a:latin typeface="Avenir Book" panose="02000503020000020003" pitchFamily="2" charset="0"/>
              <a:cs typeface="Arial" panose="020B0604020202020204" pitchFamily="34" charset="0"/>
            </a:endParaRPr>
          </a:p>
        </p:txBody>
      </p:sp>
      <p:sp>
        <p:nvSpPr>
          <p:cNvPr id="75" name="TextBox 68">
            <a:extLst>
              <a:ext uri="{FF2B5EF4-FFF2-40B4-BE49-F238E27FC236}">
                <a16:creationId xmlns:a16="http://schemas.microsoft.com/office/drawing/2014/main" id="{8A55C8CC-D2A4-DE96-7A59-21D8794343E2}"/>
              </a:ext>
            </a:extLst>
          </p:cNvPr>
          <p:cNvSpPr txBox="1"/>
          <p:nvPr/>
        </p:nvSpPr>
        <p:spPr>
          <a:xfrm>
            <a:off x="738351" y="4595273"/>
            <a:ext cx="527710" cy="461665"/>
          </a:xfrm>
          <a:prstGeom prst="rect">
            <a:avLst/>
          </a:prstGeom>
          <a:solidFill>
            <a:schemeClr val="accent4">
              <a:lumMod val="60000"/>
              <a:lumOff val="40000"/>
            </a:schemeClr>
          </a:solidFill>
        </p:spPr>
        <p:txBody>
          <a:bodyPr wrap="none" rtlCol="0">
            <a:spAutoFit/>
          </a:bodyPr>
          <a:lstStyle/>
          <a:p>
            <a:pPr algn="r"/>
            <a:r>
              <a:rPr lang="id-ID" sz="2400" b="1" dirty="0">
                <a:solidFill>
                  <a:srgbClr val="002060"/>
                </a:solidFill>
                <a:latin typeface="Arial" panose="020B0604020202020204" pitchFamily="34" charset="0"/>
                <a:ea typeface="Lato" panose="020F0502020204030203" pitchFamily="34" charset="0"/>
                <a:cs typeface="Arial" panose="020B0604020202020204" pitchFamily="34" charset="0"/>
              </a:rPr>
              <a:t>04</a:t>
            </a:r>
          </a:p>
        </p:txBody>
      </p:sp>
      <p:sp>
        <p:nvSpPr>
          <p:cNvPr id="76" name="Line 2">
            <a:extLst>
              <a:ext uri="{FF2B5EF4-FFF2-40B4-BE49-F238E27FC236}">
                <a16:creationId xmlns:a16="http://schemas.microsoft.com/office/drawing/2014/main" id="{F7042A78-0858-58DF-E1FA-34AAB55AECB6}"/>
              </a:ext>
            </a:extLst>
          </p:cNvPr>
          <p:cNvSpPr>
            <a:spLocks noChangeShapeType="1"/>
          </p:cNvSpPr>
          <p:nvPr/>
        </p:nvSpPr>
        <p:spPr bwMode="auto">
          <a:xfrm>
            <a:off x="6805177" y="2491928"/>
            <a:ext cx="3920945" cy="1523"/>
          </a:xfrm>
          <a:prstGeom prst="line">
            <a:avLst/>
          </a:prstGeom>
          <a:noFill/>
          <a:ln w="19050">
            <a:solidFill>
              <a:srgbClr val="002060"/>
            </a:solidFill>
            <a:prstDash val="sysDot"/>
            <a:round/>
            <a:headEnd/>
            <a:tailEnd type="oval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es-PE" sz="1200" dirty="0">
              <a:solidFill>
                <a:schemeClr val="tx1">
                  <a:lumMod val="75000"/>
                  <a:lumOff val="25000"/>
                </a:schemeClr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77" name="Text Box 6">
            <a:extLst>
              <a:ext uri="{FF2B5EF4-FFF2-40B4-BE49-F238E27FC236}">
                <a16:creationId xmlns:a16="http://schemas.microsoft.com/office/drawing/2014/main" id="{B48FAA7C-AEEC-20A1-01A8-613E7616C099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805177" y="2950022"/>
            <a:ext cx="3001334" cy="40011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 algn="ctr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es-PE" sz="2000" dirty="0">
                <a:latin typeface="Avenir Book" panose="02000503020000020003" pitchFamily="2" charset="0"/>
                <a:cs typeface="Arial" panose="020B0604020202020204" pitchFamily="34" charset="0"/>
              </a:rPr>
              <a:t>Desarrollo de la </a:t>
            </a:r>
            <a:r>
              <a:rPr lang="en-US" altLang="es-PE" sz="2000" dirty="0" err="1">
                <a:latin typeface="Avenir Book" panose="02000503020000020003" pitchFamily="2" charset="0"/>
                <a:cs typeface="Arial" panose="020B0604020202020204" pitchFamily="34" charset="0"/>
              </a:rPr>
              <a:t>solución</a:t>
            </a:r>
            <a:endParaRPr lang="en-US" altLang="es-PE" sz="2000" dirty="0">
              <a:latin typeface="Avenir Book" panose="02000503020000020003" pitchFamily="2" charset="0"/>
              <a:cs typeface="Arial" panose="020B0604020202020204" pitchFamily="34" charset="0"/>
            </a:endParaRPr>
          </a:p>
        </p:txBody>
      </p:sp>
      <p:sp>
        <p:nvSpPr>
          <p:cNvPr id="78" name="TextBox 68">
            <a:extLst>
              <a:ext uri="{FF2B5EF4-FFF2-40B4-BE49-F238E27FC236}">
                <a16:creationId xmlns:a16="http://schemas.microsoft.com/office/drawing/2014/main" id="{44256274-0BD2-F838-0757-A5B8C133F1C7}"/>
              </a:ext>
            </a:extLst>
          </p:cNvPr>
          <p:cNvSpPr txBox="1"/>
          <p:nvPr/>
        </p:nvSpPr>
        <p:spPr>
          <a:xfrm>
            <a:off x="6264767" y="2044486"/>
            <a:ext cx="527710" cy="461665"/>
          </a:xfrm>
          <a:prstGeom prst="rect">
            <a:avLst/>
          </a:prstGeom>
          <a:solidFill>
            <a:schemeClr val="accent4">
              <a:lumMod val="60000"/>
              <a:lumOff val="40000"/>
            </a:schemeClr>
          </a:solidFill>
        </p:spPr>
        <p:txBody>
          <a:bodyPr wrap="none" rtlCol="0">
            <a:spAutoFit/>
          </a:bodyPr>
          <a:lstStyle/>
          <a:p>
            <a:pPr algn="r"/>
            <a:r>
              <a:rPr lang="id-ID" sz="2400" b="1" dirty="0">
                <a:solidFill>
                  <a:srgbClr val="002060"/>
                </a:solidFill>
                <a:latin typeface="Arial" panose="020B0604020202020204" pitchFamily="34" charset="0"/>
                <a:ea typeface="Lato" panose="020F0502020204030203" pitchFamily="34" charset="0"/>
                <a:cs typeface="Arial" panose="020B0604020202020204" pitchFamily="34" charset="0"/>
              </a:rPr>
              <a:t>05</a:t>
            </a:r>
          </a:p>
        </p:txBody>
      </p:sp>
      <p:sp>
        <p:nvSpPr>
          <p:cNvPr id="79" name="Line 2">
            <a:extLst>
              <a:ext uri="{FF2B5EF4-FFF2-40B4-BE49-F238E27FC236}">
                <a16:creationId xmlns:a16="http://schemas.microsoft.com/office/drawing/2014/main" id="{C9299BDC-2EB2-DB63-7BFE-7165C2EBA462}"/>
              </a:ext>
            </a:extLst>
          </p:cNvPr>
          <p:cNvSpPr>
            <a:spLocks noChangeShapeType="1"/>
          </p:cNvSpPr>
          <p:nvPr/>
        </p:nvSpPr>
        <p:spPr bwMode="auto">
          <a:xfrm>
            <a:off x="6819629" y="3344223"/>
            <a:ext cx="3920945" cy="1523"/>
          </a:xfrm>
          <a:prstGeom prst="line">
            <a:avLst/>
          </a:prstGeom>
          <a:noFill/>
          <a:ln w="19050">
            <a:solidFill>
              <a:srgbClr val="002060"/>
            </a:solidFill>
            <a:prstDash val="sysDot"/>
            <a:round/>
            <a:headEnd/>
            <a:tailEnd type="oval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es-PE" sz="1200" dirty="0">
              <a:solidFill>
                <a:schemeClr val="tx1">
                  <a:lumMod val="75000"/>
                  <a:lumOff val="25000"/>
                </a:schemeClr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80" name="Text Box 6">
            <a:extLst>
              <a:ext uri="{FF2B5EF4-FFF2-40B4-BE49-F238E27FC236}">
                <a16:creationId xmlns:a16="http://schemas.microsoft.com/office/drawing/2014/main" id="{47BC787A-1665-C369-2963-895C2805E708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835256" y="3774235"/>
            <a:ext cx="3972754" cy="40011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 algn="ctr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es-PE" sz="2000" dirty="0" err="1">
                <a:latin typeface="Avenir Book" panose="02000503020000020003" pitchFamily="2" charset="0"/>
                <a:cs typeface="Arial" panose="020B0604020202020204" pitchFamily="34" charset="0"/>
              </a:rPr>
              <a:t>Análisis</a:t>
            </a:r>
            <a:r>
              <a:rPr lang="en-US" altLang="es-PE" sz="2000" dirty="0">
                <a:latin typeface="Avenir Book" panose="02000503020000020003" pitchFamily="2" charset="0"/>
                <a:cs typeface="Arial" panose="020B0604020202020204" pitchFamily="34" charset="0"/>
              </a:rPr>
              <a:t> y </a:t>
            </a:r>
            <a:r>
              <a:rPr lang="en-US" altLang="es-PE" sz="2000" dirty="0" err="1">
                <a:latin typeface="Avenir Book" panose="02000503020000020003" pitchFamily="2" charset="0"/>
                <a:cs typeface="Arial" panose="020B0604020202020204" pitchFamily="34" charset="0"/>
              </a:rPr>
              <a:t>discusión</a:t>
            </a:r>
            <a:r>
              <a:rPr lang="en-US" altLang="es-PE" sz="2000" dirty="0">
                <a:latin typeface="Avenir Book" panose="02000503020000020003" pitchFamily="2" charset="0"/>
                <a:cs typeface="Arial" panose="020B0604020202020204" pitchFamily="34" charset="0"/>
              </a:rPr>
              <a:t> de </a:t>
            </a:r>
            <a:r>
              <a:rPr lang="en-US" altLang="es-PE" sz="2000" dirty="0" err="1">
                <a:latin typeface="Avenir Book" panose="02000503020000020003" pitchFamily="2" charset="0"/>
                <a:cs typeface="Arial" panose="020B0604020202020204" pitchFamily="34" charset="0"/>
              </a:rPr>
              <a:t>resultados</a:t>
            </a:r>
            <a:endParaRPr lang="en-US" altLang="es-PE" sz="2000" dirty="0">
              <a:latin typeface="Avenir Book" panose="02000503020000020003" pitchFamily="2" charset="0"/>
              <a:cs typeface="Arial" panose="020B0604020202020204" pitchFamily="34" charset="0"/>
            </a:endParaRPr>
          </a:p>
        </p:txBody>
      </p:sp>
      <p:sp>
        <p:nvSpPr>
          <p:cNvPr id="81" name="TextBox 68">
            <a:extLst>
              <a:ext uri="{FF2B5EF4-FFF2-40B4-BE49-F238E27FC236}">
                <a16:creationId xmlns:a16="http://schemas.microsoft.com/office/drawing/2014/main" id="{E50F76E6-6632-CF39-68ED-3ACAA4FEF57E}"/>
              </a:ext>
            </a:extLst>
          </p:cNvPr>
          <p:cNvSpPr txBox="1"/>
          <p:nvPr/>
        </p:nvSpPr>
        <p:spPr>
          <a:xfrm>
            <a:off x="6279219" y="2896781"/>
            <a:ext cx="527710" cy="461665"/>
          </a:xfrm>
          <a:prstGeom prst="rect">
            <a:avLst/>
          </a:prstGeom>
          <a:solidFill>
            <a:schemeClr val="accent4">
              <a:lumMod val="60000"/>
              <a:lumOff val="40000"/>
            </a:schemeClr>
          </a:solidFill>
        </p:spPr>
        <p:txBody>
          <a:bodyPr wrap="none" rtlCol="0">
            <a:spAutoFit/>
          </a:bodyPr>
          <a:lstStyle/>
          <a:p>
            <a:pPr algn="r"/>
            <a:r>
              <a:rPr lang="id-ID" sz="2400" b="1" dirty="0">
                <a:solidFill>
                  <a:srgbClr val="002060"/>
                </a:solidFill>
                <a:latin typeface="Arial" panose="020B0604020202020204" pitchFamily="34" charset="0"/>
                <a:ea typeface="Lato" panose="020F0502020204030203" pitchFamily="34" charset="0"/>
                <a:cs typeface="Arial" panose="020B0604020202020204" pitchFamily="34" charset="0"/>
              </a:rPr>
              <a:t>06</a:t>
            </a:r>
          </a:p>
        </p:txBody>
      </p:sp>
      <p:sp>
        <p:nvSpPr>
          <p:cNvPr id="82" name="Line 2">
            <a:extLst>
              <a:ext uri="{FF2B5EF4-FFF2-40B4-BE49-F238E27FC236}">
                <a16:creationId xmlns:a16="http://schemas.microsoft.com/office/drawing/2014/main" id="{4A1C6F4C-77B8-D5D9-349E-3EF58A31D0F1}"/>
              </a:ext>
            </a:extLst>
          </p:cNvPr>
          <p:cNvSpPr>
            <a:spLocks noChangeShapeType="1"/>
          </p:cNvSpPr>
          <p:nvPr/>
        </p:nvSpPr>
        <p:spPr bwMode="auto">
          <a:xfrm>
            <a:off x="6819629" y="4203910"/>
            <a:ext cx="3920945" cy="1523"/>
          </a:xfrm>
          <a:prstGeom prst="line">
            <a:avLst/>
          </a:prstGeom>
          <a:noFill/>
          <a:ln w="19050">
            <a:solidFill>
              <a:srgbClr val="002060"/>
            </a:solidFill>
            <a:prstDash val="sysDot"/>
            <a:round/>
            <a:headEnd/>
            <a:tailEnd type="oval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es-PE" sz="1200" dirty="0">
              <a:solidFill>
                <a:schemeClr val="tx1">
                  <a:lumMod val="75000"/>
                  <a:lumOff val="25000"/>
                </a:schemeClr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83" name="Text Box 6">
            <a:extLst>
              <a:ext uri="{FF2B5EF4-FFF2-40B4-BE49-F238E27FC236}">
                <a16:creationId xmlns:a16="http://schemas.microsoft.com/office/drawing/2014/main" id="{E5B30A05-3463-08E6-4999-61CA22ED7FF2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792477" y="4662004"/>
            <a:ext cx="1704313" cy="40011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 algn="ctr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es-PE" sz="2000" dirty="0" err="1">
                <a:latin typeface="Avenir Book" panose="02000503020000020003" pitchFamily="2" charset="0"/>
                <a:cs typeface="Arial" panose="020B0604020202020204" pitchFamily="34" charset="0"/>
              </a:rPr>
              <a:t>Conclusiones</a:t>
            </a:r>
            <a:endParaRPr lang="en-US" altLang="es-PE" sz="2000" dirty="0">
              <a:latin typeface="Avenir Book" panose="02000503020000020003" pitchFamily="2" charset="0"/>
              <a:cs typeface="Arial" panose="020B0604020202020204" pitchFamily="34" charset="0"/>
            </a:endParaRPr>
          </a:p>
        </p:txBody>
      </p:sp>
      <p:sp>
        <p:nvSpPr>
          <p:cNvPr id="84" name="TextBox 68">
            <a:extLst>
              <a:ext uri="{FF2B5EF4-FFF2-40B4-BE49-F238E27FC236}">
                <a16:creationId xmlns:a16="http://schemas.microsoft.com/office/drawing/2014/main" id="{C5CD2529-9BDD-186E-7228-3912B94DAD9B}"/>
              </a:ext>
            </a:extLst>
          </p:cNvPr>
          <p:cNvSpPr txBox="1"/>
          <p:nvPr/>
        </p:nvSpPr>
        <p:spPr>
          <a:xfrm>
            <a:off x="6279219" y="3756468"/>
            <a:ext cx="527710" cy="461665"/>
          </a:xfrm>
          <a:prstGeom prst="rect">
            <a:avLst/>
          </a:prstGeom>
          <a:solidFill>
            <a:schemeClr val="accent4">
              <a:lumMod val="60000"/>
              <a:lumOff val="40000"/>
            </a:schemeClr>
          </a:solidFill>
        </p:spPr>
        <p:txBody>
          <a:bodyPr wrap="none" rtlCol="0">
            <a:spAutoFit/>
          </a:bodyPr>
          <a:lstStyle/>
          <a:p>
            <a:pPr algn="r"/>
            <a:r>
              <a:rPr lang="id-ID" sz="2400" b="1" dirty="0">
                <a:solidFill>
                  <a:srgbClr val="002060"/>
                </a:solidFill>
                <a:latin typeface="Arial" panose="020B0604020202020204" pitchFamily="34" charset="0"/>
                <a:ea typeface="Lato" panose="020F0502020204030203" pitchFamily="34" charset="0"/>
                <a:cs typeface="Arial" panose="020B0604020202020204" pitchFamily="34" charset="0"/>
              </a:rPr>
              <a:t>07</a:t>
            </a:r>
          </a:p>
        </p:txBody>
      </p:sp>
      <p:sp>
        <p:nvSpPr>
          <p:cNvPr id="85" name="Line 2">
            <a:extLst>
              <a:ext uri="{FF2B5EF4-FFF2-40B4-BE49-F238E27FC236}">
                <a16:creationId xmlns:a16="http://schemas.microsoft.com/office/drawing/2014/main" id="{46DE2708-4A4B-049A-1025-F97E29771F6A}"/>
              </a:ext>
            </a:extLst>
          </p:cNvPr>
          <p:cNvSpPr>
            <a:spLocks noChangeShapeType="1"/>
          </p:cNvSpPr>
          <p:nvPr/>
        </p:nvSpPr>
        <p:spPr bwMode="auto">
          <a:xfrm>
            <a:off x="6819629" y="5060591"/>
            <a:ext cx="3920945" cy="1523"/>
          </a:xfrm>
          <a:prstGeom prst="line">
            <a:avLst/>
          </a:prstGeom>
          <a:noFill/>
          <a:ln w="19050">
            <a:solidFill>
              <a:srgbClr val="002060"/>
            </a:solidFill>
            <a:prstDash val="sysDot"/>
            <a:round/>
            <a:headEnd/>
            <a:tailEnd type="oval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es-PE" sz="1200" dirty="0">
              <a:solidFill>
                <a:schemeClr val="tx1">
                  <a:lumMod val="75000"/>
                  <a:lumOff val="25000"/>
                </a:schemeClr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87" name="TextBox 68">
            <a:extLst>
              <a:ext uri="{FF2B5EF4-FFF2-40B4-BE49-F238E27FC236}">
                <a16:creationId xmlns:a16="http://schemas.microsoft.com/office/drawing/2014/main" id="{5644FF67-D7D3-2CDA-4979-9A88F06E9575}"/>
              </a:ext>
            </a:extLst>
          </p:cNvPr>
          <p:cNvSpPr txBox="1"/>
          <p:nvPr/>
        </p:nvSpPr>
        <p:spPr>
          <a:xfrm>
            <a:off x="6279219" y="4613149"/>
            <a:ext cx="527710" cy="461665"/>
          </a:xfrm>
          <a:prstGeom prst="rect">
            <a:avLst/>
          </a:prstGeom>
          <a:solidFill>
            <a:schemeClr val="accent4">
              <a:lumMod val="60000"/>
              <a:lumOff val="40000"/>
            </a:schemeClr>
          </a:solidFill>
        </p:spPr>
        <p:txBody>
          <a:bodyPr wrap="none" rtlCol="0">
            <a:spAutoFit/>
          </a:bodyPr>
          <a:lstStyle/>
          <a:p>
            <a:pPr algn="r"/>
            <a:r>
              <a:rPr lang="id-ID" sz="2400" b="1" dirty="0">
                <a:solidFill>
                  <a:srgbClr val="002060"/>
                </a:solidFill>
                <a:latin typeface="Arial" panose="020B0604020202020204" pitchFamily="34" charset="0"/>
                <a:ea typeface="Lato" panose="020F0502020204030203" pitchFamily="34" charset="0"/>
                <a:cs typeface="Arial" panose="020B0604020202020204" pitchFamily="34" charset="0"/>
              </a:rPr>
              <a:t>08</a:t>
            </a:r>
          </a:p>
        </p:txBody>
      </p:sp>
      <p:sp>
        <p:nvSpPr>
          <p:cNvPr id="31" name="Line 2">
            <a:extLst>
              <a:ext uri="{FF2B5EF4-FFF2-40B4-BE49-F238E27FC236}">
                <a16:creationId xmlns:a16="http://schemas.microsoft.com/office/drawing/2014/main" id="{7B8E73B7-A32D-4612-968A-3A153617FE64}"/>
              </a:ext>
            </a:extLst>
          </p:cNvPr>
          <p:cNvSpPr>
            <a:spLocks noChangeShapeType="1"/>
          </p:cNvSpPr>
          <p:nvPr/>
        </p:nvSpPr>
        <p:spPr bwMode="auto">
          <a:xfrm>
            <a:off x="6819629" y="5887707"/>
            <a:ext cx="3920945" cy="1523"/>
          </a:xfrm>
          <a:prstGeom prst="line">
            <a:avLst/>
          </a:prstGeom>
          <a:noFill/>
          <a:ln w="19050">
            <a:solidFill>
              <a:srgbClr val="002060"/>
            </a:solidFill>
            <a:prstDash val="sysDot"/>
            <a:round/>
            <a:headEnd/>
            <a:tailEnd type="oval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es-PE" sz="1200" dirty="0">
              <a:solidFill>
                <a:schemeClr val="tx1">
                  <a:lumMod val="75000"/>
                  <a:lumOff val="25000"/>
                </a:schemeClr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32" name="Text Box 6">
            <a:extLst>
              <a:ext uri="{FF2B5EF4-FFF2-40B4-BE49-F238E27FC236}">
                <a16:creationId xmlns:a16="http://schemas.microsoft.com/office/drawing/2014/main" id="{7E50CEE2-982F-4617-8935-20751FA1AA17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835256" y="5469830"/>
            <a:ext cx="1964384" cy="40011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 algn="ctr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es-PE" sz="2000" dirty="0" err="1">
                <a:latin typeface="Avenir Book" panose="02000503020000020003" pitchFamily="2" charset="0"/>
                <a:cs typeface="Arial" panose="020B0604020202020204" pitchFamily="34" charset="0"/>
              </a:rPr>
              <a:t>Recomendaciones</a:t>
            </a:r>
            <a:endParaRPr lang="en-US" altLang="es-PE" sz="2000" dirty="0">
              <a:latin typeface="Avenir Book" panose="02000503020000020003" pitchFamily="2" charset="0"/>
              <a:cs typeface="Arial" panose="020B0604020202020204" pitchFamily="34" charset="0"/>
            </a:endParaRPr>
          </a:p>
        </p:txBody>
      </p:sp>
      <p:sp>
        <p:nvSpPr>
          <p:cNvPr id="33" name="TextBox 68">
            <a:extLst>
              <a:ext uri="{FF2B5EF4-FFF2-40B4-BE49-F238E27FC236}">
                <a16:creationId xmlns:a16="http://schemas.microsoft.com/office/drawing/2014/main" id="{FAED02B0-5B2D-4916-8DCC-0C4E3BA97779}"/>
              </a:ext>
            </a:extLst>
          </p:cNvPr>
          <p:cNvSpPr txBox="1"/>
          <p:nvPr/>
        </p:nvSpPr>
        <p:spPr>
          <a:xfrm>
            <a:off x="6279219" y="5440265"/>
            <a:ext cx="527710" cy="461665"/>
          </a:xfrm>
          <a:prstGeom prst="rect">
            <a:avLst/>
          </a:prstGeom>
          <a:solidFill>
            <a:schemeClr val="accent4">
              <a:lumMod val="60000"/>
              <a:lumOff val="40000"/>
            </a:schemeClr>
          </a:solidFill>
        </p:spPr>
        <p:txBody>
          <a:bodyPr wrap="none" rtlCol="0">
            <a:spAutoFit/>
          </a:bodyPr>
          <a:lstStyle/>
          <a:p>
            <a:pPr algn="r"/>
            <a:r>
              <a:rPr lang="id-ID" sz="2400" b="1" dirty="0">
                <a:solidFill>
                  <a:srgbClr val="002060"/>
                </a:solidFill>
                <a:latin typeface="Arial" panose="020B0604020202020204" pitchFamily="34" charset="0"/>
                <a:ea typeface="Lato" panose="020F0502020204030203" pitchFamily="34" charset="0"/>
                <a:cs typeface="Arial" panose="020B0604020202020204" pitchFamily="34" charset="0"/>
              </a:rPr>
              <a:t>0</a:t>
            </a:r>
            <a:r>
              <a:rPr lang="es-EC" sz="2400" b="1" dirty="0">
                <a:solidFill>
                  <a:srgbClr val="002060"/>
                </a:solidFill>
                <a:latin typeface="Arial" panose="020B0604020202020204" pitchFamily="34" charset="0"/>
                <a:ea typeface="Lato" panose="020F0502020204030203" pitchFamily="34" charset="0"/>
                <a:cs typeface="Arial" panose="020B0604020202020204" pitchFamily="34" charset="0"/>
              </a:rPr>
              <a:t>9</a:t>
            </a:r>
            <a:endParaRPr lang="id-ID" sz="2400" b="1" dirty="0">
              <a:solidFill>
                <a:srgbClr val="002060"/>
              </a:solidFill>
              <a:latin typeface="Arial" panose="020B0604020202020204" pitchFamily="34" charset="0"/>
              <a:ea typeface="Lato" panose="020F0502020204030203" pitchFamily="34" charset="0"/>
              <a:cs typeface="Arial" panose="020B0604020202020204" pitchFamily="34" charset="0"/>
            </a:endParaRPr>
          </a:p>
        </p:txBody>
      </p:sp>
      <p:sp>
        <p:nvSpPr>
          <p:cNvPr id="35" name="Text Box 6">
            <a:extLst>
              <a:ext uri="{FF2B5EF4-FFF2-40B4-BE49-F238E27FC236}">
                <a16:creationId xmlns:a16="http://schemas.microsoft.com/office/drawing/2014/main" id="{8F4557BE-9897-4C67-BD5B-F4D29862C4E6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294388" y="4610670"/>
            <a:ext cx="1499128" cy="40011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 algn="ctr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es-PE" sz="2000" dirty="0" err="1">
                <a:latin typeface="Avenir Book" panose="02000503020000020003" pitchFamily="2" charset="0"/>
                <a:cs typeface="Arial" panose="020B0604020202020204" pitchFamily="34" charset="0"/>
              </a:rPr>
              <a:t>Metodología</a:t>
            </a:r>
            <a:endParaRPr lang="en-US" altLang="es-PE" sz="2000" dirty="0">
              <a:latin typeface="Avenir Book" panose="02000503020000020003" pitchFamily="2" charset="0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533842148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" name="Google Shape;329;p4">
            <a:extLst>
              <a:ext uri="{FF2B5EF4-FFF2-40B4-BE49-F238E27FC236}">
                <a16:creationId xmlns:a16="http://schemas.microsoft.com/office/drawing/2014/main" id="{BB696887-E99C-40A5-BB27-D50702F4529E}"/>
              </a:ext>
            </a:extLst>
          </p:cNvPr>
          <p:cNvSpPr/>
          <p:nvPr/>
        </p:nvSpPr>
        <p:spPr>
          <a:xfrm rot="-5400000" flipH="1">
            <a:off x="8940327" y="764456"/>
            <a:ext cx="1073903" cy="4022968"/>
          </a:xfrm>
          <a:prstGeom prst="roundRect">
            <a:avLst>
              <a:gd name="adj" fmla="val 50000"/>
            </a:avLst>
          </a:prstGeom>
          <a:solidFill>
            <a:schemeClr val="accent4">
              <a:lumMod val="60000"/>
              <a:lumOff val="40000"/>
            </a:schemeClr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Calibri"/>
              <a:buNone/>
            </a:pPr>
            <a:endParaRPr sz="2400" b="0" i="0" u="none" strike="noStrike" cap="none">
              <a:solidFill>
                <a:schemeClr val="accent1">
                  <a:lumMod val="50000"/>
                </a:schemeClr>
              </a:solidFill>
              <a:latin typeface="Avenir Book" panose="02000503020000020003" pitchFamily="2" charset="0"/>
              <a:ea typeface="Arial"/>
              <a:cs typeface="Arial"/>
              <a:sym typeface="Arial"/>
            </a:endParaRPr>
          </a:p>
        </p:txBody>
      </p:sp>
      <p:sp>
        <p:nvSpPr>
          <p:cNvPr id="44" name="Google Shape;330;p4">
            <a:extLst>
              <a:ext uri="{FF2B5EF4-FFF2-40B4-BE49-F238E27FC236}">
                <a16:creationId xmlns:a16="http://schemas.microsoft.com/office/drawing/2014/main" id="{DDDAE143-5F4C-6554-5288-D29924C20CC9}"/>
              </a:ext>
            </a:extLst>
          </p:cNvPr>
          <p:cNvSpPr/>
          <p:nvPr/>
        </p:nvSpPr>
        <p:spPr>
          <a:xfrm flipH="1">
            <a:off x="7308000" y="2508591"/>
            <a:ext cx="563511" cy="563511"/>
          </a:xfrm>
          <a:prstGeom prst="ellipse">
            <a:avLst/>
          </a:prstGeom>
          <a:solidFill>
            <a:schemeClr val="lt1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Calibri"/>
              <a:buNone/>
            </a:pPr>
            <a:endParaRPr sz="2400" b="0" i="0" u="none" strike="noStrike" cap="none">
              <a:solidFill>
                <a:srgbClr val="FFFFFF"/>
              </a:solidFill>
              <a:latin typeface="Avenir Book" panose="02000503020000020003" pitchFamily="2" charset="0"/>
              <a:ea typeface="Arial"/>
              <a:cs typeface="Arial"/>
              <a:sym typeface="Arial"/>
            </a:endParaRPr>
          </a:p>
        </p:txBody>
      </p:sp>
      <p:sp>
        <p:nvSpPr>
          <p:cNvPr id="45" name="Google Shape;331;p4">
            <a:extLst>
              <a:ext uri="{FF2B5EF4-FFF2-40B4-BE49-F238E27FC236}">
                <a16:creationId xmlns:a16="http://schemas.microsoft.com/office/drawing/2014/main" id="{4BB40307-7AB1-0339-9632-7621EED1AC27}"/>
              </a:ext>
            </a:extLst>
          </p:cNvPr>
          <p:cNvSpPr txBox="1"/>
          <p:nvPr/>
        </p:nvSpPr>
        <p:spPr>
          <a:xfrm flipH="1">
            <a:off x="7208345" y="2505417"/>
            <a:ext cx="650613" cy="50276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70C0"/>
              </a:buClr>
              <a:buSzPts val="2667"/>
              <a:buFont typeface="Arial"/>
              <a:buNone/>
            </a:pPr>
            <a:r>
              <a:rPr lang="es-PE" sz="2667" b="1" i="0" u="none" strike="noStrike" cap="none">
                <a:solidFill>
                  <a:srgbClr val="0070C0"/>
                </a:solidFill>
                <a:latin typeface="Avenir Book" panose="02000503020000020003" pitchFamily="2" charset="0"/>
                <a:ea typeface="Arial"/>
                <a:cs typeface="Arial"/>
                <a:sym typeface="Arial"/>
              </a:rPr>
              <a:t>02</a:t>
            </a:r>
            <a:endParaRPr sz="2667" b="1" i="0" u="none" strike="noStrike" cap="none">
              <a:solidFill>
                <a:srgbClr val="0070C0"/>
              </a:solidFill>
              <a:latin typeface="Avenir Book" panose="02000503020000020003" pitchFamily="2" charset="0"/>
              <a:ea typeface="Arial"/>
              <a:cs typeface="Arial"/>
              <a:sym typeface="Arial"/>
            </a:endParaRPr>
          </a:p>
        </p:txBody>
      </p:sp>
      <p:sp>
        <p:nvSpPr>
          <p:cNvPr id="46" name="Google Shape;332;p4">
            <a:extLst>
              <a:ext uri="{FF2B5EF4-FFF2-40B4-BE49-F238E27FC236}">
                <a16:creationId xmlns:a16="http://schemas.microsoft.com/office/drawing/2014/main" id="{C395276E-ADB6-D6B4-933F-35F13CF7110B}"/>
              </a:ext>
            </a:extLst>
          </p:cNvPr>
          <p:cNvSpPr/>
          <p:nvPr/>
        </p:nvSpPr>
        <p:spPr>
          <a:xfrm rot="-5400000" flipH="1">
            <a:off x="8922627" y="2054016"/>
            <a:ext cx="1073903" cy="4022968"/>
          </a:xfrm>
          <a:prstGeom prst="roundRect">
            <a:avLst>
              <a:gd name="adj" fmla="val 50000"/>
            </a:avLst>
          </a:prstGeom>
          <a:solidFill>
            <a:srgbClr val="0070C0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Calibri"/>
              <a:buNone/>
            </a:pPr>
            <a:endParaRPr sz="2400" b="0" i="0" u="none" strike="noStrike" cap="none">
              <a:solidFill>
                <a:srgbClr val="FFFFFF"/>
              </a:solidFill>
              <a:latin typeface="Avenir Book" panose="02000503020000020003" pitchFamily="2" charset="0"/>
              <a:ea typeface="Arial"/>
              <a:cs typeface="Arial"/>
              <a:sym typeface="Arial"/>
            </a:endParaRPr>
          </a:p>
        </p:txBody>
      </p:sp>
      <p:sp>
        <p:nvSpPr>
          <p:cNvPr id="47" name="Google Shape;333;p4">
            <a:extLst>
              <a:ext uri="{FF2B5EF4-FFF2-40B4-BE49-F238E27FC236}">
                <a16:creationId xmlns:a16="http://schemas.microsoft.com/office/drawing/2014/main" id="{2B4CB9AD-3F64-E870-C913-6B947D4606C8}"/>
              </a:ext>
            </a:extLst>
          </p:cNvPr>
          <p:cNvSpPr/>
          <p:nvPr/>
        </p:nvSpPr>
        <p:spPr>
          <a:xfrm flipH="1">
            <a:off x="7290300" y="3798151"/>
            <a:ext cx="563511" cy="563511"/>
          </a:xfrm>
          <a:prstGeom prst="ellipse">
            <a:avLst/>
          </a:prstGeom>
          <a:solidFill>
            <a:schemeClr val="lt1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Calibri"/>
              <a:buNone/>
            </a:pPr>
            <a:endParaRPr sz="2400" b="0" i="0" u="none" strike="noStrike" cap="none">
              <a:solidFill>
                <a:srgbClr val="FFFFFF"/>
              </a:solidFill>
              <a:latin typeface="Avenir Book" panose="02000503020000020003" pitchFamily="2" charset="0"/>
              <a:ea typeface="Arial"/>
              <a:cs typeface="Arial"/>
              <a:sym typeface="Arial"/>
            </a:endParaRPr>
          </a:p>
        </p:txBody>
      </p:sp>
      <p:sp>
        <p:nvSpPr>
          <p:cNvPr id="48" name="Google Shape;334;p4">
            <a:extLst>
              <a:ext uri="{FF2B5EF4-FFF2-40B4-BE49-F238E27FC236}">
                <a16:creationId xmlns:a16="http://schemas.microsoft.com/office/drawing/2014/main" id="{F592E01B-A87C-0CC3-D759-AF8EE32E2F0D}"/>
              </a:ext>
            </a:extLst>
          </p:cNvPr>
          <p:cNvSpPr txBox="1"/>
          <p:nvPr/>
        </p:nvSpPr>
        <p:spPr>
          <a:xfrm flipH="1">
            <a:off x="7190645" y="3822687"/>
            <a:ext cx="650613" cy="50276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2060"/>
              </a:buClr>
              <a:buSzPts val="2667"/>
              <a:buFont typeface="Arial"/>
              <a:buNone/>
            </a:pPr>
            <a:r>
              <a:rPr lang="es-PE" sz="2667" b="1" i="0" u="none" strike="noStrike" cap="none">
                <a:solidFill>
                  <a:srgbClr val="002060"/>
                </a:solidFill>
                <a:latin typeface="Avenir Book" panose="02000503020000020003" pitchFamily="2" charset="0"/>
                <a:ea typeface="Arial"/>
                <a:cs typeface="Arial"/>
                <a:sym typeface="Arial"/>
              </a:rPr>
              <a:t>03</a:t>
            </a:r>
            <a:endParaRPr sz="2667" b="1" i="0" u="none" strike="noStrike" cap="none">
              <a:solidFill>
                <a:srgbClr val="002060"/>
              </a:solidFill>
              <a:latin typeface="Avenir Book" panose="02000503020000020003" pitchFamily="2" charset="0"/>
              <a:ea typeface="Arial"/>
              <a:cs typeface="Arial"/>
              <a:sym typeface="Arial"/>
            </a:endParaRPr>
          </a:p>
        </p:txBody>
      </p:sp>
      <p:sp>
        <p:nvSpPr>
          <p:cNvPr id="49" name="Google Shape;335;p4">
            <a:extLst>
              <a:ext uri="{FF2B5EF4-FFF2-40B4-BE49-F238E27FC236}">
                <a16:creationId xmlns:a16="http://schemas.microsoft.com/office/drawing/2014/main" id="{C61097C3-EBF9-02E1-D714-A8E2A8C5D4E0}"/>
              </a:ext>
            </a:extLst>
          </p:cNvPr>
          <p:cNvSpPr/>
          <p:nvPr/>
        </p:nvSpPr>
        <p:spPr>
          <a:xfrm rot="-5400000" flipH="1">
            <a:off x="8940327" y="3379890"/>
            <a:ext cx="1073903" cy="4022968"/>
          </a:xfrm>
          <a:prstGeom prst="roundRect">
            <a:avLst>
              <a:gd name="adj" fmla="val 50000"/>
            </a:avLst>
          </a:prstGeom>
          <a:solidFill>
            <a:schemeClr val="accent4">
              <a:lumMod val="60000"/>
              <a:lumOff val="40000"/>
            </a:schemeClr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Calibri"/>
              <a:buNone/>
            </a:pPr>
            <a:endParaRPr sz="2400" b="0" i="0" u="none" strike="noStrike" cap="none">
              <a:solidFill>
                <a:srgbClr val="FFFFFF"/>
              </a:solidFill>
              <a:latin typeface="Avenir Book" panose="02000503020000020003" pitchFamily="2" charset="0"/>
              <a:ea typeface="Arial"/>
              <a:cs typeface="Arial"/>
              <a:sym typeface="Arial"/>
            </a:endParaRPr>
          </a:p>
        </p:txBody>
      </p:sp>
      <p:sp>
        <p:nvSpPr>
          <p:cNvPr id="50" name="Google Shape;336;p4">
            <a:extLst>
              <a:ext uri="{FF2B5EF4-FFF2-40B4-BE49-F238E27FC236}">
                <a16:creationId xmlns:a16="http://schemas.microsoft.com/office/drawing/2014/main" id="{A25B02A4-BBC6-083F-4D5B-4D310C048995}"/>
              </a:ext>
            </a:extLst>
          </p:cNvPr>
          <p:cNvSpPr/>
          <p:nvPr/>
        </p:nvSpPr>
        <p:spPr>
          <a:xfrm flipH="1">
            <a:off x="7308000" y="5124025"/>
            <a:ext cx="563511" cy="563511"/>
          </a:xfrm>
          <a:prstGeom prst="ellipse">
            <a:avLst/>
          </a:prstGeom>
          <a:solidFill>
            <a:schemeClr val="lt1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Calibri"/>
              <a:buNone/>
            </a:pPr>
            <a:endParaRPr sz="2400" b="0" i="0" u="none" strike="noStrike" cap="none">
              <a:solidFill>
                <a:srgbClr val="FFFFFF"/>
              </a:solidFill>
              <a:latin typeface="Avenir Book" panose="02000503020000020003" pitchFamily="2" charset="0"/>
              <a:ea typeface="Arial"/>
              <a:cs typeface="Arial"/>
              <a:sym typeface="Arial"/>
            </a:endParaRPr>
          </a:p>
        </p:txBody>
      </p:sp>
      <p:sp>
        <p:nvSpPr>
          <p:cNvPr id="51" name="Google Shape;337;p4">
            <a:extLst>
              <a:ext uri="{FF2B5EF4-FFF2-40B4-BE49-F238E27FC236}">
                <a16:creationId xmlns:a16="http://schemas.microsoft.com/office/drawing/2014/main" id="{F130C8EB-26EA-A603-8E92-51262C486564}"/>
              </a:ext>
            </a:extLst>
          </p:cNvPr>
          <p:cNvSpPr txBox="1"/>
          <p:nvPr/>
        </p:nvSpPr>
        <p:spPr>
          <a:xfrm flipH="1">
            <a:off x="7208345" y="5134706"/>
            <a:ext cx="650613" cy="50276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70C0"/>
              </a:buClr>
              <a:buSzPts val="2667"/>
              <a:buFont typeface="Arial"/>
              <a:buNone/>
            </a:pPr>
            <a:r>
              <a:rPr lang="es-PE" sz="2667" b="1" i="0" u="none" strike="noStrike" cap="none">
                <a:solidFill>
                  <a:srgbClr val="0070C0"/>
                </a:solidFill>
                <a:latin typeface="Avenir Book" panose="02000503020000020003" pitchFamily="2" charset="0"/>
                <a:ea typeface="Arial"/>
                <a:cs typeface="Arial"/>
                <a:sym typeface="Arial"/>
              </a:rPr>
              <a:t>04</a:t>
            </a:r>
            <a:endParaRPr sz="2667" b="1" i="0" u="none" strike="noStrike" cap="none">
              <a:solidFill>
                <a:srgbClr val="0070C0"/>
              </a:solidFill>
              <a:latin typeface="Avenir Book" panose="02000503020000020003" pitchFamily="2" charset="0"/>
              <a:ea typeface="Arial"/>
              <a:cs typeface="Arial"/>
              <a:sym typeface="Arial"/>
            </a:endParaRPr>
          </a:p>
        </p:txBody>
      </p:sp>
      <p:sp>
        <p:nvSpPr>
          <p:cNvPr id="52" name="Google Shape;338;p4">
            <a:extLst>
              <a:ext uri="{FF2B5EF4-FFF2-40B4-BE49-F238E27FC236}">
                <a16:creationId xmlns:a16="http://schemas.microsoft.com/office/drawing/2014/main" id="{38E48FF9-3454-1314-8582-F47A835436C9}"/>
              </a:ext>
            </a:extLst>
          </p:cNvPr>
          <p:cNvSpPr txBox="1"/>
          <p:nvPr/>
        </p:nvSpPr>
        <p:spPr>
          <a:xfrm flipH="1">
            <a:off x="7871511" y="2423099"/>
            <a:ext cx="3364650" cy="73862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lvl="0" algn="just"/>
            <a:r>
              <a:rPr lang="es-MX" sz="1400" dirty="0">
                <a:latin typeface="Avenir Book" panose="02000503020000020003" pitchFamily="2" charset="0"/>
                <a:ea typeface="Arial"/>
                <a:cs typeface="Arial"/>
                <a:sym typeface="Arial"/>
              </a:rPr>
              <a:t>Diseñar una red de sensores IoT de bajo costo para medir parámetros</a:t>
            </a:r>
          </a:p>
          <a:p>
            <a:pPr lvl="0" algn="just"/>
            <a:r>
              <a:rPr lang="es-MX" sz="1400" dirty="0">
                <a:latin typeface="Avenir Book" panose="02000503020000020003" pitchFamily="2" charset="0"/>
                <a:ea typeface="Arial"/>
                <a:cs typeface="Arial"/>
                <a:sym typeface="Arial"/>
              </a:rPr>
              <a:t>ambientales relevantes.</a:t>
            </a:r>
            <a:r>
              <a:rPr lang="es-PE" sz="1400" dirty="0">
                <a:latin typeface="Avenir Book" panose="02000503020000020003" pitchFamily="2" charset="0"/>
                <a:ea typeface="Arial"/>
                <a:cs typeface="Arial"/>
                <a:sym typeface="Arial"/>
              </a:rPr>
              <a:t> </a:t>
            </a:r>
            <a:endParaRPr dirty="0">
              <a:latin typeface="Avenir Book" panose="02000503020000020003" pitchFamily="2" charset="0"/>
            </a:endParaRPr>
          </a:p>
        </p:txBody>
      </p:sp>
      <p:sp>
        <p:nvSpPr>
          <p:cNvPr id="53" name="Google Shape;339;p4">
            <a:extLst>
              <a:ext uri="{FF2B5EF4-FFF2-40B4-BE49-F238E27FC236}">
                <a16:creationId xmlns:a16="http://schemas.microsoft.com/office/drawing/2014/main" id="{856BDC22-AFE5-FD2E-0662-E7224300E86E}"/>
              </a:ext>
            </a:extLst>
          </p:cNvPr>
          <p:cNvSpPr txBox="1"/>
          <p:nvPr/>
        </p:nvSpPr>
        <p:spPr>
          <a:xfrm flipH="1">
            <a:off x="7940913" y="3684187"/>
            <a:ext cx="3364650" cy="73862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lvl="0" algn="just"/>
            <a:r>
              <a:rPr lang="es-MX" sz="1400" dirty="0">
                <a:solidFill>
                  <a:schemeClr val="lt1"/>
                </a:solidFill>
                <a:latin typeface="Avenir Book" panose="02000503020000020003" pitchFamily="2" charset="0"/>
                <a:ea typeface="Arial"/>
                <a:cs typeface="Arial"/>
                <a:sym typeface="Arial"/>
              </a:rPr>
              <a:t>Desarrollar una plataforma web para la visualización en tiempo real de los</a:t>
            </a:r>
          </a:p>
          <a:p>
            <a:pPr lvl="0" algn="just"/>
            <a:r>
              <a:rPr lang="es-MX" sz="1400" dirty="0">
                <a:solidFill>
                  <a:schemeClr val="lt1"/>
                </a:solidFill>
                <a:latin typeface="Avenir Book" panose="02000503020000020003" pitchFamily="2" charset="0"/>
                <a:ea typeface="Arial"/>
                <a:cs typeface="Arial"/>
                <a:sym typeface="Arial"/>
              </a:rPr>
              <a:t>datos recolectados.</a:t>
            </a:r>
            <a:endParaRPr dirty="0">
              <a:latin typeface="Avenir Book" panose="02000503020000020003" pitchFamily="2" charset="0"/>
            </a:endParaRPr>
          </a:p>
        </p:txBody>
      </p:sp>
      <p:sp>
        <p:nvSpPr>
          <p:cNvPr id="54" name="Google Shape;340;p4">
            <a:extLst>
              <a:ext uri="{FF2B5EF4-FFF2-40B4-BE49-F238E27FC236}">
                <a16:creationId xmlns:a16="http://schemas.microsoft.com/office/drawing/2014/main" id="{07389350-C975-52BF-CDAF-1B2BAE5B428F}"/>
              </a:ext>
            </a:extLst>
          </p:cNvPr>
          <p:cNvSpPr txBox="1"/>
          <p:nvPr/>
        </p:nvSpPr>
        <p:spPr>
          <a:xfrm flipH="1">
            <a:off x="7936628" y="4935816"/>
            <a:ext cx="3364650" cy="95406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lvl="0" algn="just"/>
            <a:r>
              <a:rPr lang="es-MX" sz="1400" dirty="0">
                <a:latin typeface="Avenir Book" panose="02000503020000020003" pitchFamily="2" charset="0"/>
                <a:ea typeface="Arial"/>
                <a:cs typeface="Arial"/>
                <a:sym typeface="Arial"/>
              </a:rPr>
              <a:t>Integrar un módulo de alertas y recomendaciones automáticas basadas en los</a:t>
            </a:r>
          </a:p>
          <a:p>
            <a:pPr lvl="0" algn="just"/>
            <a:r>
              <a:rPr lang="es-MX" sz="1400" dirty="0">
                <a:latin typeface="Avenir Book" panose="02000503020000020003" pitchFamily="2" charset="0"/>
                <a:ea typeface="Arial"/>
                <a:cs typeface="Arial"/>
                <a:sym typeface="Arial"/>
              </a:rPr>
              <a:t>niveles detectados.</a:t>
            </a:r>
            <a:r>
              <a:rPr lang="es-PE" sz="1400" dirty="0">
                <a:latin typeface="Avenir Book" panose="02000503020000020003" pitchFamily="2" charset="0"/>
                <a:ea typeface="Arial"/>
                <a:cs typeface="Arial"/>
                <a:sym typeface="Arial"/>
              </a:rPr>
              <a:t> </a:t>
            </a:r>
            <a:endParaRPr dirty="0">
              <a:latin typeface="Avenir Book" panose="02000503020000020003" pitchFamily="2" charset="0"/>
            </a:endParaRPr>
          </a:p>
        </p:txBody>
      </p:sp>
      <p:sp>
        <p:nvSpPr>
          <p:cNvPr id="56" name="Google Shape;342;p4">
            <a:extLst>
              <a:ext uri="{FF2B5EF4-FFF2-40B4-BE49-F238E27FC236}">
                <a16:creationId xmlns:a16="http://schemas.microsoft.com/office/drawing/2014/main" id="{C5651397-06CD-9FC8-2FE3-799AFAB98098}"/>
              </a:ext>
            </a:extLst>
          </p:cNvPr>
          <p:cNvSpPr txBox="1"/>
          <p:nvPr/>
        </p:nvSpPr>
        <p:spPr>
          <a:xfrm flipH="1">
            <a:off x="7515951" y="339568"/>
            <a:ext cx="3797544" cy="40011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PE" sz="2000" b="1" dirty="0">
                <a:latin typeface="Avenir Book" panose="02000503020000020003" pitchFamily="2" charset="0"/>
                <a:ea typeface="Arial"/>
                <a:cs typeface="Arial"/>
                <a:sym typeface="Arial"/>
              </a:rPr>
              <a:t>Objetivos específicos</a:t>
            </a:r>
            <a:endParaRPr sz="2000" b="1" dirty="0">
              <a:latin typeface="Avenir Book" panose="02000503020000020003" pitchFamily="2" charset="0"/>
              <a:ea typeface="Arial"/>
              <a:cs typeface="Arial"/>
              <a:sym typeface="Arial"/>
            </a:endParaRPr>
          </a:p>
        </p:txBody>
      </p:sp>
      <p:sp>
        <p:nvSpPr>
          <p:cNvPr id="57" name="Google Shape;343;p4">
            <a:extLst>
              <a:ext uri="{FF2B5EF4-FFF2-40B4-BE49-F238E27FC236}">
                <a16:creationId xmlns:a16="http://schemas.microsoft.com/office/drawing/2014/main" id="{DEDDFC9A-9D43-BAC4-CBD3-39AFF12EF782}"/>
              </a:ext>
            </a:extLst>
          </p:cNvPr>
          <p:cNvSpPr/>
          <p:nvPr/>
        </p:nvSpPr>
        <p:spPr>
          <a:xfrm rot="-5400000" flipH="1">
            <a:off x="8922627" y="-539925"/>
            <a:ext cx="1073903" cy="4022968"/>
          </a:xfrm>
          <a:prstGeom prst="roundRect">
            <a:avLst>
              <a:gd name="adj" fmla="val 50000"/>
            </a:avLst>
          </a:prstGeom>
          <a:solidFill>
            <a:srgbClr val="0070C0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Calibri"/>
              <a:buNone/>
            </a:pPr>
            <a:endParaRPr sz="2400" b="0" i="0" u="none" strike="noStrike" cap="none">
              <a:solidFill>
                <a:srgbClr val="FFFFFF"/>
              </a:solidFill>
              <a:latin typeface="Avenir Book" panose="02000503020000020003" pitchFamily="2" charset="0"/>
              <a:ea typeface="Arial"/>
              <a:cs typeface="Arial"/>
              <a:sym typeface="Arial"/>
            </a:endParaRPr>
          </a:p>
        </p:txBody>
      </p:sp>
      <p:sp>
        <p:nvSpPr>
          <p:cNvPr id="58" name="Google Shape;344;p4">
            <a:extLst>
              <a:ext uri="{FF2B5EF4-FFF2-40B4-BE49-F238E27FC236}">
                <a16:creationId xmlns:a16="http://schemas.microsoft.com/office/drawing/2014/main" id="{C8145CD4-EACC-9030-C898-44C2736246A5}"/>
              </a:ext>
            </a:extLst>
          </p:cNvPr>
          <p:cNvSpPr/>
          <p:nvPr/>
        </p:nvSpPr>
        <p:spPr>
          <a:xfrm flipH="1">
            <a:off x="7290300" y="1204210"/>
            <a:ext cx="563511" cy="563511"/>
          </a:xfrm>
          <a:prstGeom prst="ellipse">
            <a:avLst/>
          </a:prstGeom>
          <a:solidFill>
            <a:schemeClr val="lt1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Calibri"/>
              <a:buNone/>
            </a:pPr>
            <a:endParaRPr sz="2400" b="0" i="0" u="none" strike="noStrike" cap="none">
              <a:solidFill>
                <a:srgbClr val="FFFFFF"/>
              </a:solidFill>
              <a:latin typeface="Avenir Book" panose="02000503020000020003" pitchFamily="2" charset="0"/>
              <a:ea typeface="Arial"/>
              <a:cs typeface="Arial"/>
              <a:sym typeface="Arial"/>
            </a:endParaRPr>
          </a:p>
        </p:txBody>
      </p:sp>
      <p:sp>
        <p:nvSpPr>
          <p:cNvPr id="59" name="Google Shape;345;p4">
            <a:extLst>
              <a:ext uri="{FF2B5EF4-FFF2-40B4-BE49-F238E27FC236}">
                <a16:creationId xmlns:a16="http://schemas.microsoft.com/office/drawing/2014/main" id="{33E0EC40-8C50-F15A-CB0C-D55CAADF9C23}"/>
              </a:ext>
            </a:extLst>
          </p:cNvPr>
          <p:cNvSpPr txBox="1"/>
          <p:nvPr/>
        </p:nvSpPr>
        <p:spPr>
          <a:xfrm flipH="1">
            <a:off x="7190645" y="1214891"/>
            <a:ext cx="650613" cy="50276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2060"/>
              </a:buClr>
              <a:buSzPts val="2667"/>
              <a:buFont typeface="Arial"/>
              <a:buNone/>
            </a:pPr>
            <a:r>
              <a:rPr lang="es-PE" sz="2667" b="1" i="0" u="none" strike="noStrike" cap="none">
                <a:solidFill>
                  <a:srgbClr val="002060"/>
                </a:solidFill>
                <a:latin typeface="Avenir Book" panose="02000503020000020003" pitchFamily="2" charset="0"/>
                <a:ea typeface="Arial"/>
                <a:cs typeface="Arial"/>
                <a:sym typeface="Arial"/>
              </a:rPr>
              <a:t>01</a:t>
            </a:r>
            <a:endParaRPr sz="2667" b="1" i="0" u="none" strike="noStrike" cap="none">
              <a:solidFill>
                <a:srgbClr val="002060"/>
              </a:solidFill>
              <a:latin typeface="Avenir Book" panose="02000503020000020003" pitchFamily="2" charset="0"/>
              <a:ea typeface="Arial"/>
              <a:cs typeface="Arial"/>
              <a:sym typeface="Arial"/>
            </a:endParaRPr>
          </a:p>
        </p:txBody>
      </p:sp>
      <p:sp>
        <p:nvSpPr>
          <p:cNvPr id="60" name="Google Shape;346;p4">
            <a:extLst>
              <a:ext uri="{FF2B5EF4-FFF2-40B4-BE49-F238E27FC236}">
                <a16:creationId xmlns:a16="http://schemas.microsoft.com/office/drawing/2014/main" id="{EB94C72F-C437-293F-9C0D-9A51D85ED67F}"/>
              </a:ext>
            </a:extLst>
          </p:cNvPr>
          <p:cNvSpPr txBox="1"/>
          <p:nvPr/>
        </p:nvSpPr>
        <p:spPr>
          <a:xfrm flipH="1">
            <a:off x="7880779" y="968117"/>
            <a:ext cx="3364650" cy="107717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lvl="0" algn="just"/>
            <a:r>
              <a:rPr lang="es-MX" sz="1600" dirty="0">
                <a:solidFill>
                  <a:schemeClr val="bg1"/>
                </a:solidFill>
                <a:latin typeface="Avenir Book" panose="02000503020000020003" pitchFamily="2" charset="0"/>
              </a:rPr>
              <a:t>Analizar los niveles actuales de contaminación del Aire y los puntos críticos</a:t>
            </a:r>
          </a:p>
          <a:p>
            <a:pPr lvl="0" algn="just"/>
            <a:r>
              <a:rPr lang="es-MX" sz="1600" dirty="0">
                <a:solidFill>
                  <a:schemeClr val="bg1"/>
                </a:solidFill>
                <a:latin typeface="Avenir Book" panose="02000503020000020003" pitchFamily="2" charset="0"/>
              </a:rPr>
              <a:t>de la ciudad de Quito.</a:t>
            </a:r>
            <a:endParaRPr sz="1600" dirty="0">
              <a:solidFill>
                <a:schemeClr val="bg1"/>
              </a:solidFill>
              <a:latin typeface="Avenir Book" panose="02000503020000020003" pitchFamily="2" charset="0"/>
            </a:endParaRPr>
          </a:p>
        </p:txBody>
      </p:sp>
      <p:sp>
        <p:nvSpPr>
          <p:cNvPr id="61" name="Google Shape;347;p4">
            <a:extLst>
              <a:ext uri="{FF2B5EF4-FFF2-40B4-BE49-F238E27FC236}">
                <a16:creationId xmlns:a16="http://schemas.microsoft.com/office/drawing/2014/main" id="{083C6B8A-BD9A-B1E3-42F5-5FCD80F7C628}"/>
              </a:ext>
            </a:extLst>
          </p:cNvPr>
          <p:cNvSpPr/>
          <p:nvPr/>
        </p:nvSpPr>
        <p:spPr>
          <a:xfrm>
            <a:off x="0" y="1433020"/>
            <a:ext cx="1576552" cy="66507"/>
          </a:xfrm>
          <a:prstGeom prst="roundRect">
            <a:avLst>
              <a:gd name="adj" fmla="val 50000"/>
            </a:avLst>
          </a:prstGeom>
          <a:solidFill>
            <a:srgbClr val="FFC000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lt1"/>
              </a:solidFill>
              <a:latin typeface="Avenir Book" panose="02000503020000020003" pitchFamily="2" charset="0"/>
              <a:ea typeface="Calibri"/>
              <a:cs typeface="Calibri"/>
              <a:sym typeface="Calibri"/>
            </a:endParaRPr>
          </a:p>
        </p:txBody>
      </p:sp>
      <p:sp>
        <p:nvSpPr>
          <p:cNvPr id="62" name="Google Shape;348;p4">
            <a:extLst>
              <a:ext uri="{FF2B5EF4-FFF2-40B4-BE49-F238E27FC236}">
                <a16:creationId xmlns:a16="http://schemas.microsoft.com/office/drawing/2014/main" id="{63FD124D-D198-8DFC-10FC-825118CAD26C}"/>
              </a:ext>
            </a:extLst>
          </p:cNvPr>
          <p:cNvSpPr txBox="1"/>
          <p:nvPr/>
        </p:nvSpPr>
        <p:spPr>
          <a:xfrm>
            <a:off x="720937" y="529226"/>
            <a:ext cx="3924635" cy="62140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2060"/>
              </a:buClr>
              <a:buSzPts val="3600"/>
              <a:buFont typeface="Arial"/>
              <a:buNone/>
            </a:pPr>
            <a:r>
              <a:rPr lang="es-PE" sz="3600" b="1" dirty="0">
                <a:latin typeface="Avenir Book" panose="02000503020000020003" pitchFamily="2" charset="0"/>
                <a:ea typeface="Arial"/>
                <a:cs typeface="Arial"/>
                <a:sym typeface="Arial"/>
              </a:rPr>
              <a:t>Objetivo del TIC</a:t>
            </a:r>
            <a:endParaRPr sz="3600" b="1" dirty="0">
              <a:latin typeface="Avenir Book" panose="02000503020000020003" pitchFamily="2" charset="0"/>
              <a:ea typeface="Arial"/>
              <a:cs typeface="Arial"/>
              <a:sym typeface="Arial"/>
            </a:endParaRPr>
          </a:p>
        </p:txBody>
      </p:sp>
      <p:grpSp>
        <p:nvGrpSpPr>
          <p:cNvPr id="63" name="Google Shape;349;p4">
            <a:extLst>
              <a:ext uri="{FF2B5EF4-FFF2-40B4-BE49-F238E27FC236}">
                <a16:creationId xmlns:a16="http://schemas.microsoft.com/office/drawing/2014/main" id="{A877163F-BEAE-0390-9D47-808577B84E86}"/>
              </a:ext>
            </a:extLst>
          </p:cNvPr>
          <p:cNvGrpSpPr/>
          <p:nvPr/>
        </p:nvGrpSpPr>
        <p:grpSpPr>
          <a:xfrm>
            <a:off x="4747248" y="2612909"/>
            <a:ext cx="1632181" cy="1632181"/>
            <a:chOff x="4448748" y="3060629"/>
            <a:chExt cx="1632181" cy="1632181"/>
          </a:xfrm>
        </p:grpSpPr>
        <p:sp>
          <p:nvSpPr>
            <p:cNvPr id="64" name="Google Shape;350;p4">
              <a:extLst>
                <a:ext uri="{FF2B5EF4-FFF2-40B4-BE49-F238E27FC236}">
                  <a16:creationId xmlns:a16="http://schemas.microsoft.com/office/drawing/2014/main" id="{1522517D-14D1-C6D6-7E76-84B9EC2CAE4D}"/>
                </a:ext>
              </a:extLst>
            </p:cNvPr>
            <p:cNvSpPr/>
            <p:nvPr/>
          </p:nvSpPr>
          <p:spPr>
            <a:xfrm flipH="1">
              <a:off x="4448748" y="3060629"/>
              <a:ext cx="1632181" cy="1632181"/>
            </a:xfrm>
            <a:prstGeom prst="ellipse">
              <a:avLst/>
            </a:prstGeom>
            <a:solidFill>
              <a:srgbClr val="002060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lt1"/>
                </a:buClr>
                <a:buSzPts val="2400"/>
                <a:buFont typeface="Calibri"/>
                <a:buNone/>
              </a:pPr>
              <a:endParaRPr sz="2400" b="0" i="0" u="none" strike="noStrike" cap="none">
                <a:solidFill>
                  <a:srgbClr val="FFFFFF"/>
                </a:solidFill>
                <a:latin typeface="Avenir Book" panose="02000503020000020003" pitchFamily="2" charset="0"/>
                <a:ea typeface="Arial"/>
                <a:cs typeface="Arial"/>
                <a:sym typeface="Arial"/>
              </a:endParaRPr>
            </a:p>
          </p:txBody>
        </p:sp>
        <p:grpSp>
          <p:nvGrpSpPr>
            <p:cNvPr id="65" name="Google Shape;351;p4">
              <a:extLst>
                <a:ext uri="{FF2B5EF4-FFF2-40B4-BE49-F238E27FC236}">
                  <a16:creationId xmlns:a16="http://schemas.microsoft.com/office/drawing/2014/main" id="{948BC713-79D6-B988-6747-B728FC345ED1}"/>
                </a:ext>
              </a:extLst>
            </p:cNvPr>
            <p:cNvGrpSpPr/>
            <p:nvPr/>
          </p:nvGrpSpPr>
          <p:grpSpPr>
            <a:xfrm rot="2700000" flipH="1">
              <a:off x="5051055" y="3363160"/>
              <a:ext cx="515216" cy="1097284"/>
              <a:chOff x="6777274" y="1831284"/>
              <a:chExt cx="552841" cy="1177414"/>
            </a:xfrm>
          </p:grpSpPr>
          <p:grpSp>
            <p:nvGrpSpPr>
              <p:cNvPr id="66" name="Google Shape;352;p4">
                <a:extLst>
                  <a:ext uri="{FF2B5EF4-FFF2-40B4-BE49-F238E27FC236}">
                    <a16:creationId xmlns:a16="http://schemas.microsoft.com/office/drawing/2014/main" id="{62917543-05C5-3D8D-4BC7-79A27C3BD2EA}"/>
                  </a:ext>
                </a:extLst>
              </p:cNvPr>
              <p:cNvGrpSpPr/>
              <p:nvPr/>
            </p:nvGrpSpPr>
            <p:grpSpPr>
              <a:xfrm>
                <a:off x="6939980" y="1831284"/>
                <a:ext cx="385719" cy="718117"/>
                <a:chOff x="6783521" y="1654812"/>
                <a:chExt cx="726841" cy="1353205"/>
              </a:xfrm>
            </p:grpSpPr>
            <p:sp>
              <p:nvSpPr>
                <p:cNvPr id="68" name="Google Shape;353;p4">
                  <a:extLst>
                    <a:ext uri="{FF2B5EF4-FFF2-40B4-BE49-F238E27FC236}">
                      <a16:creationId xmlns:a16="http://schemas.microsoft.com/office/drawing/2014/main" id="{C2FD2277-3EC8-5A72-68CB-C751DC1ACCE3}"/>
                    </a:ext>
                  </a:extLst>
                </p:cNvPr>
                <p:cNvSpPr/>
                <p:nvPr/>
              </p:nvSpPr>
              <p:spPr>
                <a:xfrm>
                  <a:off x="6783521" y="1886618"/>
                  <a:ext cx="726841" cy="1121399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726841" h="1121399" extrusionOk="0">
                      <a:moveTo>
                        <a:pt x="236325" y="1049494"/>
                      </a:moveTo>
                      <a:lnTo>
                        <a:pt x="495287" y="1049494"/>
                      </a:lnTo>
                      <a:cubicBezTo>
                        <a:pt x="491080" y="1064561"/>
                        <a:pt x="487966" y="1079199"/>
                        <a:pt x="485273" y="1093187"/>
                      </a:cubicBezTo>
                      <a:lnTo>
                        <a:pt x="245258" y="1092728"/>
                      </a:lnTo>
                      <a:close/>
                      <a:moveTo>
                        <a:pt x="363421" y="203844"/>
                      </a:moveTo>
                      <a:cubicBezTo>
                        <a:pt x="401307" y="203844"/>
                        <a:pt x="432020" y="234557"/>
                        <a:pt x="432020" y="272443"/>
                      </a:cubicBezTo>
                      <a:cubicBezTo>
                        <a:pt x="432020" y="310329"/>
                        <a:pt x="401307" y="341042"/>
                        <a:pt x="363421" y="341042"/>
                      </a:cubicBezTo>
                      <a:cubicBezTo>
                        <a:pt x="325534" y="341042"/>
                        <a:pt x="294821" y="310329"/>
                        <a:pt x="294821" y="272443"/>
                      </a:cubicBezTo>
                      <a:cubicBezTo>
                        <a:pt x="294821" y="234557"/>
                        <a:pt x="325534" y="203844"/>
                        <a:pt x="363421" y="203844"/>
                      </a:cubicBezTo>
                      <a:close/>
                      <a:moveTo>
                        <a:pt x="363421" y="135244"/>
                      </a:moveTo>
                      <a:cubicBezTo>
                        <a:pt x="287648" y="135244"/>
                        <a:pt x="226222" y="196671"/>
                        <a:pt x="226222" y="272443"/>
                      </a:cubicBezTo>
                      <a:cubicBezTo>
                        <a:pt x="226222" y="348216"/>
                        <a:pt x="287648" y="409642"/>
                        <a:pt x="363421" y="409642"/>
                      </a:cubicBezTo>
                      <a:cubicBezTo>
                        <a:pt x="439193" y="409642"/>
                        <a:pt x="500619" y="348216"/>
                        <a:pt x="500619" y="272443"/>
                      </a:cubicBezTo>
                      <a:cubicBezTo>
                        <a:pt x="500619" y="196671"/>
                        <a:pt x="439193" y="135244"/>
                        <a:pt x="363421" y="135244"/>
                      </a:cubicBezTo>
                      <a:close/>
                      <a:moveTo>
                        <a:pt x="196200" y="0"/>
                      </a:moveTo>
                      <a:cubicBezTo>
                        <a:pt x="300307" y="58658"/>
                        <a:pt x="427219" y="59450"/>
                        <a:pt x="531959" y="2129"/>
                      </a:cubicBezTo>
                      <a:cubicBezTo>
                        <a:pt x="645195" y="251105"/>
                        <a:pt x="615578" y="521951"/>
                        <a:pt x="565642" y="749813"/>
                      </a:cubicBezTo>
                      <a:lnTo>
                        <a:pt x="726841" y="904479"/>
                      </a:lnTo>
                      <a:lnTo>
                        <a:pt x="700460" y="1113326"/>
                      </a:lnTo>
                      <a:lnTo>
                        <a:pt x="510728" y="982128"/>
                      </a:lnTo>
                      <a:lnTo>
                        <a:pt x="503274" y="1014651"/>
                      </a:lnTo>
                      <a:lnTo>
                        <a:pt x="228241" y="1014651"/>
                      </a:lnTo>
                      <a:cubicBezTo>
                        <a:pt x="226194" y="1005458"/>
                        <a:pt x="223902" y="996068"/>
                        <a:pt x="221524" y="986461"/>
                      </a:cubicBezTo>
                      <a:lnTo>
                        <a:pt x="26381" y="1121399"/>
                      </a:lnTo>
                      <a:lnTo>
                        <a:pt x="0" y="912552"/>
                      </a:lnTo>
                      <a:lnTo>
                        <a:pt x="162681" y="756465"/>
                      </a:lnTo>
                      <a:lnTo>
                        <a:pt x="163137" y="757906"/>
                      </a:lnTo>
                      <a:lnTo>
                        <a:pt x="165881" y="748957"/>
                      </a:lnTo>
                      <a:cubicBezTo>
                        <a:pt x="117348" y="521774"/>
                        <a:pt x="87568" y="246912"/>
                        <a:pt x="196200" y="0"/>
                      </a:cubicBezTo>
                      <a:close/>
                    </a:path>
                  </a:pathLst>
                </a:custGeom>
                <a:solidFill>
                  <a:schemeClr val="lt1"/>
                </a:solidFill>
                <a:ln>
                  <a:noFill/>
                </a:ln>
              </p:spPr>
              <p:txBody>
                <a:bodyPr spcFirstLastPara="1" wrap="square" lIns="91425" tIns="45700" rIns="91425" bIns="45700" anchor="ctr" anchorCtr="0">
                  <a:noAutofit/>
                </a:bodyPr>
                <a:lstStyle/>
                <a:p>
                  <a:pPr marL="0" marR="0" lvl="0" indent="0" algn="ctr" rtl="0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lt1"/>
                    </a:buClr>
                    <a:buSzPts val="2400"/>
                    <a:buFont typeface="Calibri"/>
                    <a:buNone/>
                  </a:pPr>
                  <a:endParaRPr sz="2400" b="0" i="0" u="none" strike="noStrike" cap="none">
                    <a:solidFill>
                      <a:srgbClr val="FFFFFF"/>
                    </a:solidFill>
                    <a:latin typeface="Avenir Book" panose="02000503020000020003" pitchFamily="2" charset="0"/>
                    <a:ea typeface="Arial"/>
                    <a:cs typeface="Arial"/>
                    <a:sym typeface="Arial"/>
                  </a:endParaRPr>
                </a:p>
              </p:txBody>
            </p:sp>
            <p:sp>
              <p:nvSpPr>
                <p:cNvPr id="69" name="Google Shape;354;p4">
                  <a:extLst>
                    <a:ext uri="{FF2B5EF4-FFF2-40B4-BE49-F238E27FC236}">
                      <a16:creationId xmlns:a16="http://schemas.microsoft.com/office/drawing/2014/main" id="{F82384A6-126C-A913-770D-813F2B279FC4}"/>
                    </a:ext>
                  </a:extLst>
                </p:cNvPr>
                <p:cNvSpPr/>
                <p:nvPr/>
              </p:nvSpPr>
              <p:spPr>
                <a:xfrm>
                  <a:off x="6997804" y="1654812"/>
                  <a:ext cx="298274" cy="244742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98274" h="244742" extrusionOk="0">
                      <a:moveTo>
                        <a:pt x="147328" y="0"/>
                      </a:moveTo>
                      <a:cubicBezTo>
                        <a:pt x="212319" y="65590"/>
                        <a:pt x="261867" y="134854"/>
                        <a:pt x="298274" y="206570"/>
                      </a:cubicBezTo>
                      <a:cubicBezTo>
                        <a:pt x="205418" y="258299"/>
                        <a:pt x="92251" y="257374"/>
                        <a:pt x="0" y="204273"/>
                      </a:cubicBezTo>
                      <a:cubicBezTo>
                        <a:pt x="35363" y="132633"/>
                        <a:pt x="83678" y="64016"/>
                        <a:pt x="147328" y="0"/>
                      </a:cubicBezTo>
                      <a:close/>
                    </a:path>
                  </a:pathLst>
                </a:custGeom>
                <a:solidFill>
                  <a:schemeClr val="lt1"/>
                </a:solidFill>
                <a:ln>
                  <a:noFill/>
                </a:ln>
              </p:spPr>
              <p:txBody>
                <a:bodyPr spcFirstLastPara="1" wrap="square" lIns="91425" tIns="45700" rIns="91425" bIns="45700" anchor="ctr" anchorCtr="0">
                  <a:noAutofit/>
                </a:bodyPr>
                <a:lstStyle/>
                <a:p>
                  <a:pPr marL="0" marR="0" lvl="0" indent="0" algn="ctr" rtl="0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lt1"/>
                    </a:buClr>
                    <a:buSzPts val="2400"/>
                    <a:buFont typeface="Calibri"/>
                    <a:buNone/>
                  </a:pPr>
                  <a:endParaRPr sz="2400" b="0" i="0" u="none" strike="noStrike" cap="none">
                    <a:solidFill>
                      <a:srgbClr val="FFFFFF"/>
                    </a:solidFill>
                    <a:latin typeface="Avenir Book" panose="02000503020000020003" pitchFamily="2" charset="0"/>
                    <a:ea typeface="Arial"/>
                    <a:cs typeface="Arial"/>
                    <a:sym typeface="Arial"/>
                  </a:endParaRPr>
                </a:p>
              </p:txBody>
            </p:sp>
          </p:grpSp>
          <p:sp>
            <p:nvSpPr>
              <p:cNvPr id="67" name="Google Shape;355;p4">
                <a:extLst>
                  <a:ext uri="{FF2B5EF4-FFF2-40B4-BE49-F238E27FC236}">
                    <a16:creationId xmlns:a16="http://schemas.microsoft.com/office/drawing/2014/main" id="{0AD351A0-8043-6732-A583-F6DEF9E11739}"/>
                  </a:ext>
                </a:extLst>
              </p:cNvPr>
              <p:cNvSpPr/>
              <p:nvPr/>
            </p:nvSpPr>
            <p:spPr>
              <a:xfrm>
                <a:off x="6777274" y="2572267"/>
                <a:ext cx="552841" cy="436431"/>
              </a:xfrm>
              <a:custGeom>
                <a:avLst/>
                <a:gdLst/>
                <a:ahLst/>
                <a:cxnLst/>
                <a:rect l="l" t="t" r="r" b="b"/>
                <a:pathLst>
                  <a:path w="935319" h="738371" extrusionOk="0">
                    <a:moveTo>
                      <a:pt x="570246" y="5904"/>
                    </a:moveTo>
                    <a:cubicBezTo>
                      <a:pt x="462283" y="64891"/>
                      <a:pt x="426421" y="317189"/>
                      <a:pt x="649701" y="474399"/>
                    </a:cubicBezTo>
                    <a:cubicBezTo>
                      <a:pt x="593836" y="327977"/>
                      <a:pt x="630970" y="255746"/>
                      <a:pt x="667057" y="182470"/>
                    </a:cubicBezTo>
                    <a:cubicBezTo>
                      <a:pt x="667659" y="219721"/>
                      <a:pt x="629598" y="299814"/>
                      <a:pt x="723199" y="346469"/>
                    </a:cubicBezTo>
                    <a:cubicBezTo>
                      <a:pt x="679394" y="206128"/>
                      <a:pt x="864427" y="161920"/>
                      <a:pt x="670152" y="6949"/>
                    </a:cubicBezTo>
                    <a:cubicBezTo>
                      <a:pt x="951156" y="47548"/>
                      <a:pt x="868526" y="190548"/>
                      <a:pt x="935319" y="334595"/>
                    </a:cubicBezTo>
                    <a:cubicBezTo>
                      <a:pt x="886447" y="343095"/>
                      <a:pt x="815632" y="212619"/>
                      <a:pt x="831546" y="274410"/>
                    </a:cubicBezTo>
                    <a:cubicBezTo>
                      <a:pt x="915063" y="518579"/>
                      <a:pt x="665249" y="525551"/>
                      <a:pt x="744586" y="738371"/>
                    </a:cubicBezTo>
                    <a:cubicBezTo>
                      <a:pt x="498005" y="724435"/>
                      <a:pt x="570128" y="495242"/>
                      <a:pt x="454164" y="439509"/>
                    </a:cubicBezTo>
                    <a:cubicBezTo>
                      <a:pt x="422689" y="433882"/>
                      <a:pt x="384944" y="459601"/>
                      <a:pt x="454829" y="574141"/>
                    </a:cubicBezTo>
                    <a:cubicBezTo>
                      <a:pt x="47812" y="270832"/>
                      <a:pt x="333584" y="22904"/>
                      <a:pt x="570246" y="5904"/>
                    </a:cubicBezTo>
                    <a:close/>
                    <a:moveTo>
                      <a:pt x="0" y="0"/>
                    </a:moveTo>
                    <a:lnTo>
                      <a:pt x="9284" y="0"/>
                    </a:lnTo>
                    <a:lnTo>
                      <a:pt x="746" y="5904"/>
                    </a:ln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ctr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lt1"/>
                  </a:buClr>
                  <a:buSzPts val="2400"/>
                  <a:buFont typeface="Calibri"/>
                  <a:buNone/>
                </a:pPr>
                <a:endParaRPr sz="2400" b="0" i="0" u="none" strike="noStrike" cap="none">
                  <a:solidFill>
                    <a:srgbClr val="FFFFFF"/>
                  </a:solidFill>
                  <a:latin typeface="Avenir Book" panose="02000503020000020003" pitchFamily="2" charset="0"/>
                  <a:ea typeface="Arial"/>
                  <a:cs typeface="Arial"/>
                  <a:sym typeface="Arial"/>
                </a:endParaRPr>
              </a:p>
            </p:txBody>
          </p:sp>
        </p:grpSp>
      </p:grpSp>
      <p:cxnSp>
        <p:nvCxnSpPr>
          <p:cNvPr id="70" name="Google Shape;356;p4">
            <a:extLst>
              <a:ext uri="{FF2B5EF4-FFF2-40B4-BE49-F238E27FC236}">
                <a16:creationId xmlns:a16="http://schemas.microsoft.com/office/drawing/2014/main" id="{28AD901B-1E65-0241-707D-1C3859F0DB07}"/>
              </a:ext>
            </a:extLst>
          </p:cNvPr>
          <p:cNvCxnSpPr>
            <a:cxnSpLocks/>
            <a:stCxn id="64" idx="1"/>
            <a:endCxn id="59" idx="3"/>
          </p:cNvCxnSpPr>
          <p:nvPr/>
        </p:nvCxnSpPr>
        <p:spPr>
          <a:xfrm flipV="1">
            <a:off x="6140402" y="1466274"/>
            <a:ext cx="1050243" cy="1385662"/>
          </a:xfrm>
          <a:prstGeom prst="straightConnector1">
            <a:avLst/>
          </a:prstGeom>
          <a:noFill/>
          <a:ln w="9525" cap="flat" cmpd="sng">
            <a:solidFill>
              <a:srgbClr val="002060"/>
            </a:solidFill>
            <a:prstDash val="solid"/>
            <a:miter lim="800000"/>
            <a:headEnd type="none" w="sm" len="sm"/>
            <a:tailEnd type="triangle" w="med" len="med"/>
          </a:ln>
        </p:spPr>
      </p:cxnSp>
      <p:cxnSp>
        <p:nvCxnSpPr>
          <p:cNvPr id="71" name="Google Shape;357;p4">
            <a:extLst>
              <a:ext uri="{FF2B5EF4-FFF2-40B4-BE49-F238E27FC236}">
                <a16:creationId xmlns:a16="http://schemas.microsoft.com/office/drawing/2014/main" id="{D3DAA27F-72B6-87D9-6EF7-A6F0F82F78BA}"/>
              </a:ext>
            </a:extLst>
          </p:cNvPr>
          <p:cNvCxnSpPr/>
          <p:nvPr/>
        </p:nvCxnSpPr>
        <p:spPr>
          <a:xfrm rot="10800000" flipH="1">
            <a:off x="6179015" y="2935014"/>
            <a:ext cx="1011630" cy="593534"/>
          </a:xfrm>
          <a:prstGeom prst="straightConnector1">
            <a:avLst/>
          </a:prstGeom>
          <a:noFill/>
          <a:ln w="9525" cap="flat" cmpd="sng">
            <a:solidFill>
              <a:srgbClr val="002060"/>
            </a:solidFill>
            <a:prstDash val="solid"/>
            <a:miter lim="800000"/>
            <a:headEnd type="none" w="sm" len="sm"/>
            <a:tailEnd type="triangle" w="med" len="med"/>
          </a:ln>
        </p:spPr>
      </p:cxnSp>
      <p:cxnSp>
        <p:nvCxnSpPr>
          <p:cNvPr id="72" name="Google Shape;358;p4">
            <a:extLst>
              <a:ext uri="{FF2B5EF4-FFF2-40B4-BE49-F238E27FC236}">
                <a16:creationId xmlns:a16="http://schemas.microsoft.com/office/drawing/2014/main" id="{19B0E75F-7331-9DE8-4253-7C937606788F}"/>
              </a:ext>
            </a:extLst>
          </p:cNvPr>
          <p:cNvCxnSpPr>
            <a:cxnSpLocks/>
            <a:stCxn id="64" idx="2"/>
          </p:cNvCxnSpPr>
          <p:nvPr/>
        </p:nvCxnSpPr>
        <p:spPr>
          <a:xfrm>
            <a:off x="6379429" y="3429000"/>
            <a:ext cx="811216" cy="532746"/>
          </a:xfrm>
          <a:prstGeom prst="straightConnector1">
            <a:avLst/>
          </a:prstGeom>
          <a:noFill/>
          <a:ln w="9525" cap="flat" cmpd="sng">
            <a:solidFill>
              <a:srgbClr val="002060"/>
            </a:solidFill>
            <a:prstDash val="solid"/>
            <a:miter lim="800000"/>
            <a:headEnd type="none" w="sm" len="sm"/>
            <a:tailEnd type="triangle" w="med" len="med"/>
          </a:ln>
        </p:spPr>
      </p:cxnSp>
      <p:cxnSp>
        <p:nvCxnSpPr>
          <p:cNvPr id="73" name="Google Shape;359;p4">
            <a:extLst>
              <a:ext uri="{FF2B5EF4-FFF2-40B4-BE49-F238E27FC236}">
                <a16:creationId xmlns:a16="http://schemas.microsoft.com/office/drawing/2014/main" id="{BD03BD6F-FE55-6407-8764-20A5F1017962}"/>
              </a:ext>
            </a:extLst>
          </p:cNvPr>
          <p:cNvCxnSpPr>
            <a:stCxn id="64" idx="3"/>
          </p:cNvCxnSpPr>
          <p:nvPr/>
        </p:nvCxnSpPr>
        <p:spPr>
          <a:xfrm>
            <a:off x="6140402" y="4006063"/>
            <a:ext cx="1011600" cy="1046100"/>
          </a:xfrm>
          <a:prstGeom prst="straightConnector1">
            <a:avLst/>
          </a:prstGeom>
          <a:noFill/>
          <a:ln w="9525" cap="flat" cmpd="sng">
            <a:solidFill>
              <a:srgbClr val="002060"/>
            </a:solidFill>
            <a:prstDash val="solid"/>
            <a:miter lim="800000"/>
            <a:headEnd type="none" w="sm" len="sm"/>
            <a:tailEnd type="triangle" w="med" len="med"/>
          </a:ln>
        </p:spPr>
      </p:cxnSp>
      <p:sp>
        <p:nvSpPr>
          <p:cNvPr id="74" name="Google Shape;360;p4">
            <a:extLst>
              <a:ext uri="{FF2B5EF4-FFF2-40B4-BE49-F238E27FC236}">
                <a16:creationId xmlns:a16="http://schemas.microsoft.com/office/drawing/2014/main" id="{DBF8BDF1-2AA4-ABDD-5D36-9D61C57B065B}"/>
              </a:ext>
            </a:extLst>
          </p:cNvPr>
          <p:cNvSpPr txBox="1"/>
          <p:nvPr/>
        </p:nvSpPr>
        <p:spPr>
          <a:xfrm flipH="1">
            <a:off x="762719" y="2195946"/>
            <a:ext cx="3072341" cy="40010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PE" sz="2000" dirty="0">
                <a:latin typeface="Avenir Medium" panose="02000503020000020003" pitchFamily="2" charset="0"/>
                <a:ea typeface="Arial"/>
                <a:cs typeface="Arial"/>
                <a:sym typeface="Arial"/>
              </a:rPr>
              <a:t>OBJETIVO GENERAL</a:t>
            </a:r>
            <a:endParaRPr sz="2000" dirty="0">
              <a:latin typeface="Avenir Medium" panose="02000503020000020003" pitchFamily="2" charset="0"/>
              <a:ea typeface="Arial"/>
              <a:cs typeface="Arial"/>
              <a:sym typeface="Arial"/>
            </a:endParaRPr>
          </a:p>
        </p:txBody>
      </p:sp>
      <p:sp>
        <p:nvSpPr>
          <p:cNvPr id="75" name="Google Shape;361;p4">
            <a:extLst>
              <a:ext uri="{FF2B5EF4-FFF2-40B4-BE49-F238E27FC236}">
                <a16:creationId xmlns:a16="http://schemas.microsoft.com/office/drawing/2014/main" id="{DB277114-97B5-BF72-8FEC-F0A645348A1E}"/>
              </a:ext>
            </a:extLst>
          </p:cNvPr>
          <p:cNvSpPr txBox="1"/>
          <p:nvPr/>
        </p:nvSpPr>
        <p:spPr>
          <a:xfrm>
            <a:off x="720937" y="2622358"/>
            <a:ext cx="3302537" cy="286228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lvl="0"/>
            <a:r>
              <a:rPr lang="es-MX" dirty="0">
                <a:latin typeface="Avenir Book" panose="02000503020000020003" pitchFamily="2" charset="0"/>
              </a:rPr>
              <a:t>Diseñar e implementar un sistema IoT para el monitoreo inteligente de la</a:t>
            </a:r>
          </a:p>
          <a:p>
            <a:pPr lvl="0" algn="just"/>
            <a:r>
              <a:rPr lang="es-MX" dirty="0">
                <a:latin typeface="Avenir Book" panose="02000503020000020003" pitchFamily="2" charset="0"/>
              </a:rPr>
              <a:t>calidad del aire en zonas urbanas de Quito, que permita recopilar y visualizar</a:t>
            </a:r>
          </a:p>
          <a:p>
            <a:pPr lvl="0"/>
            <a:r>
              <a:rPr lang="es-MX" dirty="0">
                <a:latin typeface="Avenir Book" panose="02000503020000020003" pitchFamily="2" charset="0"/>
              </a:rPr>
              <a:t>datos ambientales en tiempo real para apoyar la gestión ambiental y</a:t>
            </a:r>
          </a:p>
          <a:p>
            <a:pPr lvl="0" algn="just"/>
            <a:r>
              <a:rPr lang="es-MX" dirty="0">
                <a:latin typeface="Avenir Book" panose="02000503020000020003" pitchFamily="2" charset="0"/>
              </a:rPr>
              <a:t>concienciación ciudadana.</a:t>
            </a:r>
            <a:endParaRPr dirty="0">
              <a:latin typeface="Avenir Book" panose="02000503020000020003" pitchFamily="2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245148528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347;p4">
            <a:extLst>
              <a:ext uri="{FF2B5EF4-FFF2-40B4-BE49-F238E27FC236}">
                <a16:creationId xmlns:a16="http://schemas.microsoft.com/office/drawing/2014/main" id="{DC74E7F6-69D5-F85E-1502-BAE848B317C6}"/>
              </a:ext>
            </a:extLst>
          </p:cNvPr>
          <p:cNvSpPr/>
          <p:nvPr/>
        </p:nvSpPr>
        <p:spPr>
          <a:xfrm>
            <a:off x="0" y="1433020"/>
            <a:ext cx="1576552" cy="66507"/>
          </a:xfrm>
          <a:prstGeom prst="roundRect">
            <a:avLst>
              <a:gd name="adj" fmla="val 50000"/>
            </a:avLst>
          </a:prstGeom>
          <a:solidFill>
            <a:srgbClr val="FFC000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lt1"/>
              </a:solidFill>
              <a:latin typeface="Avenir Book" panose="02000503020000020003" pitchFamily="2" charset="0"/>
              <a:ea typeface="Calibri"/>
              <a:cs typeface="Calibri"/>
              <a:sym typeface="Calibri"/>
            </a:endParaRPr>
          </a:p>
        </p:txBody>
      </p:sp>
      <p:sp>
        <p:nvSpPr>
          <p:cNvPr id="7" name="Google Shape;348;p4">
            <a:extLst>
              <a:ext uri="{FF2B5EF4-FFF2-40B4-BE49-F238E27FC236}">
                <a16:creationId xmlns:a16="http://schemas.microsoft.com/office/drawing/2014/main" id="{C0BD846F-8BAF-C3F3-85F2-549180B956CA}"/>
              </a:ext>
            </a:extLst>
          </p:cNvPr>
          <p:cNvSpPr txBox="1"/>
          <p:nvPr/>
        </p:nvSpPr>
        <p:spPr>
          <a:xfrm>
            <a:off x="425304" y="554213"/>
            <a:ext cx="5006648" cy="62140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2060"/>
              </a:buClr>
              <a:buSzPts val="3600"/>
              <a:buFont typeface="Arial"/>
              <a:buNone/>
            </a:pPr>
            <a:r>
              <a:rPr lang="es-PE" sz="3600" b="1" dirty="0">
                <a:latin typeface="Avenir Book" panose="02000503020000020003" pitchFamily="2" charset="0"/>
                <a:ea typeface="Arial"/>
                <a:cs typeface="Arial"/>
                <a:sym typeface="Arial"/>
              </a:rPr>
              <a:t>Componentes del TIC</a:t>
            </a:r>
            <a:endParaRPr sz="3600" b="1" dirty="0">
              <a:latin typeface="Avenir Book" panose="02000503020000020003" pitchFamily="2" charset="0"/>
              <a:ea typeface="Arial"/>
              <a:cs typeface="Arial"/>
              <a:sym typeface="Arial"/>
            </a:endParaRPr>
          </a:p>
        </p:txBody>
      </p:sp>
      <p:grpSp>
        <p:nvGrpSpPr>
          <p:cNvPr id="11" name="Group 12">
            <a:extLst>
              <a:ext uri="{FF2B5EF4-FFF2-40B4-BE49-F238E27FC236}">
                <a16:creationId xmlns:a16="http://schemas.microsoft.com/office/drawing/2014/main" id="{3305133D-27B8-38E9-D429-8EDE211747C0}"/>
              </a:ext>
            </a:extLst>
          </p:cNvPr>
          <p:cNvGrpSpPr/>
          <p:nvPr/>
        </p:nvGrpSpPr>
        <p:grpSpPr>
          <a:xfrm rot="16200000">
            <a:off x="4972864" y="1154784"/>
            <a:ext cx="852494" cy="1162891"/>
            <a:chOff x="9918988" y="355852"/>
            <a:chExt cx="852494" cy="1162891"/>
          </a:xfrm>
        </p:grpSpPr>
        <p:sp>
          <p:nvSpPr>
            <p:cNvPr id="12" name="Triangle 12">
              <a:extLst>
                <a:ext uri="{FF2B5EF4-FFF2-40B4-BE49-F238E27FC236}">
                  <a16:creationId xmlns:a16="http://schemas.microsoft.com/office/drawing/2014/main" id="{487BCF8F-9F9B-08A8-9251-958B9F3B3B15}"/>
                </a:ext>
              </a:extLst>
            </p:cNvPr>
            <p:cNvSpPr/>
            <p:nvPr/>
          </p:nvSpPr>
          <p:spPr>
            <a:xfrm rot="10800000">
              <a:off x="9929055" y="1104594"/>
              <a:ext cx="832360" cy="414149"/>
            </a:xfrm>
            <a:prstGeom prst="triangle">
              <a:avLst>
                <a:gd name="adj" fmla="val 49285"/>
              </a:avLst>
            </a:prstGeom>
            <a:noFill/>
            <a:ln w="28575">
              <a:solidFill>
                <a:schemeClr val="accent4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1600"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endParaRPr>
            </a:p>
          </p:txBody>
        </p:sp>
        <p:sp>
          <p:nvSpPr>
            <p:cNvPr id="13" name="Rectangle 14">
              <a:extLst>
                <a:ext uri="{FF2B5EF4-FFF2-40B4-BE49-F238E27FC236}">
                  <a16:creationId xmlns:a16="http://schemas.microsoft.com/office/drawing/2014/main" id="{1E726138-D4FB-B910-6DAF-F8727B246DFD}"/>
                </a:ext>
              </a:extLst>
            </p:cNvPr>
            <p:cNvSpPr/>
            <p:nvPr/>
          </p:nvSpPr>
          <p:spPr>
            <a:xfrm rot="2700000">
              <a:off x="9918988" y="355852"/>
              <a:ext cx="852494" cy="852494"/>
            </a:xfrm>
            <a:prstGeom prst="rect">
              <a:avLst/>
            </a:prstGeom>
            <a:solidFill>
              <a:srgbClr val="002060"/>
            </a:solidFill>
            <a:ln w="28575">
              <a:solidFill>
                <a:schemeClr val="accent4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1600" dirty="0"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endParaRPr>
            </a:p>
          </p:txBody>
        </p:sp>
      </p:grpSp>
      <p:grpSp>
        <p:nvGrpSpPr>
          <p:cNvPr id="14" name="Group 17">
            <a:extLst>
              <a:ext uri="{FF2B5EF4-FFF2-40B4-BE49-F238E27FC236}">
                <a16:creationId xmlns:a16="http://schemas.microsoft.com/office/drawing/2014/main" id="{A8199718-1DFD-BCAE-C123-EC053FE681D6}"/>
              </a:ext>
            </a:extLst>
          </p:cNvPr>
          <p:cNvGrpSpPr/>
          <p:nvPr/>
        </p:nvGrpSpPr>
        <p:grpSpPr>
          <a:xfrm>
            <a:off x="5024507" y="1512338"/>
            <a:ext cx="420688" cy="422275"/>
            <a:chOff x="1298575" y="588963"/>
            <a:chExt cx="420688" cy="422275"/>
          </a:xfrm>
          <a:solidFill>
            <a:schemeClr val="bg1"/>
          </a:solidFill>
        </p:grpSpPr>
        <p:sp>
          <p:nvSpPr>
            <p:cNvPr id="15" name="Freeform 9">
              <a:extLst>
                <a:ext uri="{FF2B5EF4-FFF2-40B4-BE49-F238E27FC236}">
                  <a16:creationId xmlns:a16="http://schemas.microsoft.com/office/drawing/2014/main" id="{7DBD070D-48C0-C2BD-3A2D-C1A3613C73C7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1298575" y="588963"/>
              <a:ext cx="420688" cy="422275"/>
            </a:xfrm>
            <a:custGeom>
              <a:avLst/>
              <a:gdLst>
                <a:gd name="T0" fmla="*/ 64 w 112"/>
                <a:gd name="T1" fmla="*/ 12 h 112"/>
                <a:gd name="T2" fmla="*/ 78 w 112"/>
                <a:gd name="T3" fmla="*/ 23 h 112"/>
                <a:gd name="T4" fmla="*/ 84 w 112"/>
                <a:gd name="T5" fmla="*/ 18 h 112"/>
                <a:gd name="T6" fmla="*/ 93 w 112"/>
                <a:gd name="T7" fmla="*/ 25 h 112"/>
                <a:gd name="T8" fmla="*/ 89 w 112"/>
                <a:gd name="T9" fmla="*/ 34 h 112"/>
                <a:gd name="T10" fmla="*/ 100 w 112"/>
                <a:gd name="T11" fmla="*/ 48 h 112"/>
                <a:gd name="T12" fmla="*/ 104 w 112"/>
                <a:gd name="T13" fmla="*/ 60 h 112"/>
                <a:gd name="T14" fmla="*/ 95 w 112"/>
                <a:gd name="T15" fmla="*/ 64 h 112"/>
                <a:gd name="T16" fmla="*/ 93 w 112"/>
                <a:gd name="T17" fmla="*/ 81 h 112"/>
                <a:gd name="T18" fmla="*/ 87 w 112"/>
                <a:gd name="T19" fmla="*/ 93 h 112"/>
                <a:gd name="T20" fmla="*/ 81 w 112"/>
                <a:gd name="T21" fmla="*/ 93 h 112"/>
                <a:gd name="T22" fmla="*/ 64 w 112"/>
                <a:gd name="T23" fmla="*/ 95 h 112"/>
                <a:gd name="T24" fmla="*/ 60 w 112"/>
                <a:gd name="T25" fmla="*/ 104 h 112"/>
                <a:gd name="T26" fmla="*/ 48 w 112"/>
                <a:gd name="T27" fmla="*/ 100 h 112"/>
                <a:gd name="T28" fmla="*/ 34 w 112"/>
                <a:gd name="T29" fmla="*/ 89 h 112"/>
                <a:gd name="T30" fmla="*/ 28 w 112"/>
                <a:gd name="T31" fmla="*/ 94 h 112"/>
                <a:gd name="T32" fmla="*/ 19 w 112"/>
                <a:gd name="T33" fmla="*/ 87 h 112"/>
                <a:gd name="T34" fmla="*/ 23 w 112"/>
                <a:gd name="T35" fmla="*/ 78 h 112"/>
                <a:gd name="T36" fmla="*/ 12 w 112"/>
                <a:gd name="T37" fmla="*/ 64 h 112"/>
                <a:gd name="T38" fmla="*/ 8 w 112"/>
                <a:gd name="T39" fmla="*/ 52 h 112"/>
                <a:gd name="T40" fmla="*/ 17 w 112"/>
                <a:gd name="T41" fmla="*/ 48 h 112"/>
                <a:gd name="T42" fmla="*/ 19 w 112"/>
                <a:gd name="T43" fmla="*/ 31 h 112"/>
                <a:gd name="T44" fmla="*/ 25 w 112"/>
                <a:gd name="T45" fmla="*/ 19 h 112"/>
                <a:gd name="T46" fmla="*/ 31 w 112"/>
                <a:gd name="T47" fmla="*/ 19 h 112"/>
                <a:gd name="T48" fmla="*/ 48 w 112"/>
                <a:gd name="T49" fmla="*/ 17 h 112"/>
                <a:gd name="T50" fmla="*/ 52 w 112"/>
                <a:gd name="T51" fmla="*/ 8 h 112"/>
                <a:gd name="T52" fmla="*/ 60 w 112"/>
                <a:gd name="T53" fmla="*/ 0 h 112"/>
                <a:gd name="T54" fmla="*/ 40 w 112"/>
                <a:gd name="T55" fmla="*/ 11 h 112"/>
                <a:gd name="T56" fmla="*/ 28 w 112"/>
                <a:gd name="T57" fmla="*/ 10 h 112"/>
                <a:gd name="T58" fmla="*/ 14 w 112"/>
                <a:gd name="T59" fmla="*/ 19 h 112"/>
                <a:gd name="T60" fmla="*/ 13 w 112"/>
                <a:gd name="T61" fmla="*/ 35 h 112"/>
                <a:gd name="T62" fmla="*/ 0 w 112"/>
                <a:gd name="T63" fmla="*/ 52 h 112"/>
                <a:gd name="T64" fmla="*/ 11 w 112"/>
                <a:gd name="T65" fmla="*/ 72 h 112"/>
                <a:gd name="T66" fmla="*/ 10 w 112"/>
                <a:gd name="T67" fmla="*/ 84 h 112"/>
                <a:gd name="T68" fmla="*/ 19 w 112"/>
                <a:gd name="T69" fmla="*/ 98 h 112"/>
                <a:gd name="T70" fmla="*/ 35 w 112"/>
                <a:gd name="T71" fmla="*/ 99 h 112"/>
                <a:gd name="T72" fmla="*/ 52 w 112"/>
                <a:gd name="T73" fmla="*/ 112 h 112"/>
                <a:gd name="T74" fmla="*/ 72 w 112"/>
                <a:gd name="T75" fmla="*/ 101 h 112"/>
                <a:gd name="T76" fmla="*/ 84 w 112"/>
                <a:gd name="T77" fmla="*/ 102 h 112"/>
                <a:gd name="T78" fmla="*/ 98 w 112"/>
                <a:gd name="T79" fmla="*/ 93 h 112"/>
                <a:gd name="T80" fmla="*/ 99 w 112"/>
                <a:gd name="T81" fmla="*/ 77 h 112"/>
                <a:gd name="T82" fmla="*/ 112 w 112"/>
                <a:gd name="T83" fmla="*/ 60 h 112"/>
                <a:gd name="T84" fmla="*/ 101 w 112"/>
                <a:gd name="T85" fmla="*/ 40 h 112"/>
                <a:gd name="T86" fmla="*/ 102 w 112"/>
                <a:gd name="T87" fmla="*/ 28 h 112"/>
                <a:gd name="T88" fmla="*/ 93 w 112"/>
                <a:gd name="T89" fmla="*/ 14 h 112"/>
                <a:gd name="T90" fmla="*/ 77 w 112"/>
                <a:gd name="T91" fmla="*/ 13 h 112"/>
                <a:gd name="T92" fmla="*/ 60 w 112"/>
                <a:gd name="T93" fmla="*/ 0 h 11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</a:cxnLst>
              <a:rect l="0" t="0" r="r" b="b"/>
              <a:pathLst>
                <a:path w="112" h="112">
                  <a:moveTo>
                    <a:pt x="60" y="8"/>
                  </a:moveTo>
                  <a:cubicBezTo>
                    <a:pt x="62" y="8"/>
                    <a:pt x="64" y="10"/>
                    <a:pt x="64" y="12"/>
                  </a:cubicBezTo>
                  <a:cubicBezTo>
                    <a:pt x="64" y="17"/>
                    <a:pt x="64" y="17"/>
                    <a:pt x="64" y="17"/>
                  </a:cubicBezTo>
                  <a:cubicBezTo>
                    <a:pt x="69" y="18"/>
                    <a:pt x="74" y="20"/>
                    <a:pt x="78" y="23"/>
                  </a:cubicBezTo>
                  <a:cubicBezTo>
                    <a:pt x="81" y="19"/>
                    <a:pt x="81" y="19"/>
                    <a:pt x="81" y="19"/>
                  </a:cubicBezTo>
                  <a:cubicBezTo>
                    <a:pt x="82" y="18"/>
                    <a:pt x="83" y="18"/>
                    <a:pt x="84" y="18"/>
                  </a:cubicBezTo>
                  <a:cubicBezTo>
                    <a:pt x="85" y="18"/>
                    <a:pt x="86" y="18"/>
                    <a:pt x="87" y="19"/>
                  </a:cubicBezTo>
                  <a:cubicBezTo>
                    <a:pt x="93" y="25"/>
                    <a:pt x="93" y="25"/>
                    <a:pt x="93" y="25"/>
                  </a:cubicBezTo>
                  <a:cubicBezTo>
                    <a:pt x="94" y="26"/>
                    <a:pt x="94" y="29"/>
                    <a:pt x="93" y="31"/>
                  </a:cubicBezTo>
                  <a:cubicBezTo>
                    <a:pt x="89" y="34"/>
                    <a:pt x="89" y="34"/>
                    <a:pt x="89" y="34"/>
                  </a:cubicBezTo>
                  <a:cubicBezTo>
                    <a:pt x="92" y="38"/>
                    <a:pt x="94" y="43"/>
                    <a:pt x="95" y="48"/>
                  </a:cubicBezTo>
                  <a:cubicBezTo>
                    <a:pt x="100" y="48"/>
                    <a:pt x="100" y="48"/>
                    <a:pt x="100" y="48"/>
                  </a:cubicBezTo>
                  <a:cubicBezTo>
                    <a:pt x="102" y="48"/>
                    <a:pt x="104" y="50"/>
                    <a:pt x="104" y="52"/>
                  </a:cubicBezTo>
                  <a:cubicBezTo>
                    <a:pt x="104" y="60"/>
                    <a:pt x="104" y="60"/>
                    <a:pt x="104" y="60"/>
                  </a:cubicBezTo>
                  <a:cubicBezTo>
                    <a:pt x="104" y="62"/>
                    <a:pt x="102" y="64"/>
                    <a:pt x="100" y="64"/>
                  </a:cubicBezTo>
                  <a:cubicBezTo>
                    <a:pt x="95" y="64"/>
                    <a:pt x="95" y="64"/>
                    <a:pt x="95" y="64"/>
                  </a:cubicBezTo>
                  <a:cubicBezTo>
                    <a:pt x="94" y="69"/>
                    <a:pt x="92" y="74"/>
                    <a:pt x="89" y="78"/>
                  </a:cubicBezTo>
                  <a:cubicBezTo>
                    <a:pt x="93" y="81"/>
                    <a:pt x="93" y="81"/>
                    <a:pt x="93" y="81"/>
                  </a:cubicBezTo>
                  <a:cubicBezTo>
                    <a:pt x="94" y="83"/>
                    <a:pt x="94" y="86"/>
                    <a:pt x="93" y="87"/>
                  </a:cubicBezTo>
                  <a:cubicBezTo>
                    <a:pt x="87" y="93"/>
                    <a:pt x="87" y="93"/>
                    <a:pt x="87" y="93"/>
                  </a:cubicBezTo>
                  <a:cubicBezTo>
                    <a:pt x="86" y="94"/>
                    <a:pt x="85" y="94"/>
                    <a:pt x="84" y="94"/>
                  </a:cubicBezTo>
                  <a:cubicBezTo>
                    <a:pt x="83" y="94"/>
                    <a:pt x="82" y="94"/>
                    <a:pt x="81" y="93"/>
                  </a:cubicBezTo>
                  <a:cubicBezTo>
                    <a:pt x="78" y="89"/>
                    <a:pt x="78" y="89"/>
                    <a:pt x="78" y="89"/>
                  </a:cubicBezTo>
                  <a:cubicBezTo>
                    <a:pt x="74" y="92"/>
                    <a:pt x="69" y="94"/>
                    <a:pt x="64" y="95"/>
                  </a:cubicBezTo>
                  <a:cubicBezTo>
                    <a:pt x="64" y="100"/>
                    <a:pt x="64" y="100"/>
                    <a:pt x="64" y="100"/>
                  </a:cubicBezTo>
                  <a:cubicBezTo>
                    <a:pt x="64" y="102"/>
                    <a:pt x="62" y="104"/>
                    <a:pt x="60" y="104"/>
                  </a:cubicBezTo>
                  <a:cubicBezTo>
                    <a:pt x="52" y="104"/>
                    <a:pt x="52" y="104"/>
                    <a:pt x="52" y="104"/>
                  </a:cubicBezTo>
                  <a:cubicBezTo>
                    <a:pt x="50" y="104"/>
                    <a:pt x="48" y="102"/>
                    <a:pt x="48" y="100"/>
                  </a:cubicBezTo>
                  <a:cubicBezTo>
                    <a:pt x="48" y="95"/>
                    <a:pt x="48" y="95"/>
                    <a:pt x="48" y="95"/>
                  </a:cubicBezTo>
                  <a:cubicBezTo>
                    <a:pt x="43" y="94"/>
                    <a:pt x="38" y="92"/>
                    <a:pt x="34" y="89"/>
                  </a:cubicBezTo>
                  <a:cubicBezTo>
                    <a:pt x="31" y="93"/>
                    <a:pt x="31" y="93"/>
                    <a:pt x="31" y="93"/>
                  </a:cubicBezTo>
                  <a:cubicBezTo>
                    <a:pt x="30" y="94"/>
                    <a:pt x="29" y="94"/>
                    <a:pt x="28" y="94"/>
                  </a:cubicBezTo>
                  <a:cubicBezTo>
                    <a:pt x="27" y="94"/>
                    <a:pt x="26" y="94"/>
                    <a:pt x="25" y="93"/>
                  </a:cubicBezTo>
                  <a:cubicBezTo>
                    <a:pt x="19" y="87"/>
                    <a:pt x="19" y="87"/>
                    <a:pt x="19" y="87"/>
                  </a:cubicBezTo>
                  <a:cubicBezTo>
                    <a:pt x="18" y="86"/>
                    <a:pt x="18" y="83"/>
                    <a:pt x="19" y="81"/>
                  </a:cubicBezTo>
                  <a:cubicBezTo>
                    <a:pt x="23" y="78"/>
                    <a:pt x="23" y="78"/>
                    <a:pt x="23" y="78"/>
                  </a:cubicBezTo>
                  <a:cubicBezTo>
                    <a:pt x="20" y="74"/>
                    <a:pt x="18" y="69"/>
                    <a:pt x="17" y="64"/>
                  </a:cubicBezTo>
                  <a:cubicBezTo>
                    <a:pt x="12" y="64"/>
                    <a:pt x="12" y="64"/>
                    <a:pt x="12" y="64"/>
                  </a:cubicBezTo>
                  <a:cubicBezTo>
                    <a:pt x="10" y="64"/>
                    <a:pt x="8" y="62"/>
                    <a:pt x="8" y="60"/>
                  </a:cubicBezTo>
                  <a:cubicBezTo>
                    <a:pt x="8" y="52"/>
                    <a:pt x="8" y="52"/>
                    <a:pt x="8" y="52"/>
                  </a:cubicBezTo>
                  <a:cubicBezTo>
                    <a:pt x="8" y="50"/>
                    <a:pt x="10" y="48"/>
                    <a:pt x="12" y="48"/>
                  </a:cubicBezTo>
                  <a:cubicBezTo>
                    <a:pt x="17" y="48"/>
                    <a:pt x="17" y="48"/>
                    <a:pt x="17" y="48"/>
                  </a:cubicBezTo>
                  <a:cubicBezTo>
                    <a:pt x="18" y="43"/>
                    <a:pt x="20" y="38"/>
                    <a:pt x="23" y="34"/>
                  </a:cubicBezTo>
                  <a:cubicBezTo>
                    <a:pt x="19" y="31"/>
                    <a:pt x="19" y="31"/>
                    <a:pt x="19" y="31"/>
                  </a:cubicBezTo>
                  <a:cubicBezTo>
                    <a:pt x="18" y="29"/>
                    <a:pt x="18" y="26"/>
                    <a:pt x="19" y="25"/>
                  </a:cubicBezTo>
                  <a:cubicBezTo>
                    <a:pt x="25" y="19"/>
                    <a:pt x="25" y="19"/>
                    <a:pt x="25" y="19"/>
                  </a:cubicBezTo>
                  <a:cubicBezTo>
                    <a:pt x="26" y="18"/>
                    <a:pt x="27" y="18"/>
                    <a:pt x="28" y="18"/>
                  </a:cubicBezTo>
                  <a:cubicBezTo>
                    <a:pt x="29" y="18"/>
                    <a:pt x="30" y="18"/>
                    <a:pt x="31" y="19"/>
                  </a:cubicBezTo>
                  <a:cubicBezTo>
                    <a:pt x="34" y="23"/>
                    <a:pt x="34" y="23"/>
                    <a:pt x="34" y="23"/>
                  </a:cubicBezTo>
                  <a:cubicBezTo>
                    <a:pt x="38" y="20"/>
                    <a:pt x="43" y="18"/>
                    <a:pt x="48" y="17"/>
                  </a:cubicBezTo>
                  <a:cubicBezTo>
                    <a:pt x="48" y="12"/>
                    <a:pt x="48" y="12"/>
                    <a:pt x="48" y="12"/>
                  </a:cubicBezTo>
                  <a:cubicBezTo>
                    <a:pt x="48" y="10"/>
                    <a:pt x="50" y="8"/>
                    <a:pt x="52" y="8"/>
                  </a:cubicBezTo>
                  <a:cubicBezTo>
                    <a:pt x="60" y="8"/>
                    <a:pt x="60" y="8"/>
                    <a:pt x="60" y="8"/>
                  </a:cubicBezTo>
                  <a:moveTo>
                    <a:pt x="60" y="0"/>
                  </a:moveTo>
                  <a:cubicBezTo>
                    <a:pt x="52" y="0"/>
                    <a:pt x="52" y="0"/>
                    <a:pt x="52" y="0"/>
                  </a:cubicBezTo>
                  <a:cubicBezTo>
                    <a:pt x="46" y="0"/>
                    <a:pt x="41" y="5"/>
                    <a:pt x="40" y="11"/>
                  </a:cubicBezTo>
                  <a:cubicBezTo>
                    <a:pt x="38" y="11"/>
                    <a:pt x="37" y="12"/>
                    <a:pt x="35" y="13"/>
                  </a:cubicBezTo>
                  <a:cubicBezTo>
                    <a:pt x="33" y="11"/>
                    <a:pt x="31" y="10"/>
                    <a:pt x="28" y="10"/>
                  </a:cubicBezTo>
                  <a:cubicBezTo>
                    <a:pt x="25" y="10"/>
                    <a:pt x="21" y="11"/>
                    <a:pt x="19" y="14"/>
                  </a:cubicBezTo>
                  <a:cubicBezTo>
                    <a:pt x="14" y="19"/>
                    <a:pt x="14" y="19"/>
                    <a:pt x="14" y="19"/>
                  </a:cubicBezTo>
                  <a:cubicBezTo>
                    <a:pt x="11" y="22"/>
                    <a:pt x="10" y="25"/>
                    <a:pt x="10" y="28"/>
                  </a:cubicBezTo>
                  <a:cubicBezTo>
                    <a:pt x="10" y="31"/>
                    <a:pt x="11" y="33"/>
                    <a:pt x="13" y="35"/>
                  </a:cubicBezTo>
                  <a:cubicBezTo>
                    <a:pt x="12" y="37"/>
                    <a:pt x="11" y="38"/>
                    <a:pt x="11" y="40"/>
                  </a:cubicBezTo>
                  <a:cubicBezTo>
                    <a:pt x="5" y="41"/>
                    <a:pt x="0" y="46"/>
                    <a:pt x="0" y="52"/>
                  </a:cubicBezTo>
                  <a:cubicBezTo>
                    <a:pt x="0" y="60"/>
                    <a:pt x="0" y="60"/>
                    <a:pt x="0" y="60"/>
                  </a:cubicBezTo>
                  <a:cubicBezTo>
                    <a:pt x="0" y="66"/>
                    <a:pt x="5" y="71"/>
                    <a:pt x="11" y="72"/>
                  </a:cubicBezTo>
                  <a:cubicBezTo>
                    <a:pt x="11" y="74"/>
                    <a:pt x="12" y="75"/>
                    <a:pt x="13" y="77"/>
                  </a:cubicBezTo>
                  <a:cubicBezTo>
                    <a:pt x="11" y="79"/>
                    <a:pt x="10" y="81"/>
                    <a:pt x="10" y="84"/>
                  </a:cubicBezTo>
                  <a:cubicBezTo>
                    <a:pt x="10" y="87"/>
                    <a:pt x="11" y="91"/>
                    <a:pt x="14" y="93"/>
                  </a:cubicBezTo>
                  <a:cubicBezTo>
                    <a:pt x="19" y="98"/>
                    <a:pt x="19" y="98"/>
                    <a:pt x="19" y="98"/>
                  </a:cubicBezTo>
                  <a:cubicBezTo>
                    <a:pt x="21" y="101"/>
                    <a:pt x="25" y="102"/>
                    <a:pt x="28" y="102"/>
                  </a:cubicBezTo>
                  <a:cubicBezTo>
                    <a:pt x="31" y="102"/>
                    <a:pt x="33" y="101"/>
                    <a:pt x="35" y="99"/>
                  </a:cubicBezTo>
                  <a:cubicBezTo>
                    <a:pt x="37" y="100"/>
                    <a:pt x="38" y="101"/>
                    <a:pt x="40" y="101"/>
                  </a:cubicBezTo>
                  <a:cubicBezTo>
                    <a:pt x="41" y="107"/>
                    <a:pt x="46" y="112"/>
                    <a:pt x="52" y="112"/>
                  </a:cubicBezTo>
                  <a:cubicBezTo>
                    <a:pt x="60" y="112"/>
                    <a:pt x="60" y="112"/>
                    <a:pt x="60" y="112"/>
                  </a:cubicBezTo>
                  <a:cubicBezTo>
                    <a:pt x="66" y="112"/>
                    <a:pt x="71" y="107"/>
                    <a:pt x="72" y="101"/>
                  </a:cubicBezTo>
                  <a:cubicBezTo>
                    <a:pt x="74" y="101"/>
                    <a:pt x="75" y="100"/>
                    <a:pt x="77" y="99"/>
                  </a:cubicBezTo>
                  <a:cubicBezTo>
                    <a:pt x="79" y="101"/>
                    <a:pt x="81" y="102"/>
                    <a:pt x="84" y="102"/>
                  </a:cubicBezTo>
                  <a:cubicBezTo>
                    <a:pt x="87" y="102"/>
                    <a:pt x="91" y="101"/>
                    <a:pt x="93" y="98"/>
                  </a:cubicBezTo>
                  <a:cubicBezTo>
                    <a:pt x="98" y="93"/>
                    <a:pt x="98" y="93"/>
                    <a:pt x="98" y="93"/>
                  </a:cubicBezTo>
                  <a:cubicBezTo>
                    <a:pt x="101" y="91"/>
                    <a:pt x="102" y="87"/>
                    <a:pt x="102" y="84"/>
                  </a:cubicBezTo>
                  <a:cubicBezTo>
                    <a:pt x="102" y="81"/>
                    <a:pt x="101" y="79"/>
                    <a:pt x="99" y="77"/>
                  </a:cubicBezTo>
                  <a:cubicBezTo>
                    <a:pt x="100" y="75"/>
                    <a:pt x="101" y="74"/>
                    <a:pt x="101" y="72"/>
                  </a:cubicBezTo>
                  <a:cubicBezTo>
                    <a:pt x="107" y="71"/>
                    <a:pt x="112" y="66"/>
                    <a:pt x="112" y="60"/>
                  </a:cubicBezTo>
                  <a:cubicBezTo>
                    <a:pt x="112" y="52"/>
                    <a:pt x="112" y="52"/>
                    <a:pt x="112" y="52"/>
                  </a:cubicBezTo>
                  <a:cubicBezTo>
                    <a:pt x="112" y="46"/>
                    <a:pt x="107" y="41"/>
                    <a:pt x="101" y="40"/>
                  </a:cubicBezTo>
                  <a:cubicBezTo>
                    <a:pt x="101" y="38"/>
                    <a:pt x="100" y="37"/>
                    <a:pt x="99" y="35"/>
                  </a:cubicBezTo>
                  <a:cubicBezTo>
                    <a:pt x="101" y="33"/>
                    <a:pt x="102" y="31"/>
                    <a:pt x="102" y="28"/>
                  </a:cubicBezTo>
                  <a:cubicBezTo>
                    <a:pt x="102" y="25"/>
                    <a:pt x="101" y="22"/>
                    <a:pt x="98" y="19"/>
                  </a:cubicBezTo>
                  <a:cubicBezTo>
                    <a:pt x="93" y="14"/>
                    <a:pt x="93" y="14"/>
                    <a:pt x="93" y="14"/>
                  </a:cubicBezTo>
                  <a:cubicBezTo>
                    <a:pt x="91" y="11"/>
                    <a:pt x="87" y="10"/>
                    <a:pt x="84" y="10"/>
                  </a:cubicBezTo>
                  <a:cubicBezTo>
                    <a:pt x="81" y="10"/>
                    <a:pt x="79" y="11"/>
                    <a:pt x="77" y="13"/>
                  </a:cubicBezTo>
                  <a:cubicBezTo>
                    <a:pt x="75" y="12"/>
                    <a:pt x="74" y="11"/>
                    <a:pt x="72" y="11"/>
                  </a:cubicBezTo>
                  <a:cubicBezTo>
                    <a:pt x="71" y="5"/>
                    <a:pt x="66" y="0"/>
                    <a:pt x="60" y="0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id-ID" sz="1600"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endParaRPr>
            </a:p>
          </p:txBody>
        </p:sp>
        <p:sp>
          <p:nvSpPr>
            <p:cNvPr id="16" name="Freeform 10">
              <a:extLst>
                <a:ext uri="{FF2B5EF4-FFF2-40B4-BE49-F238E27FC236}">
                  <a16:creationId xmlns:a16="http://schemas.microsoft.com/office/drawing/2014/main" id="{0D068A10-C985-86AB-76CD-9B71AFA8AE44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1411288" y="701675"/>
              <a:ext cx="195263" cy="196850"/>
            </a:xfrm>
            <a:custGeom>
              <a:avLst/>
              <a:gdLst>
                <a:gd name="T0" fmla="*/ 26 w 52"/>
                <a:gd name="T1" fmla="*/ 52 h 52"/>
                <a:gd name="T2" fmla="*/ 0 w 52"/>
                <a:gd name="T3" fmla="*/ 26 h 52"/>
                <a:gd name="T4" fmla="*/ 26 w 52"/>
                <a:gd name="T5" fmla="*/ 0 h 52"/>
                <a:gd name="T6" fmla="*/ 52 w 52"/>
                <a:gd name="T7" fmla="*/ 26 h 52"/>
                <a:gd name="T8" fmla="*/ 26 w 52"/>
                <a:gd name="T9" fmla="*/ 52 h 52"/>
                <a:gd name="T10" fmla="*/ 26 w 52"/>
                <a:gd name="T11" fmla="*/ 4 h 52"/>
                <a:gd name="T12" fmla="*/ 4 w 52"/>
                <a:gd name="T13" fmla="*/ 26 h 52"/>
                <a:gd name="T14" fmla="*/ 26 w 52"/>
                <a:gd name="T15" fmla="*/ 48 h 52"/>
                <a:gd name="T16" fmla="*/ 48 w 52"/>
                <a:gd name="T17" fmla="*/ 26 h 52"/>
                <a:gd name="T18" fmla="*/ 26 w 52"/>
                <a:gd name="T19" fmla="*/ 4 h 5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52" h="52">
                  <a:moveTo>
                    <a:pt x="26" y="52"/>
                  </a:moveTo>
                  <a:cubicBezTo>
                    <a:pt x="12" y="52"/>
                    <a:pt x="0" y="40"/>
                    <a:pt x="0" y="26"/>
                  </a:cubicBezTo>
                  <a:cubicBezTo>
                    <a:pt x="0" y="12"/>
                    <a:pt x="12" y="0"/>
                    <a:pt x="26" y="0"/>
                  </a:cubicBezTo>
                  <a:cubicBezTo>
                    <a:pt x="40" y="0"/>
                    <a:pt x="52" y="12"/>
                    <a:pt x="52" y="26"/>
                  </a:cubicBezTo>
                  <a:cubicBezTo>
                    <a:pt x="52" y="40"/>
                    <a:pt x="40" y="52"/>
                    <a:pt x="26" y="52"/>
                  </a:cubicBezTo>
                  <a:close/>
                  <a:moveTo>
                    <a:pt x="26" y="4"/>
                  </a:moveTo>
                  <a:cubicBezTo>
                    <a:pt x="14" y="4"/>
                    <a:pt x="4" y="14"/>
                    <a:pt x="4" y="26"/>
                  </a:cubicBezTo>
                  <a:cubicBezTo>
                    <a:pt x="4" y="38"/>
                    <a:pt x="14" y="48"/>
                    <a:pt x="26" y="48"/>
                  </a:cubicBezTo>
                  <a:cubicBezTo>
                    <a:pt x="38" y="48"/>
                    <a:pt x="48" y="38"/>
                    <a:pt x="48" y="26"/>
                  </a:cubicBezTo>
                  <a:cubicBezTo>
                    <a:pt x="48" y="14"/>
                    <a:pt x="38" y="4"/>
                    <a:pt x="26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id-ID" sz="1600"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endParaRPr>
            </a:p>
          </p:txBody>
        </p:sp>
        <p:sp>
          <p:nvSpPr>
            <p:cNvPr id="17" name="Freeform 11">
              <a:extLst>
                <a:ext uri="{FF2B5EF4-FFF2-40B4-BE49-F238E27FC236}">
                  <a16:creationId xmlns:a16="http://schemas.microsoft.com/office/drawing/2014/main" id="{4A9DD3C7-224A-6E6E-2105-7E523C523197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1455738" y="747713"/>
              <a:ext cx="106363" cy="106363"/>
            </a:xfrm>
            <a:custGeom>
              <a:avLst/>
              <a:gdLst>
                <a:gd name="T0" fmla="*/ 14 w 28"/>
                <a:gd name="T1" fmla="*/ 28 h 28"/>
                <a:gd name="T2" fmla="*/ 0 w 28"/>
                <a:gd name="T3" fmla="*/ 14 h 28"/>
                <a:gd name="T4" fmla="*/ 14 w 28"/>
                <a:gd name="T5" fmla="*/ 0 h 28"/>
                <a:gd name="T6" fmla="*/ 28 w 28"/>
                <a:gd name="T7" fmla="*/ 14 h 28"/>
                <a:gd name="T8" fmla="*/ 14 w 28"/>
                <a:gd name="T9" fmla="*/ 28 h 28"/>
                <a:gd name="T10" fmla="*/ 14 w 28"/>
                <a:gd name="T11" fmla="*/ 4 h 28"/>
                <a:gd name="T12" fmla="*/ 4 w 28"/>
                <a:gd name="T13" fmla="*/ 14 h 28"/>
                <a:gd name="T14" fmla="*/ 14 w 28"/>
                <a:gd name="T15" fmla="*/ 24 h 28"/>
                <a:gd name="T16" fmla="*/ 24 w 28"/>
                <a:gd name="T17" fmla="*/ 14 h 28"/>
                <a:gd name="T18" fmla="*/ 14 w 28"/>
                <a:gd name="T19" fmla="*/ 4 h 2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28" h="28">
                  <a:moveTo>
                    <a:pt x="14" y="28"/>
                  </a:moveTo>
                  <a:cubicBezTo>
                    <a:pt x="6" y="28"/>
                    <a:pt x="0" y="22"/>
                    <a:pt x="0" y="14"/>
                  </a:cubicBezTo>
                  <a:cubicBezTo>
                    <a:pt x="0" y="6"/>
                    <a:pt x="6" y="0"/>
                    <a:pt x="14" y="0"/>
                  </a:cubicBezTo>
                  <a:cubicBezTo>
                    <a:pt x="22" y="0"/>
                    <a:pt x="28" y="6"/>
                    <a:pt x="28" y="14"/>
                  </a:cubicBezTo>
                  <a:cubicBezTo>
                    <a:pt x="28" y="22"/>
                    <a:pt x="22" y="28"/>
                    <a:pt x="14" y="28"/>
                  </a:cubicBezTo>
                  <a:close/>
                  <a:moveTo>
                    <a:pt x="14" y="4"/>
                  </a:moveTo>
                  <a:cubicBezTo>
                    <a:pt x="8" y="4"/>
                    <a:pt x="4" y="8"/>
                    <a:pt x="4" y="14"/>
                  </a:cubicBezTo>
                  <a:cubicBezTo>
                    <a:pt x="4" y="20"/>
                    <a:pt x="8" y="24"/>
                    <a:pt x="14" y="24"/>
                  </a:cubicBezTo>
                  <a:cubicBezTo>
                    <a:pt x="20" y="24"/>
                    <a:pt x="24" y="20"/>
                    <a:pt x="24" y="14"/>
                  </a:cubicBezTo>
                  <a:cubicBezTo>
                    <a:pt x="24" y="8"/>
                    <a:pt x="20" y="4"/>
                    <a:pt x="14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id-ID" sz="1600"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endParaRPr>
            </a:p>
          </p:txBody>
        </p:sp>
      </p:grpSp>
      <p:grpSp>
        <p:nvGrpSpPr>
          <p:cNvPr id="18" name="Group 21">
            <a:extLst>
              <a:ext uri="{FF2B5EF4-FFF2-40B4-BE49-F238E27FC236}">
                <a16:creationId xmlns:a16="http://schemas.microsoft.com/office/drawing/2014/main" id="{015C2D0B-D53A-3510-CC38-24547A05AB91}"/>
              </a:ext>
            </a:extLst>
          </p:cNvPr>
          <p:cNvGrpSpPr/>
          <p:nvPr/>
        </p:nvGrpSpPr>
        <p:grpSpPr>
          <a:xfrm>
            <a:off x="5778166" y="922208"/>
            <a:ext cx="423629" cy="370251"/>
            <a:chOff x="8296275" y="8293096"/>
            <a:chExt cx="1385888" cy="1211261"/>
          </a:xfrm>
          <a:solidFill>
            <a:schemeClr val="bg1"/>
          </a:solidFill>
        </p:grpSpPr>
        <p:sp>
          <p:nvSpPr>
            <p:cNvPr id="19" name="Freeform 8">
              <a:extLst>
                <a:ext uri="{FF2B5EF4-FFF2-40B4-BE49-F238E27FC236}">
                  <a16:creationId xmlns:a16="http://schemas.microsoft.com/office/drawing/2014/main" id="{1AC6E3DF-DF12-0C94-BDD4-7A736202E7FE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8296275" y="8293096"/>
              <a:ext cx="1385888" cy="1211261"/>
            </a:xfrm>
            <a:custGeom>
              <a:avLst/>
              <a:gdLst>
                <a:gd name="T0" fmla="*/ 368 w 369"/>
                <a:gd name="T1" fmla="*/ 190 h 323"/>
                <a:gd name="T2" fmla="*/ 322 w 369"/>
                <a:gd name="T3" fmla="*/ 17 h 323"/>
                <a:gd name="T4" fmla="*/ 299 w 369"/>
                <a:gd name="T5" fmla="*/ 0 h 323"/>
                <a:gd name="T6" fmla="*/ 184 w 369"/>
                <a:gd name="T7" fmla="*/ 0 h 323"/>
                <a:gd name="T8" fmla="*/ 69 w 369"/>
                <a:gd name="T9" fmla="*/ 0 h 323"/>
                <a:gd name="T10" fmla="*/ 47 w 369"/>
                <a:gd name="T11" fmla="*/ 17 h 323"/>
                <a:gd name="T12" fmla="*/ 1 w 369"/>
                <a:gd name="T13" fmla="*/ 190 h 323"/>
                <a:gd name="T14" fmla="*/ 0 w 369"/>
                <a:gd name="T15" fmla="*/ 196 h 323"/>
                <a:gd name="T16" fmla="*/ 0 w 369"/>
                <a:gd name="T17" fmla="*/ 276 h 323"/>
                <a:gd name="T18" fmla="*/ 46 w 369"/>
                <a:gd name="T19" fmla="*/ 323 h 323"/>
                <a:gd name="T20" fmla="*/ 323 w 369"/>
                <a:gd name="T21" fmla="*/ 323 h 323"/>
                <a:gd name="T22" fmla="*/ 369 w 369"/>
                <a:gd name="T23" fmla="*/ 276 h 323"/>
                <a:gd name="T24" fmla="*/ 369 w 369"/>
                <a:gd name="T25" fmla="*/ 196 h 323"/>
                <a:gd name="T26" fmla="*/ 368 w 369"/>
                <a:gd name="T27" fmla="*/ 190 h 323"/>
                <a:gd name="T28" fmla="*/ 346 w 369"/>
                <a:gd name="T29" fmla="*/ 276 h 323"/>
                <a:gd name="T30" fmla="*/ 323 w 369"/>
                <a:gd name="T31" fmla="*/ 299 h 323"/>
                <a:gd name="T32" fmla="*/ 46 w 369"/>
                <a:gd name="T33" fmla="*/ 299 h 323"/>
                <a:gd name="T34" fmla="*/ 23 w 369"/>
                <a:gd name="T35" fmla="*/ 276 h 323"/>
                <a:gd name="T36" fmla="*/ 23 w 369"/>
                <a:gd name="T37" fmla="*/ 196 h 323"/>
                <a:gd name="T38" fmla="*/ 69 w 369"/>
                <a:gd name="T39" fmla="*/ 23 h 323"/>
                <a:gd name="T40" fmla="*/ 299 w 369"/>
                <a:gd name="T41" fmla="*/ 23 h 323"/>
                <a:gd name="T42" fmla="*/ 346 w 369"/>
                <a:gd name="T43" fmla="*/ 196 h 323"/>
                <a:gd name="T44" fmla="*/ 346 w 369"/>
                <a:gd name="T45" fmla="*/ 276 h 32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</a:cxnLst>
              <a:rect l="0" t="0" r="r" b="b"/>
              <a:pathLst>
                <a:path w="369" h="323">
                  <a:moveTo>
                    <a:pt x="368" y="190"/>
                  </a:moveTo>
                  <a:cubicBezTo>
                    <a:pt x="322" y="17"/>
                    <a:pt x="322" y="17"/>
                    <a:pt x="322" y="17"/>
                  </a:cubicBezTo>
                  <a:cubicBezTo>
                    <a:pt x="319" y="7"/>
                    <a:pt x="310" y="0"/>
                    <a:pt x="299" y="0"/>
                  </a:cubicBezTo>
                  <a:cubicBezTo>
                    <a:pt x="184" y="0"/>
                    <a:pt x="184" y="0"/>
                    <a:pt x="184" y="0"/>
                  </a:cubicBezTo>
                  <a:cubicBezTo>
                    <a:pt x="69" y="0"/>
                    <a:pt x="69" y="0"/>
                    <a:pt x="69" y="0"/>
                  </a:cubicBezTo>
                  <a:cubicBezTo>
                    <a:pt x="59" y="0"/>
                    <a:pt x="50" y="7"/>
                    <a:pt x="47" y="17"/>
                  </a:cubicBezTo>
                  <a:cubicBezTo>
                    <a:pt x="1" y="190"/>
                    <a:pt x="1" y="190"/>
                    <a:pt x="1" y="190"/>
                  </a:cubicBezTo>
                  <a:cubicBezTo>
                    <a:pt x="0" y="192"/>
                    <a:pt x="0" y="194"/>
                    <a:pt x="0" y="196"/>
                  </a:cubicBezTo>
                  <a:cubicBezTo>
                    <a:pt x="0" y="276"/>
                    <a:pt x="0" y="276"/>
                    <a:pt x="0" y="276"/>
                  </a:cubicBezTo>
                  <a:cubicBezTo>
                    <a:pt x="0" y="302"/>
                    <a:pt x="21" y="323"/>
                    <a:pt x="46" y="323"/>
                  </a:cubicBezTo>
                  <a:cubicBezTo>
                    <a:pt x="323" y="323"/>
                    <a:pt x="323" y="323"/>
                    <a:pt x="323" y="323"/>
                  </a:cubicBezTo>
                  <a:cubicBezTo>
                    <a:pt x="348" y="323"/>
                    <a:pt x="369" y="302"/>
                    <a:pt x="369" y="276"/>
                  </a:cubicBezTo>
                  <a:cubicBezTo>
                    <a:pt x="369" y="196"/>
                    <a:pt x="369" y="196"/>
                    <a:pt x="369" y="196"/>
                  </a:cubicBezTo>
                  <a:cubicBezTo>
                    <a:pt x="369" y="194"/>
                    <a:pt x="368" y="192"/>
                    <a:pt x="368" y="190"/>
                  </a:cubicBezTo>
                  <a:close/>
                  <a:moveTo>
                    <a:pt x="346" y="276"/>
                  </a:moveTo>
                  <a:cubicBezTo>
                    <a:pt x="346" y="289"/>
                    <a:pt x="335" y="299"/>
                    <a:pt x="323" y="299"/>
                  </a:cubicBezTo>
                  <a:cubicBezTo>
                    <a:pt x="46" y="299"/>
                    <a:pt x="46" y="299"/>
                    <a:pt x="46" y="299"/>
                  </a:cubicBezTo>
                  <a:cubicBezTo>
                    <a:pt x="34" y="299"/>
                    <a:pt x="23" y="289"/>
                    <a:pt x="23" y="276"/>
                  </a:cubicBezTo>
                  <a:cubicBezTo>
                    <a:pt x="23" y="196"/>
                    <a:pt x="23" y="196"/>
                    <a:pt x="23" y="196"/>
                  </a:cubicBezTo>
                  <a:cubicBezTo>
                    <a:pt x="69" y="23"/>
                    <a:pt x="69" y="23"/>
                    <a:pt x="69" y="23"/>
                  </a:cubicBezTo>
                  <a:cubicBezTo>
                    <a:pt x="299" y="23"/>
                    <a:pt x="299" y="23"/>
                    <a:pt x="299" y="23"/>
                  </a:cubicBezTo>
                  <a:cubicBezTo>
                    <a:pt x="346" y="196"/>
                    <a:pt x="346" y="196"/>
                    <a:pt x="346" y="196"/>
                  </a:cubicBezTo>
                  <a:lnTo>
                    <a:pt x="346" y="276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id-ID" sz="1600"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endParaRPr>
            </a:p>
          </p:txBody>
        </p:sp>
        <p:sp>
          <p:nvSpPr>
            <p:cNvPr id="20" name="Freeform 9">
              <a:extLst>
                <a:ext uri="{FF2B5EF4-FFF2-40B4-BE49-F238E27FC236}">
                  <a16:creationId xmlns:a16="http://schemas.microsoft.com/office/drawing/2014/main" id="{8A3ADA4F-372E-39B6-BB4C-DFF89D45F69E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8461376" y="8466137"/>
              <a:ext cx="1055689" cy="776288"/>
            </a:xfrm>
            <a:custGeom>
              <a:avLst/>
              <a:gdLst>
                <a:gd name="T0" fmla="*/ 229 w 281"/>
                <a:gd name="T1" fmla="*/ 0 h 207"/>
                <a:gd name="T2" fmla="*/ 51 w 281"/>
                <a:gd name="T3" fmla="*/ 0 h 207"/>
                <a:gd name="T4" fmla="*/ 40 w 281"/>
                <a:gd name="T5" fmla="*/ 9 h 207"/>
                <a:gd name="T6" fmla="*/ 0 w 281"/>
                <a:gd name="T7" fmla="*/ 147 h 207"/>
                <a:gd name="T8" fmla="*/ 2 w 281"/>
                <a:gd name="T9" fmla="*/ 157 h 207"/>
                <a:gd name="T10" fmla="*/ 12 w 281"/>
                <a:gd name="T11" fmla="*/ 161 h 207"/>
                <a:gd name="T12" fmla="*/ 45 w 281"/>
                <a:gd name="T13" fmla="*/ 161 h 207"/>
                <a:gd name="T14" fmla="*/ 58 w 281"/>
                <a:gd name="T15" fmla="*/ 161 h 207"/>
                <a:gd name="T16" fmla="*/ 64 w 281"/>
                <a:gd name="T17" fmla="*/ 161 h 207"/>
                <a:gd name="T18" fmla="*/ 81 w 281"/>
                <a:gd name="T19" fmla="*/ 195 h 207"/>
                <a:gd name="T20" fmla="*/ 101 w 281"/>
                <a:gd name="T21" fmla="*/ 207 h 207"/>
                <a:gd name="T22" fmla="*/ 179 w 281"/>
                <a:gd name="T23" fmla="*/ 207 h 207"/>
                <a:gd name="T24" fmla="*/ 200 w 281"/>
                <a:gd name="T25" fmla="*/ 195 h 207"/>
                <a:gd name="T26" fmla="*/ 217 w 281"/>
                <a:gd name="T27" fmla="*/ 161 h 207"/>
                <a:gd name="T28" fmla="*/ 223 w 281"/>
                <a:gd name="T29" fmla="*/ 161 h 207"/>
                <a:gd name="T30" fmla="*/ 236 w 281"/>
                <a:gd name="T31" fmla="*/ 161 h 207"/>
                <a:gd name="T32" fmla="*/ 269 w 281"/>
                <a:gd name="T33" fmla="*/ 161 h 207"/>
                <a:gd name="T34" fmla="*/ 278 w 281"/>
                <a:gd name="T35" fmla="*/ 157 h 207"/>
                <a:gd name="T36" fmla="*/ 280 w 281"/>
                <a:gd name="T37" fmla="*/ 147 h 207"/>
                <a:gd name="T38" fmla="*/ 241 w 281"/>
                <a:gd name="T39" fmla="*/ 9 h 207"/>
                <a:gd name="T40" fmla="*/ 229 w 281"/>
                <a:gd name="T41" fmla="*/ 0 h 207"/>
                <a:gd name="T42" fmla="*/ 236 w 281"/>
                <a:gd name="T43" fmla="*/ 138 h 207"/>
                <a:gd name="T44" fmla="*/ 217 w 281"/>
                <a:gd name="T45" fmla="*/ 138 h 207"/>
                <a:gd name="T46" fmla="*/ 196 w 281"/>
                <a:gd name="T47" fmla="*/ 151 h 207"/>
                <a:gd name="T48" fmla="*/ 179 w 281"/>
                <a:gd name="T49" fmla="*/ 184 h 207"/>
                <a:gd name="T50" fmla="*/ 101 w 281"/>
                <a:gd name="T51" fmla="*/ 184 h 207"/>
                <a:gd name="T52" fmla="*/ 85 w 281"/>
                <a:gd name="T53" fmla="*/ 151 h 207"/>
                <a:gd name="T54" fmla="*/ 64 w 281"/>
                <a:gd name="T55" fmla="*/ 138 h 207"/>
                <a:gd name="T56" fmla="*/ 45 w 281"/>
                <a:gd name="T57" fmla="*/ 138 h 207"/>
                <a:gd name="T58" fmla="*/ 18 w 281"/>
                <a:gd name="T59" fmla="*/ 138 h 207"/>
                <a:gd name="T60" fmla="*/ 51 w 281"/>
                <a:gd name="T61" fmla="*/ 12 h 207"/>
                <a:gd name="T62" fmla="*/ 229 w 281"/>
                <a:gd name="T63" fmla="*/ 12 h 207"/>
                <a:gd name="T64" fmla="*/ 263 w 281"/>
                <a:gd name="T65" fmla="*/ 138 h 207"/>
                <a:gd name="T66" fmla="*/ 236 w 281"/>
                <a:gd name="T67" fmla="*/ 138 h 20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</a:cxnLst>
              <a:rect l="0" t="0" r="r" b="b"/>
              <a:pathLst>
                <a:path w="281" h="207">
                  <a:moveTo>
                    <a:pt x="229" y="0"/>
                  </a:moveTo>
                  <a:cubicBezTo>
                    <a:pt x="51" y="0"/>
                    <a:pt x="51" y="0"/>
                    <a:pt x="51" y="0"/>
                  </a:cubicBezTo>
                  <a:cubicBezTo>
                    <a:pt x="46" y="0"/>
                    <a:pt x="41" y="4"/>
                    <a:pt x="40" y="9"/>
                  </a:cubicBezTo>
                  <a:cubicBezTo>
                    <a:pt x="0" y="147"/>
                    <a:pt x="0" y="147"/>
                    <a:pt x="0" y="147"/>
                  </a:cubicBezTo>
                  <a:cubicBezTo>
                    <a:pt x="0" y="150"/>
                    <a:pt x="0" y="154"/>
                    <a:pt x="2" y="157"/>
                  </a:cubicBezTo>
                  <a:cubicBezTo>
                    <a:pt x="5" y="160"/>
                    <a:pt x="8" y="161"/>
                    <a:pt x="12" y="161"/>
                  </a:cubicBezTo>
                  <a:cubicBezTo>
                    <a:pt x="45" y="161"/>
                    <a:pt x="45" y="161"/>
                    <a:pt x="45" y="161"/>
                  </a:cubicBezTo>
                  <a:cubicBezTo>
                    <a:pt x="58" y="161"/>
                    <a:pt x="58" y="161"/>
                    <a:pt x="58" y="161"/>
                  </a:cubicBezTo>
                  <a:cubicBezTo>
                    <a:pt x="64" y="161"/>
                    <a:pt x="64" y="161"/>
                    <a:pt x="64" y="161"/>
                  </a:cubicBezTo>
                  <a:cubicBezTo>
                    <a:pt x="81" y="195"/>
                    <a:pt x="81" y="195"/>
                    <a:pt x="81" y="195"/>
                  </a:cubicBezTo>
                  <a:cubicBezTo>
                    <a:pt x="85" y="203"/>
                    <a:pt x="93" y="207"/>
                    <a:pt x="101" y="207"/>
                  </a:cubicBezTo>
                  <a:cubicBezTo>
                    <a:pt x="179" y="207"/>
                    <a:pt x="179" y="207"/>
                    <a:pt x="179" y="207"/>
                  </a:cubicBezTo>
                  <a:cubicBezTo>
                    <a:pt x="188" y="207"/>
                    <a:pt x="196" y="203"/>
                    <a:pt x="200" y="195"/>
                  </a:cubicBezTo>
                  <a:cubicBezTo>
                    <a:pt x="217" y="161"/>
                    <a:pt x="217" y="161"/>
                    <a:pt x="217" y="161"/>
                  </a:cubicBezTo>
                  <a:cubicBezTo>
                    <a:pt x="223" y="161"/>
                    <a:pt x="223" y="161"/>
                    <a:pt x="223" y="161"/>
                  </a:cubicBezTo>
                  <a:cubicBezTo>
                    <a:pt x="236" y="161"/>
                    <a:pt x="236" y="161"/>
                    <a:pt x="236" y="161"/>
                  </a:cubicBezTo>
                  <a:cubicBezTo>
                    <a:pt x="269" y="161"/>
                    <a:pt x="269" y="161"/>
                    <a:pt x="269" y="161"/>
                  </a:cubicBezTo>
                  <a:cubicBezTo>
                    <a:pt x="273" y="161"/>
                    <a:pt x="276" y="160"/>
                    <a:pt x="278" y="157"/>
                  </a:cubicBezTo>
                  <a:cubicBezTo>
                    <a:pt x="280" y="154"/>
                    <a:pt x="281" y="150"/>
                    <a:pt x="280" y="147"/>
                  </a:cubicBezTo>
                  <a:cubicBezTo>
                    <a:pt x="241" y="9"/>
                    <a:pt x="241" y="9"/>
                    <a:pt x="241" y="9"/>
                  </a:cubicBezTo>
                  <a:cubicBezTo>
                    <a:pt x="239" y="4"/>
                    <a:pt x="235" y="0"/>
                    <a:pt x="229" y="0"/>
                  </a:cubicBezTo>
                  <a:close/>
                  <a:moveTo>
                    <a:pt x="236" y="138"/>
                  </a:moveTo>
                  <a:cubicBezTo>
                    <a:pt x="217" y="138"/>
                    <a:pt x="217" y="138"/>
                    <a:pt x="217" y="138"/>
                  </a:cubicBezTo>
                  <a:cubicBezTo>
                    <a:pt x="208" y="138"/>
                    <a:pt x="200" y="143"/>
                    <a:pt x="196" y="151"/>
                  </a:cubicBezTo>
                  <a:cubicBezTo>
                    <a:pt x="179" y="184"/>
                    <a:pt x="179" y="184"/>
                    <a:pt x="179" y="184"/>
                  </a:cubicBezTo>
                  <a:cubicBezTo>
                    <a:pt x="101" y="184"/>
                    <a:pt x="101" y="184"/>
                    <a:pt x="101" y="184"/>
                  </a:cubicBezTo>
                  <a:cubicBezTo>
                    <a:pt x="85" y="151"/>
                    <a:pt x="85" y="151"/>
                    <a:pt x="85" y="151"/>
                  </a:cubicBezTo>
                  <a:cubicBezTo>
                    <a:pt x="81" y="143"/>
                    <a:pt x="73" y="138"/>
                    <a:pt x="64" y="138"/>
                  </a:cubicBezTo>
                  <a:cubicBezTo>
                    <a:pt x="45" y="138"/>
                    <a:pt x="45" y="138"/>
                    <a:pt x="45" y="138"/>
                  </a:cubicBezTo>
                  <a:cubicBezTo>
                    <a:pt x="18" y="138"/>
                    <a:pt x="18" y="138"/>
                    <a:pt x="18" y="138"/>
                  </a:cubicBezTo>
                  <a:cubicBezTo>
                    <a:pt x="51" y="12"/>
                    <a:pt x="51" y="12"/>
                    <a:pt x="51" y="12"/>
                  </a:cubicBezTo>
                  <a:cubicBezTo>
                    <a:pt x="229" y="12"/>
                    <a:pt x="229" y="12"/>
                    <a:pt x="229" y="12"/>
                  </a:cubicBezTo>
                  <a:cubicBezTo>
                    <a:pt x="263" y="138"/>
                    <a:pt x="263" y="138"/>
                    <a:pt x="263" y="138"/>
                  </a:cubicBezTo>
                  <a:lnTo>
                    <a:pt x="236" y="138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id-ID" sz="1600"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endParaRPr>
            </a:p>
          </p:txBody>
        </p:sp>
      </p:grpSp>
      <p:grpSp>
        <p:nvGrpSpPr>
          <p:cNvPr id="24" name="Group 29">
            <a:extLst>
              <a:ext uri="{FF2B5EF4-FFF2-40B4-BE49-F238E27FC236}">
                <a16:creationId xmlns:a16="http://schemas.microsoft.com/office/drawing/2014/main" id="{84C062B2-4C57-32A8-8DEB-92B61532C307}"/>
              </a:ext>
            </a:extLst>
          </p:cNvPr>
          <p:cNvGrpSpPr/>
          <p:nvPr/>
        </p:nvGrpSpPr>
        <p:grpSpPr>
          <a:xfrm rot="16200000">
            <a:off x="2259495" y="4089259"/>
            <a:ext cx="852494" cy="1162891"/>
            <a:chOff x="9918988" y="355852"/>
            <a:chExt cx="852494" cy="1162891"/>
          </a:xfrm>
        </p:grpSpPr>
        <p:sp>
          <p:nvSpPr>
            <p:cNvPr id="25" name="Triangle 30">
              <a:extLst>
                <a:ext uri="{FF2B5EF4-FFF2-40B4-BE49-F238E27FC236}">
                  <a16:creationId xmlns:a16="http://schemas.microsoft.com/office/drawing/2014/main" id="{9291B9DB-2693-9843-A493-2D0DBBED34EB}"/>
                </a:ext>
              </a:extLst>
            </p:cNvPr>
            <p:cNvSpPr/>
            <p:nvPr/>
          </p:nvSpPr>
          <p:spPr>
            <a:xfrm rot="10800000">
              <a:off x="9929055" y="1104594"/>
              <a:ext cx="832360" cy="414149"/>
            </a:xfrm>
            <a:prstGeom prst="triangle">
              <a:avLst>
                <a:gd name="adj" fmla="val 49285"/>
              </a:avLst>
            </a:prstGeom>
            <a:noFill/>
            <a:ln w="28575">
              <a:solidFill>
                <a:schemeClr val="accent4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1600"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endParaRPr>
            </a:p>
          </p:txBody>
        </p:sp>
        <p:sp>
          <p:nvSpPr>
            <p:cNvPr id="26" name="Rectangle 31">
              <a:extLst>
                <a:ext uri="{FF2B5EF4-FFF2-40B4-BE49-F238E27FC236}">
                  <a16:creationId xmlns:a16="http://schemas.microsoft.com/office/drawing/2014/main" id="{C226BA00-A3B9-AD24-5022-CF3B165D95FB}"/>
                </a:ext>
              </a:extLst>
            </p:cNvPr>
            <p:cNvSpPr/>
            <p:nvPr/>
          </p:nvSpPr>
          <p:spPr>
            <a:xfrm rot="2700000">
              <a:off x="9918988" y="355852"/>
              <a:ext cx="852494" cy="852494"/>
            </a:xfrm>
            <a:prstGeom prst="rect">
              <a:avLst/>
            </a:prstGeom>
            <a:solidFill>
              <a:srgbClr val="002060"/>
            </a:solidFill>
            <a:ln w="28575">
              <a:solidFill>
                <a:schemeClr val="accent4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1600" dirty="0"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endParaRPr>
            </a:p>
          </p:txBody>
        </p:sp>
      </p:grpSp>
      <p:grpSp>
        <p:nvGrpSpPr>
          <p:cNvPr id="27" name="Group 34">
            <a:extLst>
              <a:ext uri="{FF2B5EF4-FFF2-40B4-BE49-F238E27FC236}">
                <a16:creationId xmlns:a16="http://schemas.microsoft.com/office/drawing/2014/main" id="{EB283969-9E2F-853C-AD33-EF947F0DF7E5}"/>
              </a:ext>
            </a:extLst>
          </p:cNvPr>
          <p:cNvGrpSpPr/>
          <p:nvPr/>
        </p:nvGrpSpPr>
        <p:grpSpPr>
          <a:xfrm>
            <a:off x="2255781" y="4537650"/>
            <a:ext cx="529751" cy="266107"/>
            <a:chOff x="5567364" y="4362450"/>
            <a:chExt cx="341313" cy="171450"/>
          </a:xfrm>
          <a:solidFill>
            <a:schemeClr val="bg1"/>
          </a:solidFill>
        </p:grpSpPr>
        <p:sp>
          <p:nvSpPr>
            <p:cNvPr id="28" name="Freeform 201">
              <a:extLst>
                <a:ext uri="{FF2B5EF4-FFF2-40B4-BE49-F238E27FC236}">
                  <a16:creationId xmlns:a16="http://schemas.microsoft.com/office/drawing/2014/main" id="{D27DE24E-D3F8-4BEA-D89F-8969E4148AE3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5567364" y="4362450"/>
              <a:ext cx="341313" cy="171450"/>
            </a:xfrm>
            <a:custGeom>
              <a:avLst/>
              <a:gdLst>
                <a:gd name="T0" fmla="*/ 98 w 128"/>
                <a:gd name="T1" fmla="*/ 0 h 64"/>
                <a:gd name="T2" fmla="*/ 30 w 128"/>
                <a:gd name="T3" fmla="*/ 0 h 64"/>
                <a:gd name="T4" fmla="*/ 0 w 128"/>
                <a:gd name="T5" fmla="*/ 32 h 64"/>
                <a:gd name="T6" fmla="*/ 30 w 128"/>
                <a:gd name="T7" fmla="*/ 64 h 64"/>
                <a:gd name="T8" fmla="*/ 98 w 128"/>
                <a:gd name="T9" fmla="*/ 64 h 64"/>
                <a:gd name="T10" fmla="*/ 128 w 128"/>
                <a:gd name="T11" fmla="*/ 32 h 64"/>
                <a:gd name="T12" fmla="*/ 98 w 128"/>
                <a:gd name="T13" fmla="*/ 0 h 64"/>
                <a:gd name="T14" fmla="*/ 8 w 128"/>
                <a:gd name="T15" fmla="*/ 32 h 64"/>
                <a:gd name="T16" fmla="*/ 30 w 128"/>
                <a:gd name="T17" fmla="*/ 8 h 64"/>
                <a:gd name="T18" fmla="*/ 62 w 128"/>
                <a:gd name="T19" fmla="*/ 8 h 64"/>
                <a:gd name="T20" fmla="*/ 62 w 128"/>
                <a:gd name="T21" fmla="*/ 56 h 64"/>
                <a:gd name="T22" fmla="*/ 30 w 128"/>
                <a:gd name="T23" fmla="*/ 56 h 64"/>
                <a:gd name="T24" fmla="*/ 8 w 128"/>
                <a:gd name="T25" fmla="*/ 32 h 64"/>
                <a:gd name="T26" fmla="*/ 98 w 128"/>
                <a:gd name="T27" fmla="*/ 56 h 64"/>
                <a:gd name="T28" fmla="*/ 67 w 128"/>
                <a:gd name="T29" fmla="*/ 56 h 64"/>
                <a:gd name="T30" fmla="*/ 67 w 128"/>
                <a:gd name="T31" fmla="*/ 8 h 64"/>
                <a:gd name="T32" fmla="*/ 98 w 128"/>
                <a:gd name="T33" fmla="*/ 8 h 64"/>
                <a:gd name="T34" fmla="*/ 120 w 128"/>
                <a:gd name="T35" fmla="*/ 32 h 64"/>
                <a:gd name="T36" fmla="*/ 98 w 128"/>
                <a:gd name="T37" fmla="*/ 56 h 6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</a:cxnLst>
              <a:rect l="0" t="0" r="r" b="b"/>
              <a:pathLst>
                <a:path w="128" h="64">
                  <a:moveTo>
                    <a:pt x="98" y="0"/>
                  </a:moveTo>
                  <a:cubicBezTo>
                    <a:pt x="30" y="0"/>
                    <a:pt x="30" y="0"/>
                    <a:pt x="30" y="0"/>
                  </a:cubicBezTo>
                  <a:cubicBezTo>
                    <a:pt x="14" y="0"/>
                    <a:pt x="0" y="14"/>
                    <a:pt x="0" y="32"/>
                  </a:cubicBezTo>
                  <a:cubicBezTo>
                    <a:pt x="0" y="50"/>
                    <a:pt x="14" y="64"/>
                    <a:pt x="30" y="64"/>
                  </a:cubicBezTo>
                  <a:cubicBezTo>
                    <a:pt x="98" y="64"/>
                    <a:pt x="98" y="64"/>
                    <a:pt x="98" y="64"/>
                  </a:cubicBezTo>
                  <a:cubicBezTo>
                    <a:pt x="114" y="64"/>
                    <a:pt x="128" y="50"/>
                    <a:pt x="128" y="32"/>
                  </a:cubicBezTo>
                  <a:cubicBezTo>
                    <a:pt x="128" y="14"/>
                    <a:pt x="114" y="0"/>
                    <a:pt x="98" y="0"/>
                  </a:cubicBezTo>
                  <a:close/>
                  <a:moveTo>
                    <a:pt x="8" y="32"/>
                  </a:moveTo>
                  <a:cubicBezTo>
                    <a:pt x="8" y="19"/>
                    <a:pt x="18" y="8"/>
                    <a:pt x="30" y="8"/>
                  </a:cubicBezTo>
                  <a:cubicBezTo>
                    <a:pt x="62" y="8"/>
                    <a:pt x="62" y="8"/>
                    <a:pt x="62" y="8"/>
                  </a:cubicBezTo>
                  <a:cubicBezTo>
                    <a:pt x="60" y="21"/>
                    <a:pt x="60" y="43"/>
                    <a:pt x="62" y="56"/>
                  </a:cubicBezTo>
                  <a:cubicBezTo>
                    <a:pt x="30" y="56"/>
                    <a:pt x="30" y="56"/>
                    <a:pt x="30" y="56"/>
                  </a:cubicBezTo>
                  <a:cubicBezTo>
                    <a:pt x="18" y="56"/>
                    <a:pt x="8" y="45"/>
                    <a:pt x="8" y="32"/>
                  </a:cubicBezTo>
                  <a:close/>
                  <a:moveTo>
                    <a:pt x="98" y="56"/>
                  </a:moveTo>
                  <a:cubicBezTo>
                    <a:pt x="67" y="56"/>
                    <a:pt x="67" y="56"/>
                    <a:pt x="67" y="56"/>
                  </a:cubicBezTo>
                  <a:cubicBezTo>
                    <a:pt x="64" y="44"/>
                    <a:pt x="64" y="20"/>
                    <a:pt x="67" y="8"/>
                  </a:cubicBezTo>
                  <a:cubicBezTo>
                    <a:pt x="98" y="8"/>
                    <a:pt x="98" y="8"/>
                    <a:pt x="98" y="8"/>
                  </a:cubicBezTo>
                  <a:cubicBezTo>
                    <a:pt x="110" y="8"/>
                    <a:pt x="120" y="19"/>
                    <a:pt x="120" y="32"/>
                  </a:cubicBezTo>
                  <a:cubicBezTo>
                    <a:pt x="120" y="45"/>
                    <a:pt x="110" y="56"/>
                    <a:pt x="98" y="56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id-ID" sz="1600">
                <a:solidFill>
                  <a:schemeClr val="bg1"/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endParaRPr>
            </a:p>
          </p:txBody>
        </p:sp>
        <p:sp>
          <p:nvSpPr>
            <p:cNvPr id="29" name="Freeform 202">
              <a:extLst>
                <a:ext uri="{FF2B5EF4-FFF2-40B4-BE49-F238E27FC236}">
                  <a16:creationId xmlns:a16="http://schemas.microsoft.com/office/drawing/2014/main" id="{D13406F4-29E6-F8FC-E6C4-1D762A0C7473}"/>
                </a:ext>
              </a:extLst>
            </p:cNvPr>
            <p:cNvSpPr>
              <a:spLocks/>
            </p:cNvSpPr>
            <p:nvPr/>
          </p:nvSpPr>
          <p:spPr bwMode="auto">
            <a:xfrm>
              <a:off x="5603876" y="4400550"/>
              <a:ext cx="53975" cy="52388"/>
            </a:xfrm>
            <a:custGeom>
              <a:avLst/>
              <a:gdLst>
                <a:gd name="T0" fmla="*/ 18 w 20"/>
                <a:gd name="T1" fmla="*/ 0 h 20"/>
                <a:gd name="T2" fmla="*/ 0 w 20"/>
                <a:gd name="T3" fmla="*/ 18 h 20"/>
                <a:gd name="T4" fmla="*/ 2 w 20"/>
                <a:gd name="T5" fmla="*/ 20 h 20"/>
                <a:gd name="T6" fmla="*/ 4 w 20"/>
                <a:gd name="T7" fmla="*/ 18 h 20"/>
                <a:gd name="T8" fmla="*/ 18 w 20"/>
                <a:gd name="T9" fmla="*/ 4 h 20"/>
                <a:gd name="T10" fmla="*/ 20 w 20"/>
                <a:gd name="T11" fmla="*/ 2 h 20"/>
                <a:gd name="T12" fmla="*/ 18 w 20"/>
                <a:gd name="T13" fmla="*/ 0 h 2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20" h="20">
                  <a:moveTo>
                    <a:pt x="18" y="0"/>
                  </a:moveTo>
                  <a:cubicBezTo>
                    <a:pt x="8" y="0"/>
                    <a:pt x="0" y="8"/>
                    <a:pt x="0" y="18"/>
                  </a:cubicBezTo>
                  <a:cubicBezTo>
                    <a:pt x="0" y="19"/>
                    <a:pt x="1" y="20"/>
                    <a:pt x="2" y="20"/>
                  </a:cubicBezTo>
                  <a:cubicBezTo>
                    <a:pt x="3" y="20"/>
                    <a:pt x="4" y="19"/>
                    <a:pt x="4" y="18"/>
                  </a:cubicBezTo>
                  <a:cubicBezTo>
                    <a:pt x="4" y="10"/>
                    <a:pt x="10" y="4"/>
                    <a:pt x="18" y="4"/>
                  </a:cubicBezTo>
                  <a:cubicBezTo>
                    <a:pt x="19" y="4"/>
                    <a:pt x="20" y="3"/>
                    <a:pt x="20" y="2"/>
                  </a:cubicBezTo>
                  <a:cubicBezTo>
                    <a:pt x="20" y="1"/>
                    <a:pt x="19" y="0"/>
                    <a:pt x="18" y="0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id-ID" sz="1600">
                <a:solidFill>
                  <a:schemeClr val="bg1"/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endParaRPr>
            </a:p>
          </p:txBody>
        </p:sp>
        <p:sp>
          <p:nvSpPr>
            <p:cNvPr id="30" name="Freeform 203">
              <a:extLst>
                <a:ext uri="{FF2B5EF4-FFF2-40B4-BE49-F238E27FC236}">
                  <a16:creationId xmlns:a16="http://schemas.microsoft.com/office/drawing/2014/main" id="{2168A499-A8EE-5E20-780E-18B034DCA29C}"/>
                </a:ext>
              </a:extLst>
            </p:cNvPr>
            <p:cNvSpPr>
              <a:spLocks/>
            </p:cNvSpPr>
            <p:nvPr/>
          </p:nvSpPr>
          <p:spPr bwMode="auto">
            <a:xfrm>
              <a:off x="5818189" y="4441825"/>
              <a:ext cx="52388" cy="53975"/>
            </a:xfrm>
            <a:custGeom>
              <a:avLst/>
              <a:gdLst>
                <a:gd name="T0" fmla="*/ 18 w 20"/>
                <a:gd name="T1" fmla="*/ 0 h 20"/>
                <a:gd name="T2" fmla="*/ 16 w 20"/>
                <a:gd name="T3" fmla="*/ 2 h 20"/>
                <a:gd name="T4" fmla="*/ 2 w 20"/>
                <a:gd name="T5" fmla="*/ 16 h 20"/>
                <a:gd name="T6" fmla="*/ 0 w 20"/>
                <a:gd name="T7" fmla="*/ 18 h 20"/>
                <a:gd name="T8" fmla="*/ 2 w 20"/>
                <a:gd name="T9" fmla="*/ 20 h 20"/>
                <a:gd name="T10" fmla="*/ 20 w 20"/>
                <a:gd name="T11" fmla="*/ 2 h 20"/>
                <a:gd name="T12" fmla="*/ 18 w 20"/>
                <a:gd name="T13" fmla="*/ 0 h 2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20" h="20">
                  <a:moveTo>
                    <a:pt x="18" y="0"/>
                  </a:moveTo>
                  <a:cubicBezTo>
                    <a:pt x="17" y="0"/>
                    <a:pt x="16" y="1"/>
                    <a:pt x="16" y="2"/>
                  </a:cubicBezTo>
                  <a:cubicBezTo>
                    <a:pt x="16" y="10"/>
                    <a:pt x="10" y="16"/>
                    <a:pt x="2" y="16"/>
                  </a:cubicBezTo>
                  <a:cubicBezTo>
                    <a:pt x="1" y="16"/>
                    <a:pt x="0" y="17"/>
                    <a:pt x="0" y="18"/>
                  </a:cubicBezTo>
                  <a:cubicBezTo>
                    <a:pt x="0" y="19"/>
                    <a:pt x="1" y="20"/>
                    <a:pt x="2" y="20"/>
                  </a:cubicBezTo>
                  <a:cubicBezTo>
                    <a:pt x="12" y="20"/>
                    <a:pt x="20" y="12"/>
                    <a:pt x="20" y="2"/>
                  </a:cubicBezTo>
                  <a:cubicBezTo>
                    <a:pt x="20" y="1"/>
                    <a:pt x="19" y="0"/>
                    <a:pt x="18" y="0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id-ID" sz="1600">
                <a:solidFill>
                  <a:schemeClr val="bg1"/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endParaRPr>
            </a:p>
          </p:txBody>
        </p:sp>
      </p:grpSp>
      <p:grpSp>
        <p:nvGrpSpPr>
          <p:cNvPr id="31" name="Group 38">
            <a:extLst>
              <a:ext uri="{FF2B5EF4-FFF2-40B4-BE49-F238E27FC236}">
                <a16:creationId xmlns:a16="http://schemas.microsoft.com/office/drawing/2014/main" id="{181D869F-51F6-D1E4-D602-C1096226B6C7}"/>
              </a:ext>
            </a:extLst>
          </p:cNvPr>
          <p:cNvGrpSpPr/>
          <p:nvPr/>
        </p:nvGrpSpPr>
        <p:grpSpPr>
          <a:xfrm>
            <a:off x="3396136" y="3953668"/>
            <a:ext cx="498709" cy="218340"/>
            <a:chOff x="1482726" y="5056188"/>
            <a:chExt cx="319088" cy="139700"/>
          </a:xfrm>
          <a:solidFill>
            <a:schemeClr val="bg1"/>
          </a:solidFill>
        </p:grpSpPr>
        <p:sp>
          <p:nvSpPr>
            <p:cNvPr id="32" name="Freeform 259">
              <a:extLst>
                <a:ext uri="{FF2B5EF4-FFF2-40B4-BE49-F238E27FC236}">
                  <a16:creationId xmlns:a16="http://schemas.microsoft.com/office/drawing/2014/main" id="{6DA4DE20-5C62-7043-905D-183631762D8B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1482726" y="5056188"/>
              <a:ext cx="319088" cy="139700"/>
            </a:xfrm>
            <a:custGeom>
              <a:avLst/>
              <a:gdLst>
                <a:gd name="T0" fmla="*/ 94 w 120"/>
                <a:gd name="T1" fmla="*/ 0 h 52"/>
                <a:gd name="T2" fmla="*/ 70 w 120"/>
                <a:gd name="T3" fmla="*/ 15 h 52"/>
                <a:gd name="T4" fmla="*/ 60 w 120"/>
                <a:gd name="T5" fmla="*/ 12 h 52"/>
                <a:gd name="T6" fmla="*/ 50 w 120"/>
                <a:gd name="T7" fmla="*/ 15 h 52"/>
                <a:gd name="T8" fmla="*/ 26 w 120"/>
                <a:gd name="T9" fmla="*/ 0 h 52"/>
                <a:gd name="T10" fmla="*/ 0 w 120"/>
                <a:gd name="T11" fmla="*/ 26 h 52"/>
                <a:gd name="T12" fmla="*/ 26 w 120"/>
                <a:gd name="T13" fmla="*/ 52 h 52"/>
                <a:gd name="T14" fmla="*/ 52 w 120"/>
                <a:gd name="T15" fmla="*/ 26 h 52"/>
                <a:gd name="T16" fmla="*/ 51 w 120"/>
                <a:gd name="T17" fmla="*/ 19 h 52"/>
                <a:gd name="T18" fmla="*/ 60 w 120"/>
                <a:gd name="T19" fmla="*/ 16 h 52"/>
                <a:gd name="T20" fmla="*/ 69 w 120"/>
                <a:gd name="T21" fmla="*/ 19 h 52"/>
                <a:gd name="T22" fmla="*/ 68 w 120"/>
                <a:gd name="T23" fmla="*/ 26 h 52"/>
                <a:gd name="T24" fmla="*/ 94 w 120"/>
                <a:gd name="T25" fmla="*/ 52 h 52"/>
                <a:gd name="T26" fmla="*/ 120 w 120"/>
                <a:gd name="T27" fmla="*/ 26 h 52"/>
                <a:gd name="T28" fmla="*/ 94 w 120"/>
                <a:gd name="T29" fmla="*/ 0 h 52"/>
                <a:gd name="T30" fmla="*/ 26 w 120"/>
                <a:gd name="T31" fmla="*/ 44 h 52"/>
                <a:gd name="T32" fmla="*/ 8 w 120"/>
                <a:gd name="T33" fmla="*/ 26 h 52"/>
                <a:gd name="T34" fmla="*/ 26 w 120"/>
                <a:gd name="T35" fmla="*/ 8 h 52"/>
                <a:gd name="T36" fmla="*/ 44 w 120"/>
                <a:gd name="T37" fmla="*/ 26 h 52"/>
                <a:gd name="T38" fmla="*/ 26 w 120"/>
                <a:gd name="T39" fmla="*/ 44 h 52"/>
                <a:gd name="T40" fmla="*/ 94 w 120"/>
                <a:gd name="T41" fmla="*/ 44 h 52"/>
                <a:gd name="T42" fmla="*/ 76 w 120"/>
                <a:gd name="T43" fmla="*/ 26 h 52"/>
                <a:gd name="T44" fmla="*/ 94 w 120"/>
                <a:gd name="T45" fmla="*/ 8 h 52"/>
                <a:gd name="T46" fmla="*/ 112 w 120"/>
                <a:gd name="T47" fmla="*/ 26 h 52"/>
                <a:gd name="T48" fmla="*/ 94 w 120"/>
                <a:gd name="T49" fmla="*/ 44 h 5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</a:cxnLst>
              <a:rect l="0" t="0" r="r" b="b"/>
              <a:pathLst>
                <a:path w="120" h="52">
                  <a:moveTo>
                    <a:pt x="94" y="0"/>
                  </a:moveTo>
                  <a:cubicBezTo>
                    <a:pt x="84" y="0"/>
                    <a:pt x="75" y="6"/>
                    <a:pt x="70" y="15"/>
                  </a:cubicBezTo>
                  <a:cubicBezTo>
                    <a:pt x="68" y="13"/>
                    <a:pt x="64" y="12"/>
                    <a:pt x="60" y="12"/>
                  </a:cubicBezTo>
                  <a:cubicBezTo>
                    <a:pt x="56" y="12"/>
                    <a:pt x="52" y="13"/>
                    <a:pt x="50" y="15"/>
                  </a:cubicBezTo>
                  <a:cubicBezTo>
                    <a:pt x="45" y="6"/>
                    <a:pt x="36" y="0"/>
                    <a:pt x="26" y="0"/>
                  </a:cubicBezTo>
                  <a:cubicBezTo>
                    <a:pt x="12" y="0"/>
                    <a:pt x="0" y="12"/>
                    <a:pt x="0" y="26"/>
                  </a:cubicBezTo>
                  <a:cubicBezTo>
                    <a:pt x="0" y="40"/>
                    <a:pt x="12" y="52"/>
                    <a:pt x="26" y="52"/>
                  </a:cubicBezTo>
                  <a:cubicBezTo>
                    <a:pt x="40" y="52"/>
                    <a:pt x="52" y="40"/>
                    <a:pt x="52" y="26"/>
                  </a:cubicBezTo>
                  <a:cubicBezTo>
                    <a:pt x="52" y="24"/>
                    <a:pt x="52" y="21"/>
                    <a:pt x="51" y="19"/>
                  </a:cubicBezTo>
                  <a:cubicBezTo>
                    <a:pt x="53" y="17"/>
                    <a:pt x="56" y="16"/>
                    <a:pt x="60" y="16"/>
                  </a:cubicBezTo>
                  <a:cubicBezTo>
                    <a:pt x="64" y="16"/>
                    <a:pt x="67" y="17"/>
                    <a:pt x="69" y="19"/>
                  </a:cubicBezTo>
                  <a:cubicBezTo>
                    <a:pt x="68" y="21"/>
                    <a:pt x="68" y="24"/>
                    <a:pt x="68" y="26"/>
                  </a:cubicBezTo>
                  <a:cubicBezTo>
                    <a:pt x="68" y="40"/>
                    <a:pt x="80" y="52"/>
                    <a:pt x="94" y="52"/>
                  </a:cubicBezTo>
                  <a:cubicBezTo>
                    <a:pt x="108" y="52"/>
                    <a:pt x="120" y="40"/>
                    <a:pt x="120" y="26"/>
                  </a:cubicBezTo>
                  <a:cubicBezTo>
                    <a:pt x="120" y="12"/>
                    <a:pt x="108" y="0"/>
                    <a:pt x="94" y="0"/>
                  </a:cubicBezTo>
                  <a:close/>
                  <a:moveTo>
                    <a:pt x="26" y="44"/>
                  </a:moveTo>
                  <a:cubicBezTo>
                    <a:pt x="16" y="44"/>
                    <a:pt x="8" y="36"/>
                    <a:pt x="8" y="26"/>
                  </a:cubicBezTo>
                  <a:cubicBezTo>
                    <a:pt x="8" y="16"/>
                    <a:pt x="16" y="8"/>
                    <a:pt x="26" y="8"/>
                  </a:cubicBezTo>
                  <a:cubicBezTo>
                    <a:pt x="36" y="8"/>
                    <a:pt x="44" y="16"/>
                    <a:pt x="44" y="26"/>
                  </a:cubicBezTo>
                  <a:cubicBezTo>
                    <a:pt x="44" y="36"/>
                    <a:pt x="36" y="44"/>
                    <a:pt x="26" y="44"/>
                  </a:cubicBezTo>
                  <a:close/>
                  <a:moveTo>
                    <a:pt x="94" y="44"/>
                  </a:moveTo>
                  <a:cubicBezTo>
                    <a:pt x="84" y="44"/>
                    <a:pt x="76" y="36"/>
                    <a:pt x="76" y="26"/>
                  </a:cubicBezTo>
                  <a:cubicBezTo>
                    <a:pt x="76" y="16"/>
                    <a:pt x="84" y="8"/>
                    <a:pt x="94" y="8"/>
                  </a:cubicBezTo>
                  <a:cubicBezTo>
                    <a:pt x="104" y="8"/>
                    <a:pt x="112" y="16"/>
                    <a:pt x="112" y="26"/>
                  </a:cubicBezTo>
                  <a:cubicBezTo>
                    <a:pt x="112" y="36"/>
                    <a:pt x="104" y="44"/>
                    <a:pt x="94" y="4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id-ID" sz="1600">
                <a:solidFill>
                  <a:schemeClr val="bg1"/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endParaRPr>
            </a:p>
          </p:txBody>
        </p:sp>
        <p:sp>
          <p:nvSpPr>
            <p:cNvPr id="33" name="Freeform 260">
              <a:extLst>
                <a:ext uri="{FF2B5EF4-FFF2-40B4-BE49-F238E27FC236}">
                  <a16:creationId xmlns:a16="http://schemas.microsoft.com/office/drawing/2014/main" id="{32E1CE3E-5653-EDEA-63B1-E05A1E36D423}"/>
                </a:ext>
              </a:extLst>
            </p:cNvPr>
            <p:cNvSpPr>
              <a:spLocks/>
            </p:cNvSpPr>
            <p:nvPr/>
          </p:nvSpPr>
          <p:spPr bwMode="auto">
            <a:xfrm>
              <a:off x="1519238" y="5094288"/>
              <a:ext cx="42863" cy="42863"/>
            </a:xfrm>
            <a:custGeom>
              <a:avLst/>
              <a:gdLst>
                <a:gd name="T0" fmla="*/ 14 w 16"/>
                <a:gd name="T1" fmla="*/ 0 h 16"/>
                <a:gd name="T2" fmla="*/ 12 w 16"/>
                <a:gd name="T3" fmla="*/ 0 h 16"/>
                <a:gd name="T4" fmla="*/ 0 w 16"/>
                <a:gd name="T5" fmla="*/ 12 h 16"/>
                <a:gd name="T6" fmla="*/ 0 w 16"/>
                <a:gd name="T7" fmla="*/ 14 h 16"/>
                <a:gd name="T8" fmla="*/ 2 w 16"/>
                <a:gd name="T9" fmla="*/ 16 h 16"/>
                <a:gd name="T10" fmla="*/ 3 w 16"/>
                <a:gd name="T11" fmla="*/ 16 h 16"/>
                <a:gd name="T12" fmla="*/ 4 w 16"/>
                <a:gd name="T13" fmla="*/ 14 h 16"/>
                <a:gd name="T14" fmla="*/ 4 w 16"/>
                <a:gd name="T15" fmla="*/ 12 h 16"/>
                <a:gd name="T16" fmla="*/ 12 w 16"/>
                <a:gd name="T17" fmla="*/ 4 h 16"/>
                <a:gd name="T18" fmla="*/ 14 w 16"/>
                <a:gd name="T19" fmla="*/ 4 h 16"/>
                <a:gd name="T20" fmla="*/ 16 w 16"/>
                <a:gd name="T21" fmla="*/ 3 h 16"/>
                <a:gd name="T22" fmla="*/ 14 w 16"/>
                <a:gd name="T23" fmla="*/ 0 h 1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</a:cxnLst>
              <a:rect l="0" t="0" r="r" b="b"/>
              <a:pathLst>
                <a:path w="16" h="16">
                  <a:moveTo>
                    <a:pt x="14" y="0"/>
                  </a:moveTo>
                  <a:cubicBezTo>
                    <a:pt x="14" y="0"/>
                    <a:pt x="13" y="0"/>
                    <a:pt x="12" y="0"/>
                  </a:cubicBezTo>
                  <a:cubicBezTo>
                    <a:pt x="5" y="0"/>
                    <a:pt x="0" y="5"/>
                    <a:pt x="0" y="12"/>
                  </a:cubicBezTo>
                  <a:cubicBezTo>
                    <a:pt x="0" y="13"/>
                    <a:pt x="0" y="14"/>
                    <a:pt x="0" y="14"/>
                  </a:cubicBezTo>
                  <a:cubicBezTo>
                    <a:pt x="0" y="15"/>
                    <a:pt x="1" y="16"/>
                    <a:pt x="2" y="16"/>
                  </a:cubicBezTo>
                  <a:cubicBezTo>
                    <a:pt x="2" y="16"/>
                    <a:pt x="2" y="16"/>
                    <a:pt x="3" y="16"/>
                  </a:cubicBezTo>
                  <a:cubicBezTo>
                    <a:pt x="4" y="16"/>
                    <a:pt x="4" y="15"/>
                    <a:pt x="4" y="14"/>
                  </a:cubicBezTo>
                  <a:cubicBezTo>
                    <a:pt x="4" y="13"/>
                    <a:pt x="4" y="13"/>
                    <a:pt x="4" y="12"/>
                  </a:cubicBezTo>
                  <a:cubicBezTo>
                    <a:pt x="4" y="8"/>
                    <a:pt x="8" y="4"/>
                    <a:pt x="12" y="4"/>
                  </a:cubicBezTo>
                  <a:cubicBezTo>
                    <a:pt x="13" y="4"/>
                    <a:pt x="13" y="4"/>
                    <a:pt x="14" y="4"/>
                  </a:cubicBezTo>
                  <a:cubicBezTo>
                    <a:pt x="15" y="4"/>
                    <a:pt x="16" y="4"/>
                    <a:pt x="16" y="3"/>
                  </a:cubicBezTo>
                  <a:cubicBezTo>
                    <a:pt x="16" y="2"/>
                    <a:pt x="15" y="0"/>
                    <a:pt x="14" y="0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id-ID" sz="1600">
                <a:solidFill>
                  <a:schemeClr val="bg1"/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endParaRPr>
            </a:p>
          </p:txBody>
        </p:sp>
        <p:sp>
          <p:nvSpPr>
            <p:cNvPr id="34" name="Freeform 261">
              <a:extLst>
                <a:ext uri="{FF2B5EF4-FFF2-40B4-BE49-F238E27FC236}">
                  <a16:creationId xmlns:a16="http://schemas.microsoft.com/office/drawing/2014/main" id="{6964548F-98EE-4022-A0C7-ACDB59722F79}"/>
                </a:ext>
              </a:extLst>
            </p:cNvPr>
            <p:cNvSpPr>
              <a:spLocks/>
            </p:cNvSpPr>
            <p:nvPr/>
          </p:nvSpPr>
          <p:spPr bwMode="auto">
            <a:xfrm>
              <a:off x="1701801" y="5094288"/>
              <a:ext cx="41275" cy="42863"/>
            </a:xfrm>
            <a:custGeom>
              <a:avLst/>
              <a:gdLst>
                <a:gd name="T0" fmla="*/ 14 w 16"/>
                <a:gd name="T1" fmla="*/ 0 h 16"/>
                <a:gd name="T2" fmla="*/ 12 w 16"/>
                <a:gd name="T3" fmla="*/ 0 h 16"/>
                <a:gd name="T4" fmla="*/ 0 w 16"/>
                <a:gd name="T5" fmla="*/ 12 h 16"/>
                <a:gd name="T6" fmla="*/ 0 w 16"/>
                <a:gd name="T7" fmla="*/ 14 h 16"/>
                <a:gd name="T8" fmla="*/ 2 w 16"/>
                <a:gd name="T9" fmla="*/ 16 h 16"/>
                <a:gd name="T10" fmla="*/ 3 w 16"/>
                <a:gd name="T11" fmla="*/ 16 h 16"/>
                <a:gd name="T12" fmla="*/ 4 w 16"/>
                <a:gd name="T13" fmla="*/ 14 h 16"/>
                <a:gd name="T14" fmla="*/ 4 w 16"/>
                <a:gd name="T15" fmla="*/ 12 h 16"/>
                <a:gd name="T16" fmla="*/ 12 w 16"/>
                <a:gd name="T17" fmla="*/ 4 h 16"/>
                <a:gd name="T18" fmla="*/ 14 w 16"/>
                <a:gd name="T19" fmla="*/ 4 h 16"/>
                <a:gd name="T20" fmla="*/ 16 w 16"/>
                <a:gd name="T21" fmla="*/ 3 h 16"/>
                <a:gd name="T22" fmla="*/ 14 w 16"/>
                <a:gd name="T23" fmla="*/ 0 h 1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</a:cxnLst>
              <a:rect l="0" t="0" r="r" b="b"/>
              <a:pathLst>
                <a:path w="16" h="16">
                  <a:moveTo>
                    <a:pt x="14" y="0"/>
                  </a:moveTo>
                  <a:cubicBezTo>
                    <a:pt x="14" y="0"/>
                    <a:pt x="13" y="0"/>
                    <a:pt x="12" y="0"/>
                  </a:cubicBezTo>
                  <a:cubicBezTo>
                    <a:pt x="5" y="0"/>
                    <a:pt x="0" y="5"/>
                    <a:pt x="0" y="12"/>
                  </a:cubicBezTo>
                  <a:cubicBezTo>
                    <a:pt x="0" y="13"/>
                    <a:pt x="0" y="14"/>
                    <a:pt x="0" y="14"/>
                  </a:cubicBezTo>
                  <a:cubicBezTo>
                    <a:pt x="0" y="15"/>
                    <a:pt x="1" y="16"/>
                    <a:pt x="2" y="16"/>
                  </a:cubicBezTo>
                  <a:cubicBezTo>
                    <a:pt x="2" y="16"/>
                    <a:pt x="2" y="16"/>
                    <a:pt x="3" y="16"/>
                  </a:cubicBezTo>
                  <a:cubicBezTo>
                    <a:pt x="4" y="16"/>
                    <a:pt x="4" y="15"/>
                    <a:pt x="4" y="14"/>
                  </a:cubicBezTo>
                  <a:cubicBezTo>
                    <a:pt x="4" y="13"/>
                    <a:pt x="4" y="13"/>
                    <a:pt x="4" y="12"/>
                  </a:cubicBezTo>
                  <a:cubicBezTo>
                    <a:pt x="4" y="8"/>
                    <a:pt x="8" y="4"/>
                    <a:pt x="12" y="4"/>
                  </a:cubicBezTo>
                  <a:cubicBezTo>
                    <a:pt x="13" y="4"/>
                    <a:pt x="13" y="4"/>
                    <a:pt x="14" y="4"/>
                  </a:cubicBezTo>
                  <a:cubicBezTo>
                    <a:pt x="15" y="4"/>
                    <a:pt x="16" y="4"/>
                    <a:pt x="16" y="3"/>
                  </a:cubicBezTo>
                  <a:cubicBezTo>
                    <a:pt x="16" y="2"/>
                    <a:pt x="15" y="0"/>
                    <a:pt x="14" y="0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id-ID" sz="1600">
                <a:solidFill>
                  <a:schemeClr val="bg1"/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endParaRPr>
            </a:p>
          </p:txBody>
        </p:sp>
      </p:grpSp>
      <p:sp>
        <p:nvSpPr>
          <p:cNvPr id="39" name="TextBox 28">
            <a:extLst>
              <a:ext uri="{FF2B5EF4-FFF2-40B4-BE49-F238E27FC236}">
                <a16:creationId xmlns:a16="http://schemas.microsoft.com/office/drawing/2014/main" id="{D898200F-A7F1-6E25-FCE3-62135545AB20}"/>
              </a:ext>
            </a:extLst>
          </p:cNvPr>
          <p:cNvSpPr txBox="1"/>
          <p:nvPr/>
        </p:nvSpPr>
        <p:spPr>
          <a:xfrm flipH="1">
            <a:off x="5980557" y="1203843"/>
            <a:ext cx="4974061" cy="107721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lvl="0"/>
            <a:r>
              <a:rPr lang="es-MX" sz="1600" b="1" dirty="0"/>
              <a:t>Técnico (60%):</a:t>
            </a:r>
            <a:r>
              <a:rPr lang="es-MX" sz="1600" dirty="0"/>
              <a:t> Implementación de arquitectura IoT en tres niveles: nodos de hardware (captura), servidor central/</a:t>
            </a:r>
            <a:r>
              <a:rPr lang="es-MX" sz="1600" dirty="0" err="1"/>
              <a:t>cloud</a:t>
            </a:r>
            <a:r>
              <a:rPr lang="es-MX" sz="1600" dirty="0"/>
              <a:t> (procesamiento) y plataforma web (visualización y alertas).</a:t>
            </a:r>
            <a:endParaRPr lang="es-PE" sz="1600" dirty="0">
              <a:solidFill>
                <a:schemeClr val="tx1">
                  <a:lumMod val="85000"/>
                  <a:lumOff val="15000"/>
                </a:schemeClr>
              </a:solidFill>
              <a:latin typeface="Avenir Book" panose="02000503020000020003" pitchFamily="2" charset="0"/>
              <a:cs typeface="Arial" panose="020B0604020202020204" pitchFamily="34" charset="0"/>
            </a:endParaRPr>
          </a:p>
        </p:txBody>
      </p:sp>
      <p:sp>
        <p:nvSpPr>
          <p:cNvPr id="40" name="TextBox 28">
            <a:extLst>
              <a:ext uri="{FF2B5EF4-FFF2-40B4-BE49-F238E27FC236}">
                <a16:creationId xmlns:a16="http://schemas.microsoft.com/office/drawing/2014/main" id="{E6105925-AAFB-15AB-13B6-67D6068E8B10}"/>
              </a:ext>
            </a:extLst>
          </p:cNvPr>
          <p:cNvSpPr txBox="1"/>
          <p:nvPr/>
        </p:nvSpPr>
        <p:spPr>
          <a:xfrm flipH="1">
            <a:off x="4641109" y="2917915"/>
            <a:ext cx="5900057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lvl="0" algn="ctr"/>
            <a:r>
              <a:rPr lang="es-MX" sz="1600" b="1" dirty="0"/>
              <a:t>Investigación (15%):</a:t>
            </a:r>
            <a:r>
              <a:rPr lang="es-MX" sz="1600" dirty="0"/>
              <a:t> Selección técnica de sensores de bajo costo y protocolos de comunicación (</a:t>
            </a:r>
            <a:r>
              <a:rPr lang="es-MX" sz="1600" dirty="0" err="1"/>
              <a:t>Wi</a:t>
            </a:r>
            <a:r>
              <a:rPr lang="es-MX" sz="1600" dirty="0"/>
              <a:t>-Fi/</a:t>
            </a:r>
            <a:r>
              <a:rPr lang="es-MX" sz="1600" dirty="0" err="1"/>
              <a:t>LoRa</a:t>
            </a:r>
            <a:r>
              <a:rPr lang="es-MX" sz="1600" dirty="0"/>
              <a:t>) bajo estándares de la OMS y el MAATE para garantizar la precisión y legalidad del sistema.</a:t>
            </a:r>
            <a:endParaRPr lang="es-PE" sz="1600" dirty="0">
              <a:solidFill>
                <a:schemeClr val="tx1">
                  <a:lumMod val="85000"/>
                  <a:lumOff val="15000"/>
                </a:schemeClr>
              </a:solidFill>
              <a:latin typeface="Avenir Book" panose="02000503020000020003" pitchFamily="2" charset="0"/>
              <a:cs typeface="Arial" panose="020B0604020202020204" pitchFamily="34" charset="0"/>
            </a:endParaRPr>
          </a:p>
        </p:txBody>
      </p:sp>
      <p:sp>
        <p:nvSpPr>
          <p:cNvPr id="41" name="TextBox 28">
            <a:extLst>
              <a:ext uri="{FF2B5EF4-FFF2-40B4-BE49-F238E27FC236}">
                <a16:creationId xmlns:a16="http://schemas.microsoft.com/office/drawing/2014/main" id="{A8A7A588-02A6-7C3B-0D69-6B6F002635D1}"/>
              </a:ext>
            </a:extLst>
          </p:cNvPr>
          <p:cNvSpPr txBox="1"/>
          <p:nvPr/>
        </p:nvSpPr>
        <p:spPr>
          <a:xfrm flipH="1">
            <a:off x="3267188" y="4172008"/>
            <a:ext cx="5003675" cy="107721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lvl="0"/>
            <a:r>
              <a:rPr lang="es-MX" sz="1600" b="1" dirty="0"/>
              <a:t>Innovación (25%):</a:t>
            </a:r>
            <a:r>
              <a:rPr lang="es-MX" sz="1600" dirty="0"/>
              <a:t> Monitoreo granular en </a:t>
            </a:r>
            <a:r>
              <a:rPr lang="es-MX" sz="1600" dirty="0" err="1"/>
              <a:t>microzonas</a:t>
            </a:r>
            <a:r>
              <a:rPr lang="es-MX" sz="1600" dirty="0"/>
              <a:t> urbanas (Barrio El Rosario) para complementar la red REMMAQ, integrando alertas en tiempo real y fomentando la conciencia ciudadana (ODS 11 y 13).</a:t>
            </a:r>
            <a:endParaRPr lang="es-PE" sz="1600" dirty="0">
              <a:solidFill>
                <a:schemeClr val="tx1">
                  <a:lumMod val="85000"/>
                  <a:lumOff val="15000"/>
                </a:schemeClr>
              </a:solidFill>
              <a:latin typeface="Avenir Book" panose="02000503020000020003" pitchFamily="2" charset="0"/>
              <a:cs typeface="Arial" panose="020B0604020202020204" pitchFamily="34" charset="0"/>
            </a:endParaRPr>
          </a:p>
        </p:txBody>
      </p:sp>
      <p:grpSp>
        <p:nvGrpSpPr>
          <p:cNvPr id="2" name="Group 24">
            <a:extLst>
              <a:ext uri="{FF2B5EF4-FFF2-40B4-BE49-F238E27FC236}">
                <a16:creationId xmlns:a16="http://schemas.microsoft.com/office/drawing/2014/main" id="{6EDBA99C-8400-F5C5-5E67-ED9BC3F62272}"/>
              </a:ext>
            </a:extLst>
          </p:cNvPr>
          <p:cNvGrpSpPr/>
          <p:nvPr/>
        </p:nvGrpSpPr>
        <p:grpSpPr>
          <a:xfrm rot="16200000">
            <a:off x="3633416" y="2668660"/>
            <a:ext cx="852494" cy="1162891"/>
            <a:chOff x="9918988" y="355852"/>
            <a:chExt cx="852494" cy="1162891"/>
          </a:xfrm>
        </p:grpSpPr>
        <p:sp>
          <p:nvSpPr>
            <p:cNvPr id="3" name="Triangle 25">
              <a:extLst>
                <a:ext uri="{FF2B5EF4-FFF2-40B4-BE49-F238E27FC236}">
                  <a16:creationId xmlns:a16="http://schemas.microsoft.com/office/drawing/2014/main" id="{517E0430-1464-A88E-C64F-4184A891A834}"/>
                </a:ext>
              </a:extLst>
            </p:cNvPr>
            <p:cNvSpPr/>
            <p:nvPr/>
          </p:nvSpPr>
          <p:spPr>
            <a:xfrm rot="10800000">
              <a:off x="9929055" y="1104594"/>
              <a:ext cx="832360" cy="414149"/>
            </a:xfrm>
            <a:prstGeom prst="triangle">
              <a:avLst>
                <a:gd name="adj" fmla="val 49285"/>
              </a:avLst>
            </a:prstGeom>
            <a:noFill/>
            <a:ln w="28575">
              <a:solidFill>
                <a:schemeClr val="accent4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1600"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endParaRPr>
            </a:p>
          </p:txBody>
        </p:sp>
        <p:sp>
          <p:nvSpPr>
            <p:cNvPr id="4" name="Rectangle 26">
              <a:extLst>
                <a:ext uri="{FF2B5EF4-FFF2-40B4-BE49-F238E27FC236}">
                  <a16:creationId xmlns:a16="http://schemas.microsoft.com/office/drawing/2014/main" id="{8E08AEAE-7D60-617D-750A-69B0D3DB3744}"/>
                </a:ext>
              </a:extLst>
            </p:cNvPr>
            <p:cNvSpPr/>
            <p:nvPr/>
          </p:nvSpPr>
          <p:spPr>
            <a:xfrm rot="2700000">
              <a:off x="9918988" y="355852"/>
              <a:ext cx="852494" cy="852494"/>
            </a:xfrm>
            <a:prstGeom prst="rect">
              <a:avLst/>
            </a:prstGeom>
            <a:solidFill>
              <a:srgbClr val="002060"/>
            </a:solidFill>
            <a:ln w="28575">
              <a:solidFill>
                <a:schemeClr val="accent4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1600" dirty="0"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endParaRPr>
            </a:p>
          </p:txBody>
        </p:sp>
      </p:grpSp>
      <p:grpSp>
        <p:nvGrpSpPr>
          <p:cNvPr id="5" name="Group 38">
            <a:extLst>
              <a:ext uri="{FF2B5EF4-FFF2-40B4-BE49-F238E27FC236}">
                <a16:creationId xmlns:a16="http://schemas.microsoft.com/office/drawing/2014/main" id="{BCBFECC1-1356-11B4-B14D-306E8CAE2693}"/>
              </a:ext>
            </a:extLst>
          </p:cNvPr>
          <p:cNvGrpSpPr/>
          <p:nvPr/>
        </p:nvGrpSpPr>
        <p:grpSpPr>
          <a:xfrm>
            <a:off x="3659132" y="3140935"/>
            <a:ext cx="498709" cy="218340"/>
            <a:chOff x="1482726" y="5056188"/>
            <a:chExt cx="319088" cy="139700"/>
          </a:xfrm>
          <a:solidFill>
            <a:schemeClr val="bg1"/>
          </a:solidFill>
        </p:grpSpPr>
        <p:sp>
          <p:nvSpPr>
            <p:cNvPr id="35" name="Freeform 259">
              <a:extLst>
                <a:ext uri="{FF2B5EF4-FFF2-40B4-BE49-F238E27FC236}">
                  <a16:creationId xmlns:a16="http://schemas.microsoft.com/office/drawing/2014/main" id="{5AF32A28-30AF-E105-0CC9-F39C302D1BD4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1482726" y="5056188"/>
              <a:ext cx="319088" cy="139700"/>
            </a:xfrm>
            <a:custGeom>
              <a:avLst/>
              <a:gdLst>
                <a:gd name="T0" fmla="*/ 94 w 120"/>
                <a:gd name="T1" fmla="*/ 0 h 52"/>
                <a:gd name="T2" fmla="*/ 70 w 120"/>
                <a:gd name="T3" fmla="*/ 15 h 52"/>
                <a:gd name="T4" fmla="*/ 60 w 120"/>
                <a:gd name="T5" fmla="*/ 12 h 52"/>
                <a:gd name="T6" fmla="*/ 50 w 120"/>
                <a:gd name="T7" fmla="*/ 15 h 52"/>
                <a:gd name="T8" fmla="*/ 26 w 120"/>
                <a:gd name="T9" fmla="*/ 0 h 52"/>
                <a:gd name="T10" fmla="*/ 0 w 120"/>
                <a:gd name="T11" fmla="*/ 26 h 52"/>
                <a:gd name="T12" fmla="*/ 26 w 120"/>
                <a:gd name="T13" fmla="*/ 52 h 52"/>
                <a:gd name="T14" fmla="*/ 52 w 120"/>
                <a:gd name="T15" fmla="*/ 26 h 52"/>
                <a:gd name="T16" fmla="*/ 51 w 120"/>
                <a:gd name="T17" fmla="*/ 19 h 52"/>
                <a:gd name="T18" fmla="*/ 60 w 120"/>
                <a:gd name="T19" fmla="*/ 16 h 52"/>
                <a:gd name="T20" fmla="*/ 69 w 120"/>
                <a:gd name="T21" fmla="*/ 19 h 52"/>
                <a:gd name="T22" fmla="*/ 68 w 120"/>
                <a:gd name="T23" fmla="*/ 26 h 52"/>
                <a:gd name="T24" fmla="*/ 94 w 120"/>
                <a:gd name="T25" fmla="*/ 52 h 52"/>
                <a:gd name="T26" fmla="*/ 120 w 120"/>
                <a:gd name="T27" fmla="*/ 26 h 52"/>
                <a:gd name="T28" fmla="*/ 94 w 120"/>
                <a:gd name="T29" fmla="*/ 0 h 52"/>
                <a:gd name="T30" fmla="*/ 26 w 120"/>
                <a:gd name="T31" fmla="*/ 44 h 52"/>
                <a:gd name="T32" fmla="*/ 8 w 120"/>
                <a:gd name="T33" fmla="*/ 26 h 52"/>
                <a:gd name="T34" fmla="*/ 26 w 120"/>
                <a:gd name="T35" fmla="*/ 8 h 52"/>
                <a:gd name="T36" fmla="*/ 44 w 120"/>
                <a:gd name="T37" fmla="*/ 26 h 52"/>
                <a:gd name="T38" fmla="*/ 26 w 120"/>
                <a:gd name="T39" fmla="*/ 44 h 52"/>
                <a:gd name="T40" fmla="*/ 94 w 120"/>
                <a:gd name="T41" fmla="*/ 44 h 52"/>
                <a:gd name="T42" fmla="*/ 76 w 120"/>
                <a:gd name="T43" fmla="*/ 26 h 52"/>
                <a:gd name="T44" fmla="*/ 94 w 120"/>
                <a:gd name="T45" fmla="*/ 8 h 52"/>
                <a:gd name="T46" fmla="*/ 112 w 120"/>
                <a:gd name="T47" fmla="*/ 26 h 52"/>
                <a:gd name="T48" fmla="*/ 94 w 120"/>
                <a:gd name="T49" fmla="*/ 44 h 5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</a:cxnLst>
              <a:rect l="0" t="0" r="r" b="b"/>
              <a:pathLst>
                <a:path w="120" h="52">
                  <a:moveTo>
                    <a:pt x="94" y="0"/>
                  </a:moveTo>
                  <a:cubicBezTo>
                    <a:pt x="84" y="0"/>
                    <a:pt x="75" y="6"/>
                    <a:pt x="70" y="15"/>
                  </a:cubicBezTo>
                  <a:cubicBezTo>
                    <a:pt x="68" y="13"/>
                    <a:pt x="64" y="12"/>
                    <a:pt x="60" y="12"/>
                  </a:cubicBezTo>
                  <a:cubicBezTo>
                    <a:pt x="56" y="12"/>
                    <a:pt x="52" y="13"/>
                    <a:pt x="50" y="15"/>
                  </a:cubicBezTo>
                  <a:cubicBezTo>
                    <a:pt x="45" y="6"/>
                    <a:pt x="36" y="0"/>
                    <a:pt x="26" y="0"/>
                  </a:cubicBezTo>
                  <a:cubicBezTo>
                    <a:pt x="12" y="0"/>
                    <a:pt x="0" y="12"/>
                    <a:pt x="0" y="26"/>
                  </a:cubicBezTo>
                  <a:cubicBezTo>
                    <a:pt x="0" y="40"/>
                    <a:pt x="12" y="52"/>
                    <a:pt x="26" y="52"/>
                  </a:cubicBezTo>
                  <a:cubicBezTo>
                    <a:pt x="40" y="52"/>
                    <a:pt x="52" y="40"/>
                    <a:pt x="52" y="26"/>
                  </a:cubicBezTo>
                  <a:cubicBezTo>
                    <a:pt x="52" y="24"/>
                    <a:pt x="52" y="21"/>
                    <a:pt x="51" y="19"/>
                  </a:cubicBezTo>
                  <a:cubicBezTo>
                    <a:pt x="53" y="17"/>
                    <a:pt x="56" y="16"/>
                    <a:pt x="60" y="16"/>
                  </a:cubicBezTo>
                  <a:cubicBezTo>
                    <a:pt x="64" y="16"/>
                    <a:pt x="67" y="17"/>
                    <a:pt x="69" y="19"/>
                  </a:cubicBezTo>
                  <a:cubicBezTo>
                    <a:pt x="68" y="21"/>
                    <a:pt x="68" y="24"/>
                    <a:pt x="68" y="26"/>
                  </a:cubicBezTo>
                  <a:cubicBezTo>
                    <a:pt x="68" y="40"/>
                    <a:pt x="80" y="52"/>
                    <a:pt x="94" y="52"/>
                  </a:cubicBezTo>
                  <a:cubicBezTo>
                    <a:pt x="108" y="52"/>
                    <a:pt x="120" y="40"/>
                    <a:pt x="120" y="26"/>
                  </a:cubicBezTo>
                  <a:cubicBezTo>
                    <a:pt x="120" y="12"/>
                    <a:pt x="108" y="0"/>
                    <a:pt x="94" y="0"/>
                  </a:cubicBezTo>
                  <a:close/>
                  <a:moveTo>
                    <a:pt x="26" y="44"/>
                  </a:moveTo>
                  <a:cubicBezTo>
                    <a:pt x="16" y="44"/>
                    <a:pt x="8" y="36"/>
                    <a:pt x="8" y="26"/>
                  </a:cubicBezTo>
                  <a:cubicBezTo>
                    <a:pt x="8" y="16"/>
                    <a:pt x="16" y="8"/>
                    <a:pt x="26" y="8"/>
                  </a:cubicBezTo>
                  <a:cubicBezTo>
                    <a:pt x="36" y="8"/>
                    <a:pt x="44" y="16"/>
                    <a:pt x="44" y="26"/>
                  </a:cubicBezTo>
                  <a:cubicBezTo>
                    <a:pt x="44" y="36"/>
                    <a:pt x="36" y="44"/>
                    <a:pt x="26" y="44"/>
                  </a:cubicBezTo>
                  <a:close/>
                  <a:moveTo>
                    <a:pt x="94" y="44"/>
                  </a:moveTo>
                  <a:cubicBezTo>
                    <a:pt x="84" y="44"/>
                    <a:pt x="76" y="36"/>
                    <a:pt x="76" y="26"/>
                  </a:cubicBezTo>
                  <a:cubicBezTo>
                    <a:pt x="76" y="16"/>
                    <a:pt x="84" y="8"/>
                    <a:pt x="94" y="8"/>
                  </a:cubicBezTo>
                  <a:cubicBezTo>
                    <a:pt x="104" y="8"/>
                    <a:pt x="112" y="16"/>
                    <a:pt x="112" y="26"/>
                  </a:cubicBezTo>
                  <a:cubicBezTo>
                    <a:pt x="112" y="36"/>
                    <a:pt x="104" y="44"/>
                    <a:pt x="94" y="4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id-ID" sz="1600">
                <a:solidFill>
                  <a:schemeClr val="bg1"/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endParaRPr>
            </a:p>
          </p:txBody>
        </p:sp>
        <p:sp>
          <p:nvSpPr>
            <p:cNvPr id="36" name="Freeform 260">
              <a:extLst>
                <a:ext uri="{FF2B5EF4-FFF2-40B4-BE49-F238E27FC236}">
                  <a16:creationId xmlns:a16="http://schemas.microsoft.com/office/drawing/2014/main" id="{CE28E953-C1DC-A1F9-C458-685011E95C9D}"/>
                </a:ext>
              </a:extLst>
            </p:cNvPr>
            <p:cNvSpPr>
              <a:spLocks/>
            </p:cNvSpPr>
            <p:nvPr/>
          </p:nvSpPr>
          <p:spPr bwMode="auto">
            <a:xfrm>
              <a:off x="1519238" y="5094288"/>
              <a:ext cx="42863" cy="42863"/>
            </a:xfrm>
            <a:custGeom>
              <a:avLst/>
              <a:gdLst>
                <a:gd name="T0" fmla="*/ 14 w 16"/>
                <a:gd name="T1" fmla="*/ 0 h 16"/>
                <a:gd name="T2" fmla="*/ 12 w 16"/>
                <a:gd name="T3" fmla="*/ 0 h 16"/>
                <a:gd name="T4" fmla="*/ 0 w 16"/>
                <a:gd name="T5" fmla="*/ 12 h 16"/>
                <a:gd name="T6" fmla="*/ 0 w 16"/>
                <a:gd name="T7" fmla="*/ 14 h 16"/>
                <a:gd name="T8" fmla="*/ 2 w 16"/>
                <a:gd name="T9" fmla="*/ 16 h 16"/>
                <a:gd name="T10" fmla="*/ 3 w 16"/>
                <a:gd name="T11" fmla="*/ 16 h 16"/>
                <a:gd name="T12" fmla="*/ 4 w 16"/>
                <a:gd name="T13" fmla="*/ 14 h 16"/>
                <a:gd name="T14" fmla="*/ 4 w 16"/>
                <a:gd name="T15" fmla="*/ 12 h 16"/>
                <a:gd name="T16" fmla="*/ 12 w 16"/>
                <a:gd name="T17" fmla="*/ 4 h 16"/>
                <a:gd name="T18" fmla="*/ 14 w 16"/>
                <a:gd name="T19" fmla="*/ 4 h 16"/>
                <a:gd name="T20" fmla="*/ 16 w 16"/>
                <a:gd name="T21" fmla="*/ 3 h 16"/>
                <a:gd name="T22" fmla="*/ 14 w 16"/>
                <a:gd name="T23" fmla="*/ 0 h 1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</a:cxnLst>
              <a:rect l="0" t="0" r="r" b="b"/>
              <a:pathLst>
                <a:path w="16" h="16">
                  <a:moveTo>
                    <a:pt x="14" y="0"/>
                  </a:moveTo>
                  <a:cubicBezTo>
                    <a:pt x="14" y="0"/>
                    <a:pt x="13" y="0"/>
                    <a:pt x="12" y="0"/>
                  </a:cubicBezTo>
                  <a:cubicBezTo>
                    <a:pt x="5" y="0"/>
                    <a:pt x="0" y="5"/>
                    <a:pt x="0" y="12"/>
                  </a:cubicBezTo>
                  <a:cubicBezTo>
                    <a:pt x="0" y="13"/>
                    <a:pt x="0" y="14"/>
                    <a:pt x="0" y="14"/>
                  </a:cubicBezTo>
                  <a:cubicBezTo>
                    <a:pt x="0" y="15"/>
                    <a:pt x="1" y="16"/>
                    <a:pt x="2" y="16"/>
                  </a:cubicBezTo>
                  <a:cubicBezTo>
                    <a:pt x="2" y="16"/>
                    <a:pt x="2" y="16"/>
                    <a:pt x="3" y="16"/>
                  </a:cubicBezTo>
                  <a:cubicBezTo>
                    <a:pt x="4" y="16"/>
                    <a:pt x="4" y="15"/>
                    <a:pt x="4" y="14"/>
                  </a:cubicBezTo>
                  <a:cubicBezTo>
                    <a:pt x="4" y="13"/>
                    <a:pt x="4" y="13"/>
                    <a:pt x="4" y="12"/>
                  </a:cubicBezTo>
                  <a:cubicBezTo>
                    <a:pt x="4" y="8"/>
                    <a:pt x="8" y="4"/>
                    <a:pt x="12" y="4"/>
                  </a:cubicBezTo>
                  <a:cubicBezTo>
                    <a:pt x="13" y="4"/>
                    <a:pt x="13" y="4"/>
                    <a:pt x="14" y="4"/>
                  </a:cubicBezTo>
                  <a:cubicBezTo>
                    <a:pt x="15" y="4"/>
                    <a:pt x="16" y="4"/>
                    <a:pt x="16" y="3"/>
                  </a:cubicBezTo>
                  <a:cubicBezTo>
                    <a:pt x="16" y="2"/>
                    <a:pt x="15" y="0"/>
                    <a:pt x="14" y="0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id-ID" sz="1600">
                <a:solidFill>
                  <a:schemeClr val="bg1"/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endParaRPr>
            </a:p>
          </p:txBody>
        </p:sp>
        <p:sp>
          <p:nvSpPr>
            <p:cNvPr id="37" name="Freeform 261">
              <a:extLst>
                <a:ext uri="{FF2B5EF4-FFF2-40B4-BE49-F238E27FC236}">
                  <a16:creationId xmlns:a16="http://schemas.microsoft.com/office/drawing/2014/main" id="{C112D750-9875-12A0-7FDF-6D2969232F53}"/>
                </a:ext>
              </a:extLst>
            </p:cNvPr>
            <p:cNvSpPr>
              <a:spLocks/>
            </p:cNvSpPr>
            <p:nvPr/>
          </p:nvSpPr>
          <p:spPr bwMode="auto">
            <a:xfrm>
              <a:off x="1701801" y="5094288"/>
              <a:ext cx="41275" cy="42863"/>
            </a:xfrm>
            <a:custGeom>
              <a:avLst/>
              <a:gdLst>
                <a:gd name="T0" fmla="*/ 14 w 16"/>
                <a:gd name="T1" fmla="*/ 0 h 16"/>
                <a:gd name="T2" fmla="*/ 12 w 16"/>
                <a:gd name="T3" fmla="*/ 0 h 16"/>
                <a:gd name="T4" fmla="*/ 0 w 16"/>
                <a:gd name="T5" fmla="*/ 12 h 16"/>
                <a:gd name="T6" fmla="*/ 0 w 16"/>
                <a:gd name="T7" fmla="*/ 14 h 16"/>
                <a:gd name="T8" fmla="*/ 2 w 16"/>
                <a:gd name="T9" fmla="*/ 16 h 16"/>
                <a:gd name="T10" fmla="*/ 3 w 16"/>
                <a:gd name="T11" fmla="*/ 16 h 16"/>
                <a:gd name="T12" fmla="*/ 4 w 16"/>
                <a:gd name="T13" fmla="*/ 14 h 16"/>
                <a:gd name="T14" fmla="*/ 4 w 16"/>
                <a:gd name="T15" fmla="*/ 12 h 16"/>
                <a:gd name="T16" fmla="*/ 12 w 16"/>
                <a:gd name="T17" fmla="*/ 4 h 16"/>
                <a:gd name="T18" fmla="*/ 14 w 16"/>
                <a:gd name="T19" fmla="*/ 4 h 16"/>
                <a:gd name="T20" fmla="*/ 16 w 16"/>
                <a:gd name="T21" fmla="*/ 3 h 16"/>
                <a:gd name="T22" fmla="*/ 14 w 16"/>
                <a:gd name="T23" fmla="*/ 0 h 1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</a:cxnLst>
              <a:rect l="0" t="0" r="r" b="b"/>
              <a:pathLst>
                <a:path w="16" h="16">
                  <a:moveTo>
                    <a:pt x="14" y="0"/>
                  </a:moveTo>
                  <a:cubicBezTo>
                    <a:pt x="14" y="0"/>
                    <a:pt x="13" y="0"/>
                    <a:pt x="12" y="0"/>
                  </a:cubicBezTo>
                  <a:cubicBezTo>
                    <a:pt x="5" y="0"/>
                    <a:pt x="0" y="5"/>
                    <a:pt x="0" y="12"/>
                  </a:cubicBezTo>
                  <a:cubicBezTo>
                    <a:pt x="0" y="13"/>
                    <a:pt x="0" y="14"/>
                    <a:pt x="0" y="14"/>
                  </a:cubicBezTo>
                  <a:cubicBezTo>
                    <a:pt x="0" y="15"/>
                    <a:pt x="1" y="16"/>
                    <a:pt x="2" y="16"/>
                  </a:cubicBezTo>
                  <a:cubicBezTo>
                    <a:pt x="2" y="16"/>
                    <a:pt x="2" y="16"/>
                    <a:pt x="3" y="16"/>
                  </a:cubicBezTo>
                  <a:cubicBezTo>
                    <a:pt x="4" y="16"/>
                    <a:pt x="4" y="15"/>
                    <a:pt x="4" y="14"/>
                  </a:cubicBezTo>
                  <a:cubicBezTo>
                    <a:pt x="4" y="13"/>
                    <a:pt x="4" y="13"/>
                    <a:pt x="4" y="12"/>
                  </a:cubicBezTo>
                  <a:cubicBezTo>
                    <a:pt x="4" y="8"/>
                    <a:pt x="8" y="4"/>
                    <a:pt x="12" y="4"/>
                  </a:cubicBezTo>
                  <a:cubicBezTo>
                    <a:pt x="13" y="4"/>
                    <a:pt x="13" y="4"/>
                    <a:pt x="14" y="4"/>
                  </a:cubicBezTo>
                  <a:cubicBezTo>
                    <a:pt x="15" y="4"/>
                    <a:pt x="16" y="4"/>
                    <a:pt x="16" y="3"/>
                  </a:cubicBezTo>
                  <a:cubicBezTo>
                    <a:pt x="16" y="2"/>
                    <a:pt x="15" y="0"/>
                    <a:pt x="14" y="0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id-ID" sz="1600">
                <a:solidFill>
                  <a:schemeClr val="bg1"/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2408359169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347;p4">
            <a:extLst>
              <a:ext uri="{FF2B5EF4-FFF2-40B4-BE49-F238E27FC236}">
                <a16:creationId xmlns:a16="http://schemas.microsoft.com/office/drawing/2014/main" id="{D5166995-C6A6-350E-541D-A5713EC4D4B4}"/>
              </a:ext>
            </a:extLst>
          </p:cNvPr>
          <p:cNvSpPr/>
          <p:nvPr/>
        </p:nvSpPr>
        <p:spPr>
          <a:xfrm>
            <a:off x="0" y="1433020"/>
            <a:ext cx="1576552" cy="66507"/>
          </a:xfrm>
          <a:prstGeom prst="roundRect">
            <a:avLst>
              <a:gd name="adj" fmla="val 50000"/>
            </a:avLst>
          </a:prstGeom>
          <a:solidFill>
            <a:srgbClr val="FFC000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lt1"/>
              </a:solidFill>
              <a:latin typeface="Avenir Book" panose="02000503020000020003" pitchFamily="2" charset="0"/>
              <a:ea typeface="Calibri"/>
              <a:cs typeface="Calibri"/>
              <a:sym typeface="Calibri"/>
            </a:endParaRPr>
          </a:p>
        </p:txBody>
      </p:sp>
      <p:sp>
        <p:nvSpPr>
          <p:cNvPr id="7" name="Google Shape;348;p4">
            <a:extLst>
              <a:ext uri="{FF2B5EF4-FFF2-40B4-BE49-F238E27FC236}">
                <a16:creationId xmlns:a16="http://schemas.microsoft.com/office/drawing/2014/main" id="{5116B45A-D21E-E9EF-234D-3B55AF972E85}"/>
              </a:ext>
            </a:extLst>
          </p:cNvPr>
          <p:cNvSpPr txBox="1"/>
          <p:nvPr/>
        </p:nvSpPr>
        <p:spPr>
          <a:xfrm>
            <a:off x="720937" y="529226"/>
            <a:ext cx="6508538" cy="62140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2060"/>
              </a:buClr>
              <a:buSzPts val="3600"/>
              <a:buFont typeface="Arial"/>
              <a:buNone/>
            </a:pPr>
            <a:r>
              <a:rPr lang="es-PE" sz="3600" b="1" dirty="0">
                <a:latin typeface="Avenir Book" panose="02000503020000020003" pitchFamily="2" charset="0"/>
                <a:ea typeface="Arial"/>
                <a:cs typeface="Arial"/>
                <a:sym typeface="Arial"/>
              </a:rPr>
              <a:t>Marco teórico / Estado del arte</a:t>
            </a:r>
            <a:endParaRPr sz="3600" b="1" dirty="0">
              <a:latin typeface="Avenir Book" panose="02000503020000020003" pitchFamily="2" charset="0"/>
              <a:ea typeface="Arial"/>
              <a:cs typeface="Arial"/>
              <a:sym typeface="Arial"/>
            </a:endParaRPr>
          </a:p>
        </p:txBody>
      </p:sp>
      <p:pic>
        <p:nvPicPr>
          <p:cNvPr id="9" name="Imagen 8">
            <a:extLst>
              <a:ext uri="{FF2B5EF4-FFF2-40B4-BE49-F238E27FC236}">
                <a16:creationId xmlns:a16="http://schemas.microsoft.com/office/drawing/2014/main" id="{C0E41009-236A-FD21-9083-3B8DFDDC9E8B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4367"/>
          <a:stretch>
            <a:fillRect/>
          </a:stretch>
        </p:blipFill>
        <p:spPr>
          <a:xfrm>
            <a:off x="6696635" y="0"/>
            <a:ext cx="5410396" cy="3605650"/>
          </a:xfrm>
          <a:prstGeom prst="rect">
            <a:avLst/>
          </a:prstGeom>
        </p:spPr>
      </p:pic>
      <p:pic>
        <p:nvPicPr>
          <p:cNvPr id="19" name="Imagen 18">
            <a:extLst>
              <a:ext uri="{FF2B5EF4-FFF2-40B4-BE49-F238E27FC236}">
                <a16:creationId xmlns:a16="http://schemas.microsoft.com/office/drawing/2014/main" id="{16145BC0-F856-855B-34CB-C2882D0F99A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916025" y="3876238"/>
            <a:ext cx="3648446" cy="1621532"/>
          </a:xfrm>
          <a:prstGeom prst="rect">
            <a:avLst/>
          </a:prstGeom>
        </p:spPr>
      </p:pic>
      <p:pic>
        <p:nvPicPr>
          <p:cNvPr id="21" name="Imagen 20">
            <a:extLst>
              <a:ext uri="{FF2B5EF4-FFF2-40B4-BE49-F238E27FC236}">
                <a16:creationId xmlns:a16="http://schemas.microsoft.com/office/drawing/2014/main" id="{99D10DA0-6929-7FE2-9E4C-9123BD1A3527}"/>
              </a:ext>
            </a:extLst>
          </p:cNvPr>
          <p:cNvPicPr>
            <a:picLocks noChangeAspect="1"/>
          </p:cNvPicPr>
          <p:nvPr/>
        </p:nvPicPr>
        <p:blipFill>
          <a:blip r:embed="rId4"/>
          <a:srcRect l="11675" t="2097" r="10555" b="-1"/>
          <a:stretch>
            <a:fillRect/>
          </a:stretch>
        </p:blipFill>
        <p:spPr>
          <a:xfrm>
            <a:off x="5078563" y="4249271"/>
            <a:ext cx="2657835" cy="1907825"/>
          </a:xfrm>
          <a:prstGeom prst="rect">
            <a:avLst/>
          </a:prstGeom>
        </p:spPr>
      </p:pic>
      <p:pic>
        <p:nvPicPr>
          <p:cNvPr id="23" name="Imagen 22">
            <a:extLst>
              <a:ext uri="{FF2B5EF4-FFF2-40B4-BE49-F238E27FC236}">
                <a16:creationId xmlns:a16="http://schemas.microsoft.com/office/drawing/2014/main" id="{C136B02F-0758-0DE9-49F8-CDE19D48EA0F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0" y="1669895"/>
            <a:ext cx="5983941" cy="315717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53764252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Marcador de contenido 3">
            <a:extLst>
              <a:ext uri="{FF2B5EF4-FFF2-40B4-BE49-F238E27FC236}">
                <a16:creationId xmlns:a16="http://schemas.microsoft.com/office/drawing/2014/main" id="{E5797B80-AFDC-86EE-42F7-9D3ED78324EE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6297706" y="260286"/>
            <a:ext cx="5782802" cy="5341848"/>
          </a:xfrm>
          <a:prstGeom prst="rect">
            <a:avLst/>
          </a:prstGeom>
        </p:spPr>
      </p:pic>
      <p:sp>
        <p:nvSpPr>
          <p:cNvPr id="6" name="Google Shape;347;p4">
            <a:extLst>
              <a:ext uri="{FF2B5EF4-FFF2-40B4-BE49-F238E27FC236}">
                <a16:creationId xmlns:a16="http://schemas.microsoft.com/office/drawing/2014/main" id="{D5166995-C6A6-350E-541D-A5713EC4D4B4}"/>
              </a:ext>
            </a:extLst>
          </p:cNvPr>
          <p:cNvSpPr/>
          <p:nvPr/>
        </p:nvSpPr>
        <p:spPr>
          <a:xfrm>
            <a:off x="0" y="1433020"/>
            <a:ext cx="1576552" cy="66507"/>
          </a:xfrm>
          <a:prstGeom prst="roundRect">
            <a:avLst>
              <a:gd name="adj" fmla="val 50000"/>
            </a:avLst>
          </a:prstGeom>
          <a:solidFill>
            <a:srgbClr val="FFC000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lt1"/>
              </a:solidFill>
              <a:latin typeface="Avenir Book" panose="02000503020000020003" pitchFamily="2" charset="0"/>
              <a:ea typeface="Calibri"/>
              <a:cs typeface="Calibri"/>
              <a:sym typeface="Calibri"/>
            </a:endParaRPr>
          </a:p>
        </p:txBody>
      </p:sp>
      <p:sp>
        <p:nvSpPr>
          <p:cNvPr id="7" name="Google Shape;348;p4">
            <a:extLst>
              <a:ext uri="{FF2B5EF4-FFF2-40B4-BE49-F238E27FC236}">
                <a16:creationId xmlns:a16="http://schemas.microsoft.com/office/drawing/2014/main" id="{5116B45A-D21E-E9EF-234D-3B55AF972E85}"/>
              </a:ext>
            </a:extLst>
          </p:cNvPr>
          <p:cNvSpPr txBox="1"/>
          <p:nvPr/>
        </p:nvSpPr>
        <p:spPr>
          <a:xfrm>
            <a:off x="720937" y="529226"/>
            <a:ext cx="5006648" cy="62140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2060"/>
              </a:buClr>
              <a:buSzPts val="3600"/>
              <a:buFont typeface="Arial"/>
              <a:buNone/>
            </a:pPr>
            <a:r>
              <a:rPr lang="es-PE" sz="3600" b="1" dirty="0">
                <a:latin typeface="Avenir Book" panose="02000503020000020003" pitchFamily="2" charset="0"/>
                <a:ea typeface="Arial"/>
                <a:cs typeface="Arial"/>
                <a:sym typeface="Arial"/>
              </a:rPr>
              <a:t>Análisis - Metodología</a:t>
            </a:r>
            <a:endParaRPr sz="3600" b="1" dirty="0">
              <a:latin typeface="Avenir Book" panose="02000503020000020003" pitchFamily="2" charset="0"/>
              <a:ea typeface="Arial"/>
              <a:cs typeface="Arial"/>
              <a:sym typeface="Arial"/>
            </a:endParaRPr>
          </a:p>
        </p:txBody>
      </p:sp>
      <p:sp>
        <p:nvSpPr>
          <p:cNvPr id="8" name="CuadroTexto 7">
            <a:extLst>
              <a:ext uri="{FF2B5EF4-FFF2-40B4-BE49-F238E27FC236}">
                <a16:creationId xmlns:a16="http://schemas.microsoft.com/office/drawing/2014/main" id="{88BC1BFE-19D3-3795-11CF-AF74F16884F5}"/>
              </a:ext>
            </a:extLst>
          </p:cNvPr>
          <p:cNvSpPr txBox="1"/>
          <p:nvPr/>
        </p:nvSpPr>
        <p:spPr>
          <a:xfrm>
            <a:off x="346262" y="1829161"/>
            <a:ext cx="6098240" cy="369331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es-MX" b="1" dirty="0"/>
              <a:t>Enfoque Metodológico: </a:t>
            </a:r>
            <a:r>
              <a:rPr lang="es-MX" dirty="0"/>
              <a:t>Ágil (Scrum adaptado a sistemas IoT).</a:t>
            </a:r>
          </a:p>
          <a:p>
            <a:pPr>
              <a:buNone/>
            </a:pPr>
            <a:r>
              <a:rPr lang="es-MX" dirty="0"/>
              <a:t>Objetivo Principal: Desarrollo y validación paralela entre Hardware (Edge) y Software (Cloud/Web).</a:t>
            </a:r>
          </a:p>
          <a:p>
            <a:pPr>
              <a:buNone/>
            </a:pPr>
            <a:r>
              <a:rPr lang="es-MX" b="1" dirty="0"/>
              <a:t>Fases Estructurales: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s-MX" b="1" dirty="0"/>
              <a:t>Análisis y Diseño (1-2): </a:t>
            </a:r>
            <a:r>
              <a:rPr lang="es-MX" dirty="0"/>
              <a:t>Alineación a normativas (OMS/MAATE) y diseño de arquitectura (4 capas).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s-MX" b="1" dirty="0"/>
              <a:t>Ciclo Iterativo (3): </a:t>
            </a:r>
            <a:r>
              <a:rPr lang="es-MX" dirty="0"/>
              <a:t>Desarrollo por </a:t>
            </a:r>
            <a:r>
              <a:rPr lang="es-MX" i="1" dirty="0" err="1"/>
              <a:t>Sprints</a:t>
            </a:r>
            <a:r>
              <a:rPr lang="es-MX" dirty="0"/>
              <a:t> (Cloud ➔ Firmware ➔ </a:t>
            </a:r>
            <a:r>
              <a:rPr lang="es-MX" dirty="0" err="1"/>
              <a:t>Dashboard</a:t>
            </a:r>
            <a:r>
              <a:rPr lang="es-MX" dirty="0"/>
              <a:t>).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s-MX" b="1" dirty="0"/>
              <a:t>Validación y Despliegue (4-5): </a:t>
            </a:r>
            <a:r>
              <a:rPr lang="es-MX" dirty="0"/>
              <a:t>Calibración en laboratorio y despliegue físico en </a:t>
            </a:r>
            <a:r>
              <a:rPr lang="es-MX" dirty="0" err="1"/>
              <a:t>microzonas</a:t>
            </a:r>
            <a:r>
              <a:rPr lang="es-MX" dirty="0"/>
              <a:t>.</a:t>
            </a:r>
          </a:p>
          <a:p>
            <a:pPr>
              <a:buNone/>
            </a:pPr>
            <a:r>
              <a:rPr lang="es-MX" dirty="0"/>
              <a:t>Ventaja Técnica: Mitigación temprana de riesgos de latencia y cuellos de botella en la red antes de la soldadura e instalación física.</a:t>
            </a:r>
          </a:p>
        </p:txBody>
      </p:sp>
    </p:spTree>
    <p:extLst>
      <p:ext uri="{BB962C8B-B14F-4D97-AF65-F5344CB8AC3E}">
        <p14:creationId xmlns:p14="http://schemas.microsoft.com/office/powerpoint/2010/main" val="3122196134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347;p4">
            <a:extLst>
              <a:ext uri="{FF2B5EF4-FFF2-40B4-BE49-F238E27FC236}">
                <a16:creationId xmlns:a16="http://schemas.microsoft.com/office/drawing/2014/main" id="{D5166995-C6A6-350E-541D-A5713EC4D4B4}"/>
              </a:ext>
            </a:extLst>
          </p:cNvPr>
          <p:cNvSpPr/>
          <p:nvPr/>
        </p:nvSpPr>
        <p:spPr>
          <a:xfrm>
            <a:off x="0" y="1433020"/>
            <a:ext cx="1576552" cy="66507"/>
          </a:xfrm>
          <a:prstGeom prst="roundRect">
            <a:avLst>
              <a:gd name="adj" fmla="val 50000"/>
            </a:avLst>
          </a:prstGeom>
          <a:solidFill>
            <a:srgbClr val="FFC000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lt1"/>
              </a:solidFill>
              <a:latin typeface="Avenir Book" panose="02000503020000020003" pitchFamily="2" charset="0"/>
              <a:ea typeface="Calibri"/>
              <a:cs typeface="Calibri"/>
              <a:sym typeface="Calibri"/>
            </a:endParaRPr>
          </a:p>
        </p:txBody>
      </p:sp>
      <p:sp>
        <p:nvSpPr>
          <p:cNvPr id="7" name="Google Shape;348;p4">
            <a:extLst>
              <a:ext uri="{FF2B5EF4-FFF2-40B4-BE49-F238E27FC236}">
                <a16:creationId xmlns:a16="http://schemas.microsoft.com/office/drawing/2014/main" id="{5116B45A-D21E-E9EF-234D-3B55AF972E85}"/>
              </a:ext>
            </a:extLst>
          </p:cNvPr>
          <p:cNvSpPr txBox="1"/>
          <p:nvPr/>
        </p:nvSpPr>
        <p:spPr>
          <a:xfrm>
            <a:off x="720937" y="529226"/>
            <a:ext cx="5006648" cy="62140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2060"/>
              </a:buClr>
              <a:buSzPts val="3600"/>
              <a:buFont typeface="Arial"/>
              <a:buNone/>
            </a:pPr>
            <a:r>
              <a:rPr lang="es-PE" sz="3600" b="1" dirty="0">
                <a:latin typeface="Avenir Book" panose="02000503020000020003" pitchFamily="2" charset="0"/>
                <a:ea typeface="Arial"/>
                <a:cs typeface="Arial"/>
                <a:sym typeface="Arial"/>
              </a:rPr>
              <a:t>Análisis - Diseño</a:t>
            </a:r>
            <a:endParaRPr sz="3600" b="1" dirty="0">
              <a:latin typeface="Avenir Book" panose="02000503020000020003" pitchFamily="2" charset="0"/>
              <a:ea typeface="Arial"/>
              <a:cs typeface="Arial"/>
              <a:sym typeface="Arial"/>
            </a:endParaRPr>
          </a:p>
        </p:txBody>
      </p:sp>
      <p:pic>
        <p:nvPicPr>
          <p:cNvPr id="16" name="Marcador de contenido 15">
            <a:extLst>
              <a:ext uri="{FF2B5EF4-FFF2-40B4-BE49-F238E27FC236}">
                <a16:creationId xmlns:a16="http://schemas.microsoft.com/office/drawing/2014/main" id="{DB374572-4A32-2792-C55E-25C4EBCFC2EE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0" y="2375370"/>
            <a:ext cx="11977259" cy="158195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79696970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0B519B00-93D9-357A-923E-02954AE3766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20700" y="1840405"/>
            <a:ext cx="4914900" cy="3599355"/>
          </a:xfrm>
        </p:spPr>
        <p:txBody>
          <a:bodyPr/>
          <a:lstStyle/>
          <a:p>
            <a:pPr algn="just"/>
            <a:r>
              <a:rPr lang="es-MX" sz="1600" b="1" dirty="0"/>
              <a:t>Orquestación de API:</a:t>
            </a:r>
            <a:r>
              <a:rPr lang="es-MX" sz="1600" dirty="0"/>
              <a:t> Desarrollo de servicios </a:t>
            </a:r>
            <a:r>
              <a:rPr lang="es-MX" sz="1600" dirty="0" err="1"/>
              <a:t>RESTful</a:t>
            </a:r>
            <a:r>
              <a:rPr lang="es-MX" sz="1600" dirty="0"/>
              <a:t> asíncronos con </a:t>
            </a:r>
            <a:r>
              <a:rPr lang="es-MX" sz="1600" dirty="0" err="1"/>
              <a:t>FastAPI</a:t>
            </a:r>
            <a:r>
              <a:rPr lang="es-MX" sz="1600" dirty="0"/>
              <a:t> (Python).</a:t>
            </a:r>
          </a:p>
          <a:p>
            <a:pPr algn="just"/>
            <a:r>
              <a:rPr lang="es-MX" sz="1600" b="1" dirty="0"/>
              <a:t>Gestión de Telemetría (MQTT):</a:t>
            </a:r>
            <a:r>
              <a:rPr lang="es-MX" sz="1600" dirty="0"/>
              <a:t> Configuración de AWS IoT Core como </a:t>
            </a:r>
            <a:r>
              <a:rPr lang="es-MX" sz="1600" i="1" dirty="0"/>
              <a:t>Broker</a:t>
            </a:r>
            <a:r>
              <a:rPr lang="es-MX" sz="1600" dirty="0"/>
              <a:t> central para recepción de tramas JSON.</a:t>
            </a:r>
          </a:p>
          <a:p>
            <a:pPr algn="just"/>
            <a:r>
              <a:rPr lang="es-MX" sz="1600" b="1" dirty="0"/>
              <a:t>Persistencia Híbrida implementada:</a:t>
            </a:r>
            <a:endParaRPr lang="es-MX" sz="1600" dirty="0"/>
          </a:p>
          <a:p>
            <a:pPr algn="just"/>
            <a:r>
              <a:rPr lang="es-MX" sz="1600" b="1" dirty="0" err="1"/>
              <a:t>InfluxDB</a:t>
            </a:r>
            <a:r>
              <a:rPr lang="es-MX" sz="1600" b="1" dirty="0"/>
              <a:t> (TSDB):</a:t>
            </a:r>
            <a:r>
              <a:rPr lang="es-MX" sz="1600" dirty="0"/>
              <a:t> Almacenamiento columnar de series temporales para variables ambientales de alta frecuencia.</a:t>
            </a:r>
          </a:p>
          <a:p>
            <a:pPr algn="just"/>
            <a:r>
              <a:rPr lang="es-MX" sz="1600" b="1" dirty="0"/>
              <a:t>MongoDB:</a:t>
            </a:r>
            <a:r>
              <a:rPr lang="es-MX" sz="1600" dirty="0"/>
              <a:t> Gestión relacional de metadatos, validación de credenciales encriptadas (</a:t>
            </a:r>
            <a:r>
              <a:rPr lang="es-MX" sz="1600" dirty="0" err="1"/>
              <a:t>Bcrypt</a:t>
            </a:r>
            <a:r>
              <a:rPr lang="es-MX" sz="1600" dirty="0"/>
              <a:t>) y control de accesos (JWT).</a:t>
            </a:r>
          </a:p>
        </p:txBody>
      </p:sp>
      <p:sp>
        <p:nvSpPr>
          <p:cNvPr id="6" name="Google Shape;347;p4">
            <a:extLst>
              <a:ext uri="{FF2B5EF4-FFF2-40B4-BE49-F238E27FC236}">
                <a16:creationId xmlns:a16="http://schemas.microsoft.com/office/drawing/2014/main" id="{D5166995-C6A6-350E-541D-A5713EC4D4B4}"/>
              </a:ext>
            </a:extLst>
          </p:cNvPr>
          <p:cNvSpPr/>
          <p:nvPr/>
        </p:nvSpPr>
        <p:spPr>
          <a:xfrm>
            <a:off x="0" y="1433020"/>
            <a:ext cx="1576552" cy="66507"/>
          </a:xfrm>
          <a:prstGeom prst="roundRect">
            <a:avLst>
              <a:gd name="adj" fmla="val 50000"/>
            </a:avLst>
          </a:prstGeom>
          <a:solidFill>
            <a:srgbClr val="FFC000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lt1"/>
              </a:solidFill>
              <a:latin typeface="Avenir Book" panose="02000503020000020003" pitchFamily="2" charset="0"/>
              <a:ea typeface="Calibri"/>
              <a:cs typeface="Calibri"/>
              <a:sym typeface="Calibri"/>
            </a:endParaRPr>
          </a:p>
        </p:txBody>
      </p:sp>
      <p:sp>
        <p:nvSpPr>
          <p:cNvPr id="7" name="Google Shape;348;p4">
            <a:extLst>
              <a:ext uri="{FF2B5EF4-FFF2-40B4-BE49-F238E27FC236}">
                <a16:creationId xmlns:a16="http://schemas.microsoft.com/office/drawing/2014/main" id="{5116B45A-D21E-E9EF-234D-3B55AF972E85}"/>
              </a:ext>
            </a:extLst>
          </p:cNvPr>
          <p:cNvSpPr txBox="1"/>
          <p:nvPr/>
        </p:nvSpPr>
        <p:spPr>
          <a:xfrm>
            <a:off x="720936" y="529226"/>
            <a:ext cx="5911091" cy="62140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2060"/>
              </a:buClr>
              <a:buSzPts val="3600"/>
              <a:buFont typeface="Arial"/>
              <a:buNone/>
            </a:pPr>
            <a:r>
              <a:rPr lang="es-PE" sz="3600" b="1" dirty="0">
                <a:latin typeface="Avenir Book" panose="02000503020000020003" pitchFamily="2" charset="0"/>
                <a:ea typeface="Arial"/>
                <a:cs typeface="Arial"/>
                <a:sym typeface="Arial"/>
              </a:rPr>
              <a:t>Desarrollo de la solución</a:t>
            </a:r>
            <a:endParaRPr sz="3600" b="1" dirty="0">
              <a:latin typeface="Avenir Book" panose="02000503020000020003" pitchFamily="2" charset="0"/>
              <a:ea typeface="Arial"/>
              <a:cs typeface="Arial"/>
              <a:sym typeface="Arial"/>
            </a:endParaRPr>
          </a:p>
        </p:txBody>
      </p:sp>
      <p:pic>
        <p:nvPicPr>
          <p:cNvPr id="4" name="Imagen 3">
            <a:extLst>
              <a:ext uri="{FF2B5EF4-FFF2-40B4-BE49-F238E27FC236}">
                <a16:creationId xmlns:a16="http://schemas.microsoft.com/office/drawing/2014/main" id="{E1FA5A78-7630-3CCA-3198-94292947C5C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988808" y="1536532"/>
            <a:ext cx="5803899" cy="306990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75649296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BF02457-BA70-5B8C-18A9-D80B41AE4B4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80EF0703-318C-CD25-DA04-6C6FA1AC22A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20700" y="1840405"/>
            <a:ext cx="4914900" cy="3599355"/>
          </a:xfrm>
        </p:spPr>
        <p:txBody>
          <a:bodyPr/>
          <a:lstStyle/>
          <a:p>
            <a:pPr algn="just"/>
            <a:r>
              <a:rPr lang="es-MX" sz="1600" b="1" dirty="0"/>
              <a:t>Orquestación de API:</a:t>
            </a:r>
            <a:r>
              <a:rPr lang="es-MX" sz="1600" dirty="0"/>
              <a:t> Desarrollo de servicios </a:t>
            </a:r>
            <a:r>
              <a:rPr lang="es-MX" sz="1600" dirty="0" err="1"/>
              <a:t>RESTful</a:t>
            </a:r>
            <a:r>
              <a:rPr lang="es-MX" sz="1600" dirty="0"/>
              <a:t> asíncronos con </a:t>
            </a:r>
            <a:r>
              <a:rPr lang="es-MX" sz="1600" dirty="0" err="1"/>
              <a:t>FastAPI</a:t>
            </a:r>
            <a:r>
              <a:rPr lang="es-MX" sz="1600" dirty="0"/>
              <a:t> (Python).</a:t>
            </a:r>
          </a:p>
          <a:p>
            <a:pPr algn="just"/>
            <a:r>
              <a:rPr lang="es-MX" sz="1600" b="1" dirty="0"/>
              <a:t>Gestión de Telemetría (MQTT):</a:t>
            </a:r>
            <a:r>
              <a:rPr lang="es-MX" sz="1600" dirty="0"/>
              <a:t> Configuración de AWS IoT Core como </a:t>
            </a:r>
            <a:r>
              <a:rPr lang="es-MX" sz="1600" i="1" dirty="0"/>
              <a:t>Broker</a:t>
            </a:r>
            <a:r>
              <a:rPr lang="es-MX" sz="1600" dirty="0"/>
              <a:t> central para recepción de tramas JSON.</a:t>
            </a:r>
          </a:p>
          <a:p>
            <a:pPr algn="just"/>
            <a:r>
              <a:rPr lang="es-MX" sz="1600" b="1" dirty="0"/>
              <a:t>Persistencia Híbrida implementada:</a:t>
            </a:r>
            <a:endParaRPr lang="es-MX" sz="1600" dirty="0"/>
          </a:p>
          <a:p>
            <a:pPr algn="just"/>
            <a:r>
              <a:rPr lang="es-MX" sz="1600" b="1" dirty="0" err="1"/>
              <a:t>InfluxDB</a:t>
            </a:r>
            <a:r>
              <a:rPr lang="es-MX" sz="1600" b="1" dirty="0"/>
              <a:t> (TSDB):</a:t>
            </a:r>
            <a:r>
              <a:rPr lang="es-MX" sz="1600" dirty="0"/>
              <a:t> Almacenamiento columnar de series temporales para variables ambientales de alta frecuencia.</a:t>
            </a:r>
          </a:p>
          <a:p>
            <a:pPr algn="just"/>
            <a:r>
              <a:rPr lang="es-MX" sz="1600" b="1" dirty="0"/>
              <a:t>MongoDB:</a:t>
            </a:r>
            <a:r>
              <a:rPr lang="es-MX" sz="1600" dirty="0"/>
              <a:t> Gestión relacional de metadatos, validación de credenciales encriptadas (</a:t>
            </a:r>
            <a:r>
              <a:rPr lang="es-MX" sz="1600" dirty="0" err="1"/>
              <a:t>Bcrypt</a:t>
            </a:r>
            <a:r>
              <a:rPr lang="es-MX" sz="1600" dirty="0"/>
              <a:t>) y control de accesos (JWT).</a:t>
            </a:r>
          </a:p>
        </p:txBody>
      </p:sp>
      <p:sp>
        <p:nvSpPr>
          <p:cNvPr id="6" name="Google Shape;347;p4">
            <a:extLst>
              <a:ext uri="{FF2B5EF4-FFF2-40B4-BE49-F238E27FC236}">
                <a16:creationId xmlns:a16="http://schemas.microsoft.com/office/drawing/2014/main" id="{1BE5AEED-D5A9-5560-91AD-0632595FC809}"/>
              </a:ext>
            </a:extLst>
          </p:cNvPr>
          <p:cNvSpPr/>
          <p:nvPr/>
        </p:nvSpPr>
        <p:spPr>
          <a:xfrm>
            <a:off x="0" y="1433020"/>
            <a:ext cx="1576552" cy="66507"/>
          </a:xfrm>
          <a:prstGeom prst="roundRect">
            <a:avLst>
              <a:gd name="adj" fmla="val 50000"/>
            </a:avLst>
          </a:prstGeom>
          <a:solidFill>
            <a:srgbClr val="FFC000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lt1"/>
              </a:solidFill>
              <a:latin typeface="Avenir Book" panose="02000503020000020003" pitchFamily="2" charset="0"/>
              <a:ea typeface="Calibri"/>
              <a:cs typeface="Calibri"/>
              <a:sym typeface="Calibri"/>
            </a:endParaRPr>
          </a:p>
        </p:txBody>
      </p:sp>
      <p:sp>
        <p:nvSpPr>
          <p:cNvPr id="7" name="Google Shape;348;p4">
            <a:extLst>
              <a:ext uri="{FF2B5EF4-FFF2-40B4-BE49-F238E27FC236}">
                <a16:creationId xmlns:a16="http://schemas.microsoft.com/office/drawing/2014/main" id="{C03E40A8-1E8C-6FB3-D565-97DD78B88262}"/>
              </a:ext>
            </a:extLst>
          </p:cNvPr>
          <p:cNvSpPr txBox="1"/>
          <p:nvPr/>
        </p:nvSpPr>
        <p:spPr>
          <a:xfrm>
            <a:off x="720936" y="529226"/>
            <a:ext cx="5911091" cy="62140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2060"/>
              </a:buClr>
              <a:buSzPts val="3600"/>
              <a:buFont typeface="Arial"/>
              <a:buNone/>
            </a:pPr>
            <a:r>
              <a:rPr lang="es-PE" sz="3600" b="1" dirty="0">
                <a:latin typeface="Avenir Book" panose="02000503020000020003" pitchFamily="2" charset="0"/>
                <a:ea typeface="Arial"/>
                <a:cs typeface="Arial"/>
                <a:sym typeface="Arial"/>
              </a:rPr>
              <a:t>Desarrollo de la solución</a:t>
            </a:r>
            <a:endParaRPr sz="3600" b="1" dirty="0">
              <a:latin typeface="Avenir Book" panose="02000503020000020003" pitchFamily="2" charset="0"/>
              <a:ea typeface="Arial"/>
              <a:cs typeface="Arial"/>
              <a:sym typeface="Arial"/>
            </a:endParaRPr>
          </a:p>
        </p:txBody>
      </p:sp>
      <p:pic>
        <p:nvPicPr>
          <p:cNvPr id="4" name="Imagen 3">
            <a:extLst>
              <a:ext uri="{FF2B5EF4-FFF2-40B4-BE49-F238E27FC236}">
                <a16:creationId xmlns:a16="http://schemas.microsoft.com/office/drawing/2014/main" id="{85427761-F186-BC8F-211E-29D2DAA9917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867402" y="359099"/>
            <a:ext cx="5011556" cy="2650801"/>
          </a:xfrm>
          <a:prstGeom prst="rect">
            <a:avLst/>
          </a:prstGeom>
        </p:spPr>
      </p:pic>
      <p:pic>
        <p:nvPicPr>
          <p:cNvPr id="5" name="Imagen 4">
            <a:extLst>
              <a:ext uri="{FF2B5EF4-FFF2-40B4-BE49-F238E27FC236}">
                <a16:creationId xmlns:a16="http://schemas.microsoft.com/office/drawing/2014/main" id="{D0A50D88-97CE-5447-2CEE-07F25E21752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367644" y="3180027"/>
            <a:ext cx="5319549" cy="280981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60025607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347;p4">
            <a:extLst>
              <a:ext uri="{FF2B5EF4-FFF2-40B4-BE49-F238E27FC236}">
                <a16:creationId xmlns:a16="http://schemas.microsoft.com/office/drawing/2014/main" id="{D5166995-C6A6-350E-541D-A5713EC4D4B4}"/>
              </a:ext>
            </a:extLst>
          </p:cNvPr>
          <p:cNvSpPr/>
          <p:nvPr/>
        </p:nvSpPr>
        <p:spPr>
          <a:xfrm>
            <a:off x="0" y="1433020"/>
            <a:ext cx="1576552" cy="66507"/>
          </a:xfrm>
          <a:prstGeom prst="roundRect">
            <a:avLst>
              <a:gd name="adj" fmla="val 50000"/>
            </a:avLst>
          </a:prstGeom>
          <a:solidFill>
            <a:srgbClr val="FFC000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lt1"/>
              </a:solidFill>
              <a:latin typeface="Avenir Book" panose="02000503020000020003" pitchFamily="2" charset="0"/>
              <a:ea typeface="Calibri"/>
              <a:cs typeface="Calibri"/>
              <a:sym typeface="Calibri"/>
            </a:endParaRPr>
          </a:p>
        </p:txBody>
      </p:sp>
      <p:sp>
        <p:nvSpPr>
          <p:cNvPr id="7" name="Google Shape;348;p4">
            <a:extLst>
              <a:ext uri="{FF2B5EF4-FFF2-40B4-BE49-F238E27FC236}">
                <a16:creationId xmlns:a16="http://schemas.microsoft.com/office/drawing/2014/main" id="{5116B45A-D21E-E9EF-234D-3B55AF972E85}"/>
              </a:ext>
            </a:extLst>
          </p:cNvPr>
          <p:cNvSpPr txBox="1"/>
          <p:nvPr/>
        </p:nvSpPr>
        <p:spPr>
          <a:xfrm>
            <a:off x="720936" y="529226"/>
            <a:ext cx="7673764" cy="62140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2060"/>
              </a:buClr>
              <a:buSzPts val="3600"/>
              <a:buFont typeface="Arial"/>
              <a:buNone/>
            </a:pPr>
            <a:r>
              <a:rPr lang="es-PE" sz="3600" b="1" dirty="0">
                <a:latin typeface="Avenir Book" panose="02000503020000020003" pitchFamily="2" charset="0"/>
                <a:ea typeface="Arial"/>
                <a:cs typeface="Arial"/>
                <a:sym typeface="Arial"/>
              </a:rPr>
              <a:t>Análisis y discusión de resultados</a:t>
            </a:r>
            <a:endParaRPr sz="3600" b="1" dirty="0">
              <a:latin typeface="Avenir Book" panose="02000503020000020003" pitchFamily="2" charset="0"/>
              <a:ea typeface="Arial"/>
              <a:cs typeface="Arial"/>
              <a:sym typeface="Arial"/>
            </a:endParaRPr>
          </a:p>
        </p:txBody>
      </p:sp>
      <p:pic>
        <p:nvPicPr>
          <p:cNvPr id="2" name="Imagen 1">
            <a:extLst>
              <a:ext uri="{FF2B5EF4-FFF2-40B4-BE49-F238E27FC236}">
                <a16:creationId xmlns:a16="http://schemas.microsoft.com/office/drawing/2014/main" id="{C1448C86-E810-6C0F-6547-E5F01859A638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b="8998"/>
          <a:stretch/>
        </p:blipFill>
        <p:spPr>
          <a:xfrm>
            <a:off x="440914" y="2353748"/>
            <a:ext cx="6008484" cy="2086854"/>
          </a:xfrm>
          <a:prstGeom prst="rect">
            <a:avLst/>
          </a:prstGeom>
        </p:spPr>
      </p:pic>
      <p:sp>
        <p:nvSpPr>
          <p:cNvPr id="4" name="Rectángulo 3">
            <a:extLst>
              <a:ext uri="{FF2B5EF4-FFF2-40B4-BE49-F238E27FC236}">
                <a16:creationId xmlns:a16="http://schemas.microsoft.com/office/drawing/2014/main" id="{16C540B4-B514-E50A-535D-1FEB2FB47529}"/>
              </a:ext>
            </a:extLst>
          </p:cNvPr>
          <p:cNvSpPr/>
          <p:nvPr/>
        </p:nvSpPr>
        <p:spPr>
          <a:xfrm>
            <a:off x="7111676" y="1788550"/>
            <a:ext cx="3839513" cy="492443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spcAft>
                <a:spcPts val="0"/>
              </a:spcAft>
            </a:pPr>
            <a:r>
              <a:rPr lang="es-PE" sz="1300" b="1" dirty="0">
                <a:solidFill>
                  <a:srgbClr val="002060"/>
                </a:solidFill>
                <a:latin typeface="Arial" panose="020B0604020202020204" pitchFamily="34" charset="0"/>
                <a:ea typeface="Calibri" panose="020F0502020204030204" pitchFamily="34" charset="0"/>
                <a:cs typeface="Arial" panose="020B0604020202020204" pitchFamily="34" charset="0"/>
              </a:rPr>
              <a:t>Figura 3</a:t>
            </a:r>
          </a:p>
          <a:p>
            <a:pPr>
              <a:spcAft>
                <a:spcPts val="0"/>
              </a:spcAft>
            </a:pPr>
            <a:r>
              <a:rPr lang="es-PE" sz="1300" i="1" dirty="0">
                <a:solidFill>
                  <a:srgbClr val="002060"/>
                </a:solidFill>
                <a:latin typeface="Arial" panose="020B0604020202020204" pitchFamily="34" charset="0"/>
                <a:ea typeface="Calibri" panose="020F0502020204030204" pitchFamily="34" charset="0"/>
                <a:cs typeface="Arial" panose="020B0604020202020204" pitchFamily="34" charset="0"/>
              </a:rPr>
              <a:t>Descripción de los resultados</a:t>
            </a:r>
          </a:p>
        </p:txBody>
      </p:sp>
      <p:sp>
        <p:nvSpPr>
          <p:cNvPr id="5" name="Rectángulo 4">
            <a:extLst>
              <a:ext uri="{FF2B5EF4-FFF2-40B4-BE49-F238E27FC236}">
                <a16:creationId xmlns:a16="http://schemas.microsoft.com/office/drawing/2014/main" id="{A7C9E4E1-1DFF-36CD-8342-BED3C5D54D60}"/>
              </a:ext>
            </a:extLst>
          </p:cNvPr>
          <p:cNvSpPr/>
          <p:nvPr/>
        </p:nvSpPr>
        <p:spPr>
          <a:xfrm>
            <a:off x="691747" y="1861305"/>
            <a:ext cx="4750623" cy="492443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s-ES" sz="1300" b="1" dirty="0">
                <a:solidFill>
                  <a:srgbClr val="00206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Tabla 3</a:t>
            </a:r>
          </a:p>
          <a:p>
            <a:r>
              <a:rPr lang="es-PE" sz="1300" i="1" dirty="0">
                <a:solidFill>
                  <a:srgbClr val="002060"/>
                </a:solidFill>
                <a:latin typeface="Arial" panose="020B0604020202020204" pitchFamily="34" charset="0"/>
                <a:ea typeface="Calibri" panose="020F0502020204030204" pitchFamily="34" charset="0"/>
                <a:cs typeface="Arial" panose="020B0604020202020204" pitchFamily="34" charset="0"/>
              </a:rPr>
              <a:t>Descripción de los resultados</a:t>
            </a:r>
          </a:p>
        </p:txBody>
      </p:sp>
      <p:graphicFrame>
        <p:nvGraphicFramePr>
          <p:cNvPr id="9" name="Google Shape;491;p10">
            <a:extLst>
              <a:ext uri="{FF2B5EF4-FFF2-40B4-BE49-F238E27FC236}">
                <a16:creationId xmlns:a16="http://schemas.microsoft.com/office/drawing/2014/main" id="{59C2DA9A-6D16-C72F-86A1-047D2EBD68AB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3925311521"/>
              </p:ext>
            </p:extLst>
          </p:nvPr>
        </p:nvGraphicFramePr>
        <p:xfrm>
          <a:off x="7006814" y="2388990"/>
          <a:ext cx="4385086" cy="3021209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</p:spTree>
    <p:extLst>
      <p:ext uri="{BB962C8B-B14F-4D97-AF65-F5344CB8AC3E}">
        <p14:creationId xmlns:p14="http://schemas.microsoft.com/office/powerpoint/2010/main" val="3364026407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347;p4">
            <a:extLst>
              <a:ext uri="{FF2B5EF4-FFF2-40B4-BE49-F238E27FC236}">
                <a16:creationId xmlns:a16="http://schemas.microsoft.com/office/drawing/2014/main" id="{D5166995-C6A6-350E-541D-A5713EC4D4B4}"/>
              </a:ext>
            </a:extLst>
          </p:cNvPr>
          <p:cNvSpPr/>
          <p:nvPr/>
        </p:nvSpPr>
        <p:spPr>
          <a:xfrm>
            <a:off x="0" y="1433020"/>
            <a:ext cx="1576552" cy="66507"/>
          </a:xfrm>
          <a:prstGeom prst="roundRect">
            <a:avLst>
              <a:gd name="adj" fmla="val 50000"/>
            </a:avLst>
          </a:prstGeom>
          <a:solidFill>
            <a:srgbClr val="FFC000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lt1"/>
              </a:solidFill>
              <a:latin typeface="Avenir Book" panose="02000503020000020003" pitchFamily="2" charset="0"/>
              <a:ea typeface="Calibri"/>
              <a:cs typeface="Calibri"/>
              <a:sym typeface="Calibri"/>
            </a:endParaRPr>
          </a:p>
        </p:txBody>
      </p:sp>
      <p:sp>
        <p:nvSpPr>
          <p:cNvPr id="7" name="Google Shape;348;p4">
            <a:extLst>
              <a:ext uri="{FF2B5EF4-FFF2-40B4-BE49-F238E27FC236}">
                <a16:creationId xmlns:a16="http://schemas.microsoft.com/office/drawing/2014/main" id="{5116B45A-D21E-E9EF-234D-3B55AF972E85}"/>
              </a:ext>
            </a:extLst>
          </p:cNvPr>
          <p:cNvSpPr txBox="1"/>
          <p:nvPr/>
        </p:nvSpPr>
        <p:spPr>
          <a:xfrm>
            <a:off x="720936" y="529226"/>
            <a:ext cx="7673764" cy="62140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2060"/>
              </a:buClr>
              <a:buSzPts val="3600"/>
              <a:buFont typeface="Arial"/>
              <a:buNone/>
            </a:pPr>
            <a:r>
              <a:rPr lang="es-PE" sz="3600" b="1" dirty="0">
                <a:latin typeface="Avenir Book" panose="02000503020000020003" pitchFamily="2" charset="0"/>
                <a:ea typeface="Arial"/>
                <a:cs typeface="Arial"/>
                <a:sym typeface="Arial"/>
              </a:rPr>
              <a:t>Análisis y discusión de resultados</a:t>
            </a:r>
            <a:endParaRPr sz="3600" b="1" dirty="0">
              <a:latin typeface="Avenir Book" panose="02000503020000020003" pitchFamily="2" charset="0"/>
              <a:ea typeface="Arial"/>
              <a:cs typeface="Arial"/>
              <a:sym typeface="Arial"/>
            </a:endParaRPr>
          </a:p>
        </p:txBody>
      </p:sp>
      <p:pic>
        <p:nvPicPr>
          <p:cNvPr id="2" name="Imagen 1">
            <a:extLst>
              <a:ext uri="{FF2B5EF4-FFF2-40B4-BE49-F238E27FC236}">
                <a16:creationId xmlns:a16="http://schemas.microsoft.com/office/drawing/2014/main" id="{C1448C86-E810-6C0F-6547-E5F01859A638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b="8998"/>
          <a:stretch/>
        </p:blipFill>
        <p:spPr>
          <a:xfrm>
            <a:off x="504215" y="2274001"/>
            <a:ext cx="5890129" cy="2045747"/>
          </a:xfrm>
          <a:prstGeom prst="rect">
            <a:avLst/>
          </a:prstGeom>
        </p:spPr>
      </p:pic>
      <p:sp>
        <p:nvSpPr>
          <p:cNvPr id="5" name="Rectángulo 4">
            <a:extLst>
              <a:ext uri="{FF2B5EF4-FFF2-40B4-BE49-F238E27FC236}">
                <a16:creationId xmlns:a16="http://schemas.microsoft.com/office/drawing/2014/main" id="{A7C9E4E1-1DFF-36CD-8342-BED3C5D54D60}"/>
              </a:ext>
            </a:extLst>
          </p:cNvPr>
          <p:cNvSpPr/>
          <p:nvPr/>
        </p:nvSpPr>
        <p:spPr>
          <a:xfrm>
            <a:off x="720936" y="1678883"/>
            <a:ext cx="4750623" cy="492443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s-ES" sz="1300" b="1" dirty="0">
                <a:solidFill>
                  <a:srgbClr val="00206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Tabla 3</a:t>
            </a:r>
          </a:p>
          <a:p>
            <a:r>
              <a:rPr lang="es-PE" sz="1300" i="1" dirty="0">
                <a:solidFill>
                  <a:srgbClr val="002060"/>
                </a:solidFill>
                <a:latin typeface="Arial" panose="020B0604020202020204" pitchFamily="34" charset="0"/>
                <a:ea typeface="Calibri" panose="020F0502020204030204" pitchFamily="34" charset="0"/>
                <a:cs typeface="Arial" panose="020B0604020202020204" pitchFamily="34" charset="0"/>
              </a:rPr>
              <a:t>Descripción de los resultados</a:t>
            </a:r>
          </a:p>
        </p:txBody>
      </p:sp>
      <p:graphicFrame>
        <p:nvGraphicFramePr>
          <p:cNvPr id="10" name="Google Shape;473;p9">
            <a:extLst>
              <a:ext uri="{FF2B5EF4-FFF2-40B4-BE49-F238E27FC236}">
                <a16:creationId xmlns:a16="http://schemas.microsoft.com/office/drawing/2014/main" id="{297253FB-1BB7-CE29-6329-8127686AC797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2122749994"/>
              </p:ext>
            </p:extLst>
          </p:nvPr>
        </p:nvGraphicFramePr>
        <p:xfrm>
          <a:off x="7765743" y="1969699"/>
          <a:ext cx="2988877" cy="3044344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sp>
        <p:nvSpPr>
          <p:cNvPr id="11" name="Rectángulo 10">
            <a:extLst>
              <a:ext uri="{FF2B5EF4-FFF2-40B4-BE49-F238E27FC236}">
                <a16:creationId xmlns:a16="http://schemas.microsoft.com/office/drawing/2014/main" id="{E1D6CC09-FA11-8553-1EC7-FFBA13E2E7A0}"/>
              </a:ext>
            </a:extLst>
          </p:cNvPr>
          <p:cNvSpPr/>
          <p:nvPr/>
        </p:nvSpPr>
        <p:spPr>
          <a:xfrm>
            <a:off x="7600706" y="1581504"/>
            <a:ext cx="3839513" cy="69249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spcAft>
                <a:spcPts val="0"/>
              </a:spcAft>
            </a:pPr>
            <a:r>
              <a:rPr lang="es-PE" sz="1300" b="1" dirty="0">
                <a:solidFill>
                  <a:srgbClr val="002060"/>
                </a:solidFill>
                <a:latin typeface="Arial" panose="020B0604020202020204" pitchFamily="34" charset="0"/>
                <a:ea typeface="Calibri" panose="020F0502020204030204" pitchFamily="34" charset="0"/>
                <a:cs typeface="Arial" panose="020B0604020202020204" pitchFamily="34" charset="0"/>
              </a:rPr>
              <a:t>Figura 3</a:t>
            </a:r>
          </a:p>
          <a:p>
            <a:pPr>
              <a:spcAft>
                <a:spcPts val="0"/>
              </a:spcAft>
            </a:pPr>
            <a:r>
              <a:rPr lang="es-PE" sz="1300" i="1" dirty="0">
                <a:solidFill>
                  <a:srgbClr val="002060"/>
                </a:solidFill>
                <a:latin typeface="Arial" panose="020B0604020202020204" pitchFamily="34" charset="0"/>
                <a:ea typeface="Calibri" panose="020F0502020204030204" pitchFamily="34" charset="0"/>
                <a:cs typeface="Arial" panose="020B0604020202020204" pitchFamily="34" charset="0"/>
              </a:rPr>
              <a:t>Descripción de los resultados</a:t>
            </a:r>
          </a:p>
          <a:p>
            <a:pPr>
              <a:spcAft>
                <a:spcPts val="0"/>
              </a:spcAft>
            </a:pPr>
            <a:endParaRPr lang="es-PE" sz="1300" dirty="0">
              <a:solidFill>
                <a:srgbClr val="002060"/>
              </a:solidFill>
              <a:latin typeface="Arial" panose="020B0604020202020204" pitchFamily="34" charset="0"/>
              <a:ea typeface="Calibri" panose="020F0502020204030204" pitchFamily="34" charset="0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967894014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347;p4">
            <a:extLst>
              <a:ext uri="{FF2B5EF4-FFF2-40B4-BE49-F238E27FC236}">
                <a16:creationId xmlns:a16="http://schemas.microsoft.com/office/drawing/2014/main" id="{D5166995-C6A6-350E-541D-A5713EC4D4B4}"/>
              </a:ext>
            </a:extLst>
          </p:cNvPr>
          <p:cNvSpPr/>
          <p:nvPr/>
        </p:nvSpPr>
        <p:spPr>
          <a:xfrm>
            <a:off x="0" y="1433020"/>
            <a:ext cx="1576552" cy="66507"/>
          </a:xfrm>
          <a:prstGeom prst="roundRect">
            <a:avLst>
              <a:gd name="adj" fmla="val 50000"/>
            </a:avLst>
          </a:prstGeom>
          <a:solidFill>
            <a:srgbClr val="FFC000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lt1"/>
              </a:solidFill>
              <a:latin typeface="Avenir Book" panose="02000503020000020003" pitchFamily="2" charset="0"/>
              <a:ea typeface="Calibri"/>
              <a:cs typeface="Calibri"/>
              <a:sym typeface="Calibri"/>
            </a:endParaRPr>
          </a:p>
        </p:txBody>
      </p:sp>
      <p:sp>
        <p:nvSpPr>
          <p:cNvPr id="7" name="Google Shape;348;p4">
            <a:extLst>
              <a:ext uri="{FF2B5EF4-FFF2-40B4-BE49-F238E27FC236}">
                <a16:creationId xmlns:a16="http://schemas.microsoft.com/office/drawing/2014/main" id="{5116B45A-D21E-E9EF-234D-3B55AF972E85}"/>
              </a:ext>
            </a:extLst>
          </p:cNvPr>
          <p:cNvSpPr txBox="1"/>
          <p:nvPr/>
        </p:nvSpPr>
        <p:spPr>
          <a:xfrm>
            <a:off x="720936" y="529226"/>
            <a:ext cx="5911091" cy="62140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2060"/>
              </a:buClr>
              <a:buSzPts val="3600"/>
              <a:buFont typeface="Arial"/>
              <a:buNone/>
            </a:pPr>
            <a:r>
              <a:rPr lang="es-PE" sz="3600" b="1" dirty="0">
                <a:latin typeface="Avenir Book" panose="02000503020000020003" pitchFamily="2" charset="0"/>
                <a:ea typeface="Arial"/>
                <a:cs typeface="Arial"/>
                <a:sym typeface="Arial"/>
              </a:rPr>
              <a:t>Conclusiones</a:t>
            </a:r>
            <a:endParaRPr sz="3600" b="1" dirty="0">
              <a:latin typeface="Avenir Book" panose="02000503020000020003" pitchFamily="2" charset="0"/>
              <a:ea typeface="Arial"/>
              <a:cs typeface="Arial"/>
              <a:sym typeface="Arial"/>
            </a:endParaRPr>
          </a:p>
        </p:txBody>
      </p:sp>
      <p:grpSp>
        <p:nvGrpSpPr>
          <p:cNvPr id="2" name="Grupo 1">
            <a:extLst>
              <a:ext uri="{FF2B5EF4-FFF2-40B4-BE49-F238E27FC236}">
                <a16:creationId xmlns:a16="http://schemas.microsoft.com/office/drawing/2014/main" id="{5BD516A2-E0DE-AC2B-462B-055959308F07}"/>
              </a:ext>
            </a:extLst>
          </p:cNvPr>
          <p:cNvGrpSpPr/>
          <p:nvPr/>
        </p:nvGrpSpPr>
        <p:grpSpPr>
          <a:xfrm>
            <a:off x="942537" y="1994765"/>
            <a:ext cx="10156387" cy="935410"/>
            <a:chOff x="3793590" y="1190625"/>
            <a:chExt cx="7367525" cy="935410"/>
          </a:xfrm>
        </p:grpSpPr>
        <p:cxnSp>
          <p:nvCxnSpPr>
            <p:cNvPr id="4" name="Straight Connector 72">
              <a:extLst>
                <a:ext uri="{FF2B5EF4-FFF2-40B4-BE49-F238E27FC236}">
                  <a16:creationId xmlns:a16="http://schemas.microsoft.com/office/drawing/2014/main" id="{21D25D6D-C598-BE02-FE6F-C10372FA241E}"/>
                </a:ext>
              </a:extLst>
            </p:cNvPr>
            <p:cNvCxnSpPr/>
            <p:nvPr/>
          </p:nvCxnSpPr>
          <p:spPr>
            <a:xfrm>
              <a:off x="4400786" y="1190625"/>
              <a:ext cx="0" cy="935410"/>
            </a:xfrm>
            <a:prstGeom prst="line">
              <a:avLst/>
            </a:prstGeom>
            <a:ln w="57150">
              <a:solidFill>
                <a:schemeClr val="accent5">
                  <a:lumMod val="7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5" name="TextBox 68">
              <a:extLst>
                <a:ext uri="{FF2B5EF4-FFF2-40B4-BE49-F238E27FC236}">
                  <a16:creationId xmlns:a16="http://schemas.microsoft.com/office/drawing/2014/main" id="{E45CE123-DD47-2407-C0A3-4362ECD44CDF}"/>
                </a:ext>
              </a:extLst>
            </p:cNvPr>
            <p:cNvSpPr txBox="1"/>
            <p:nvPr/>
          </p:nvSpPr>
          <p:spPr>
            <a:xfrm>
              <a:off x="3793590" y="1365942"/>
              <a:ext cx="424666" cy="52322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r"/>
              <a:r>
                <a:rPr lang="id-ID" sz="2800" b="1" dirty="0">
                  <a:solidFill>
                    <a:srgbClr val="002060"/>
                  </a:solidFill>
                  <a:latin typeface="Arial" panose="020B0604020202020204" pitchFamily="34" charset="0"/>
                  <a:ea typeface="Lato" panose="020F0502020204030203" pitchFamily="34" charset="0"/>
                  <a:cs typeface="Arial" panose="020B0604020202020204" pitchFamily="34" charset="0"/>
                </a:rPr>
                <a:t>01</a:t>
              </a:r>
            </a:p>
          </p:txBody>
        </p:sp>
        <p:sp>
          <p:nvSpPr>
            <p:cNvPr id="8" name="CuadroTexto 7">
              <a:extLst>
                <a:ext uri="{FF2B5EF4-FFF2-40B4-BE49-F238E27FC236}">
                  <a16:creationId xmlns:a16="http://schemas.microsoft.com/office/drawing/2014/main" id="{07B9C5ED-73FB-AFF8-E6D8-DD667B3B4B55}"/>
                </a:ext>
              </a:extLst>
            </p:cNvPr>
            <p:cNvSpPr txBox="1"/>
            <p:nvPr/>
          </p:nvSpPr>
          <p:spPr>
            <a:xfrm>
              <a:off x="4694695" y="1299388"/>
              <a:ext cx="6466420" cy="64633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s-ES" dirty="0">
                  <a:solidFill>
                    <a:schemeClr val="tx1">
                      <a:lumMod val="85000"/>
                      <a:lumOff val="15000"/>
                    </a:schemeClr>
                  </a:solidFill>
                  <a:latin typeface="Avenir Book" panose="02000503020000020003" pitchFamily="2" charset="0"/>
                  <a:ea typeface="Lato" panose="020F0502020204030203" pitchFamily="34" charset="0"/>
                  <a:cs typeface="Arial" panose="020B0604020202020204" pitchFamily="34" charset="0"/>
                </a:rPr>
                <a:t>Presenta las deducciones prácticas obtenidas a partir del desarrollo del TT. Recuerda que las conclusiones deben presentarse de manera lógica y organizada.</a:t>
              </a:r>
            </a:p>
          </p:txBody>
        </p:sp>
      </p:grpSp>
      <p:grpSp>
        <p:nvGrpSpPr>
          <p:cNvPr id="9" name="Grupo 8">
            <a:extLst>
              <a:ext uri="{FF2B5EF4-FFF2-40B4-BE49-F238E27FC236}">
                <a16:creationId xmlns:a16="http://schemas.microsoft.com/office/drawing/2014/main" id="{6D77F896-2CD4-B62D-C0F8-B7A08D4F241C}"/>
              </a:ext>
            </a:extLst>
          </p:cNvPr>
          <p:cNvGrpSpPr/>
          <p:nvPr/>
        </p:nvGrpSpPr>
        <p:grpSpPr>
          <a:xfrm>
            <a:off x="942536" y="3347315"/>
            <a:ext cx="10156379" cy="935410"/>
            <a:chOff x="3793589" y="1190625"/>
            <a:chExt cx="7367519" cy="935410"/>
          </a:xfrm>
        </p:grpSpPr>
        <p:cxnSp>
          <p:nvCxnSpPr>
            <p:cNvPr id="10" name="Straight Connector 72">
              <a:extLst>
                <a:ext uri="{FF2B5EF4-FFF2-40B4-BE49-F238E27FC236}">
                  <a16:creationId xmlns:a16="http://schemas.microsoft.com/office/drawing/2014/main" id="{73CF9BDF-D09B-9DCD-D5F4-E9CA76242FCC}"/>
                </a:ext>
              </a:extLst>
            </p:cNvPr>
            <p:cNvCxnSpPr/>
            <p:nvPr/>
          </p:nvCxnSpPr>
          <p:spPr>
            <a:xfrm>
              <a:off x="4400786" y="1190625"/>
              <a:ext cx="0" cy="935410"/>
            </a:xfrm>
            <a:prstGeom prst="line">
              <a:avLst/>
            </a:prstGeom>
            <a:ln w="57150">
              <a:solidFill>
                <a:schemeClr val="accent4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1" name="TextBox 68">
              <a:extLst>
                <a:ext uri="{FF2B5EF4-FFF2-40B4-BE49-F238E27FC236}">
                  <a16:creationId xmlns:a16="http://schemas.microsoft.com/office/drawing/2014/main" id="{51EE3641-77DC-2331-393E-45D3B6C359BC}"/>
                </a:ext>
              </a:extLst>
            </p:cNvPr>
            <p:cNvSpPr txBox="1"/>
            <p:nvPr/>
          </p:nvSpPr>
          <p:spPr>
            <a:xfrm>
              <a:off x="3793589" y="1365942"/>
              <a:ext cx="424666" cy="52322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r"/>
              <a:r>
                <a:rPr lang="id-ID" sz="2800" b="1" dirty="0">
                  <a:solidFill>
                    <a:srgbClr val="002060"/>
                  </a:solidFill>
                  <a:latin typeface="Arial" panose="020B0604020202020204" pitchFamily="34" charset="0"/>
                  <a:ea typeface="Lato" panose="020F0502020204030203" pitchFamily="34" charset="0"/>
                  <a:cs typeface="Arial" panose="020B0604020202020204" pitchFamily="34" charset="0"/>
                </a:rPr>
                <a:t>0</a:t>
              </a:r>
              <a:r>
                <a:rPr lang="es-ES" sz="2800" b="1" dirty="0">
                  <a:solidFill>
                    <a:srgbClr val="002060"/>
                  </a:solidFill>
                  <a:latin typeface="Arial" panose="020B0604020202020204" pitchFamily="34" charset="0"/>
                  <a:ea typeface="Lato" panose="020F0502020204030203" pitchFamily="34" charset="0"/>
                  <a:cs typeface="Arial" panose="020B0604020202020204" pitchFamily="34" charset="0"/>
                </a:rPr>
                <a:t>2</a:t>
              </a:r>
              <a:endParaRPr lang="id-ID" sz="2800" b="1" dirty="0">
                <a:solidFill>
                  <a:srgbClr val="002060"/>
                </a:solidFill>
                <a:latin typeface="Arial" panose="020B0604020202020204" pitchFamily="34" charset="0"/>
                <a:ea typeface="Lato" panose="020F0502020204030203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12" name="CuadroTexto 11">
              <a:extLst>
                <a:ext uri="{FF2B5EF4-FFF2-40B4-BE49-F238E27FC236}">
                  <a16:creationId xmlns:a16="http://schemas.microsoft.com/office/drawing/2014/main" id="{F7CB631F-4DD2-4933-1431-D38BDA6FF7B4}"/>
                </a:ext>
              </a:extLst>
            </p:cNvPr>
            <p:cNvSpPr txBox="1"/>
            <p:nvPr/>
          </p:nvSpPr>
          <p:spPr>
            <a:xfrm>
              <a:off x="4694695" y="1335163"/>
              <a:ext cx="6466413" cy="64633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s-ES" dirty="0">
                  <a:solidFill>
                    <a:schemeClr val="tx1">
                      <a:lumMod val="85000"/>
                      <a:lumOff val="15000"/>
                    </a:schemeClr>
                  </a:solidFill>
                  <a:latin typeface="Avenir Book" panose="02000503020000020003" pitchFamily="2" charset="0"/>
                  <a:ea typeface="Lato" panose="020F0502020204030203" pitchFamily="34" charset="0"/>
                  <a:cs typeface="Arial" panose="020B0604020202020204" pitchFamily="34" charset="0"/>
                </a:rPr>
                <a:t>Presenta las deducciones prácticas obtenidas a partir del desarrollo del TT. Recuerda que las conclusiones deben presentarse de manera lógica y organizada.</a:t>
              </a:r>
            </a:p>
          </p:txBody>
        </p:sp>
      </p:grpSp>
      <p:grpSp>
        <p:nvGrpSpPr>
          <p:cNvPr id="13" name="Grupo 12">
            <a:extLst>
              <a:ext uri="{FF2B5EF4-FFF2-40B4-BE49-F238E27FC236}">
                <a16:creationId xmlns:a16="http://schemas.microsoft.com/office/drawing/2014/main" id="{DC8BB8BC-81DE-48A0-BE40-8122579D857B}"/>
              </a:ext>
            </a:extLst>
          </p:cNvPr>
          <p:cNvGrpSpPr/>
          <p:nvPr/>
        </p:nvGrpSpPr>
        <p:grpSpPr>
          <a:xfrm>
            <a:off x="942537" y="4699865"/>
            <a:ext cx="10156379" cy="935410"/>
            <a:chOff x="3793590" y="1190625"/>
            <a:chExt cx="7367519" cy="935410"/>
          </a:xfrm>
        </p:grpSpPr>
        <p:cxnSp>
          <p:nvCxnSpPr>
            <p:cNvPr id="14" name="Straight Connector 72">
              <a:extLst>
                <a:ext uri="{FF2B5EF4-FFF2-40B4-BE49-F238E27FC236}">
                  <a16:creationId xmlns:a16="http://schemas.microsoft.com/office/drawing/2014/main" id="{E6ECF26D-4EDB-3960-B7ED-E3D34CE10C28}"/>
                </a:ext>
              </a:extLst>
            </p:cNvPr>
            <p:cNvCxnSpPr/>
            <p:nvPr/>
          </p:nvCxnSpPr>
          <p:spPr>
            <a:xfrm>
              <a:off x="4400786" y="1190625"/>
              <a:ext cx="0" cy="935410"/>
            </a:xfrm>
            <a:prstGeom prst="line">
              <a:avLst/>
            </a:prstGeom>
            <a:ln w="57150">
              <a:solidFill>
                <a:schemeClr val="accent5">
                  <a:lumMod val="7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5" name="TextBox 68">
              <a:extLst>
                <a:ext uri="{FF2B5EF4-FFF2-40B4-BE49-F238E27FC236}">
                  <a16:creationId xmlns:a16="http://schemas.microsoft.com/office/drawing/2014/main" id="{569BE5AC-294D-4229-BA67-8FA5DCE59504}"/>
                </a:ext>
              </a:extLst>
            </p:cNvPr>
            <p:cNvSpPr txBox="1"/>
            <p:nvPr/>
          </p:nvSpPr>
          <p:spPr>
            <a:xfrm>
              <a:off x="3793590" y="1365942"/>
              <a:ext cx="424666" cy="52322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r"/>
              <a:r>
                <a:rPr lang="es-ES" sz="2800" b="1" dirty="0">
                  <a:solidFill>
                    <a:srgbClr val="002060"/>
                  </a:solidFill>
                  <a:latin typeface="Arial" panose="020B0604020202020204" pitchFamily="34" charset="0"/>
                  <a:ea typeface="Lato" panose="020F0502020204030203" pitchFamily="34" charset="0"/>
                  <a:cs typeface="Arial" panose="020B0604020202020204" pitchFamily="34" charset="0"/>
                </a:rPr>
                <a:t>03</a:t>
              </a:r>
              <a:endParaRPr lang="id-ID" sz="2800" b="1" dirty="0">
                <a:solidFill>
                  <a:srgbClr val="002060"/>
                </a:solidFill>
                <a:latin typeface="Arial" panose="020B0604020202020204" pitchFamily="34" charset="0"/>
                <a:ea typeface="Lato" panose="020F0502020204030203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16" name="CuadroTexto 15">
              <a:extLst>
                <a:ext uri="{FF2B5EF4-FFF2-40B4-BE49-F238E27FC236}">
                  <a16:creationId xmlns:a16="http://schemas.microsoft.com/office/drawing/2014/main" id="{C9EFFC21-597A-9CC5-BB16-A384EBD76C90}"/>
                </a:ext>
              </a:extLst>
            </p:cNvPr>
            <p:cNvSpPr txBox="1"/>
            <p:nvPr/>
          </p:nvSpPr>
          <p:spPr>
            <a:xfrm>
              <a:off x="4694695" y="1335163"/>
              <a:ext cx="6466414" cy="64633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s-ES" dirty="0">
                  <a:solidFill>
                    <a:schemeClr val="tx1">
                      <a:lumMod val="85000"/>
                      <a:lumOff val="15000"/>
                    </a:schemeClr>
                  </a:solidFill>
                  <a:latin typeface="Avenir Book" panose="02000503020000020003" pitchFamily="2" charset="0"/>
                  <a:ea typeface="Lato" panose="020F0502020204030203" pitchFamily="34" charset="0"/>
                  <a:cs typeface="Arial" panose="020B0604020202020204" pitchFamily="34" charset="0"/>
                </a:rPr>
                <a:t>Presenta las deducciones prácticas obtenidas a partir del desarrollo del TT. Recuerda que las conclusiones deben presentarse de manera lógica y organizada.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414130626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347;p4">
            <a:extLst>
              <a:ext uri="{FF2B5EF4-FFF2-40B4-BE49-F238E27FC236}">
                <a16:creationId xmlns:a16="http://schemas.microsoft.com/office/drawing/2014/main" id="{D5166995-C6A6-350E-541D-A5713EC4D4B4}"/>
              </a:ext>
            </a:extLst>
          </p:cNvPr>
          <p:cNvSpPr/>
          <p:nvPr/>
        </p:nvSpPr>
        <p:spPr>
          <a:xfrm>
            <a:off x="0" y="1433020"/>
            <a:ext cx="1576552" cy="66507"/>
          </a:xfrm>
          <a:prstGeom prst="roundRect">
            <a:avLst>
              <a:gd name="adj" fmla="val 50000"/>
            </a:avLst>
          </a:prstGeom>
          <a:solidFill>
            <a:srgbClr val="FFC000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lt1"/>
              </a:solidFill>
              <a:latin typeface="Avenir Book" panose="02000503020000020003" pitchFamily="2" charset="0"/>
              <a:ea typeface="Calibri"/>
              <a:cs typeface="Calibri"/>
              <a:sym typeface="Calibri"/>
            </a:endParaRPr>
          </a:p>
        </p:txBody>
      </p:sp>
      <p:sp>
        <p:nvSpPr>
          <p:cNvPr id="7" name="Google Shape;348;p4">
            <a:extLst>
              <a:ext uri="{FF2B5EF4-FFF2-40B4-BE49-F238E27FC236}">
                <a16:creationId xmlns:a16="http://schemas.microsoft.com/office/drawing/2014/main" id="{5116B45A-D21E-E9EF-234D-3B55AF972E85}"/>
              </a:ext>
            </a:extLst>
          </p:cNvPr>
          <p:cNvSpPr txBox="1"/>
          <p:nvPr/>
        </p:nvSpPr>
        <p:spPr>
          <a:xfrm>
            <a:off x="720936" y="529226"/>
            <a:ext cx="5911091" cy="62140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2060"/>
              </a:buClr>
              <a:buSzPts val="3600"/>
              <a:buFont typeface="Arial"/>
              <a:buNone/>
            </a:pPr>
            <a:r>
              <a:rPr lang="es-PE" sz="3600" b="1" dirty="0">
                <a:latin typeface="Avenir Book" panose="02000503020000020003" pitchFamily="2" charset="0"/>
                <a:ea typeface="Arial"/>
                <a:cs typeface="Arial"/>
                <a:sym typeface="Arial"/>
              </a:rPr>
              <a:t>Conclusiones</a:t>
            </a:r>
            <a:endParaRPr sz="3600" b="1" dirty="0">
              <a:latin typeface="Avenir Book" panose="02000503020000020003" pitchFamily="2" charset="0"/>
              <a:ea typeface="Arial"/>
              <a:cs typeface="Arial"/>
              <a:sym typeface="Arial"/>
            </a:endParaRPr>
          </a:p>
        </p:txBody>
      </p:sp>
      <p:grpSp>
        <p:nvGrpSpPr>
          <p:cNvPr id="2" name="Grupo 1">
            <a:extLst>
              <a:ext uri="{FF2B5EF4-FFF2-40B4-BE49-F238E27FC236}">
                <a16:creationId xmlns:a16="http://schemas.microsoft.com/office/drawing/2014/main" id="{5BD516A2-E0DE-AC2B-462B-055959308F07}"/>
              </a:ext>
            </a:extLst>
          </p:cNvPr>
          <p:cNvGrpSpPr/>
          <p:nvPr/>
        </p:nvGrpSpPr>
        <p:grpSpPr>
          <a:xfrm>
            <a:off x="942538" y="1994765"/>
            <a:ext cx="10156388" cy="935410"/>
            <a:chOff x="3793590" y="1190625"/>
            <a:chExt cx="7367525" cy="935410"/>
          </a:xfrm>
        </p:grpSpPr>
        <p:cxnSp>
          <p:nvCxnSpPr>
            <p:cNvPr id="4" name="Straight Connector 72">
              <a:extLst>
                <a:ext uri="{FF2B5EF4-FFF2-40B4-BE49-F238E27FC236}">
                  <a16:creationId xmlns:a16="http://schemas.microsoft.com/office/drawing/2014/main" id="{21D25D6D-C598-BE02-FE6F-C10372FA241E}"/>
                </a:ext>
              </a:extLst>
            </p:cNvPr>
            <p:cNvCxnSpPr/>
            <p:nvPr/>
          </p:nvCxnSpPr>
          <p:spPr>
            <a:xfrm>
              <a:off x="4400786" y="1190625"/>
              <a:ext cx="0" cy="935410"/>
            </a:xfrm>
            <a:prstGeom prst="line">
              <a:avLst/>
            </a:prstGeom>
            <a:ln w="57150">
              <a:solidFill>
                <a:schemeClr val="accent5">
                  <a:lumMod val="7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5" name="TextBox 68">
              <a:extLst>
                <a:ext uri="{FF2B5EF4-FFF2-40B4-BE49-F238E27FC236}">
                  <a16:creationId xmlns:a16="http://schemas.microsoft.com/office/drawing/2014/main" id="{E45CE123-DD47-2407-C0A3-4362ECD44CDF}"/>
                </a:ext>
              </a:extLst>
            </p:cNvPr>
            <p:cNvSpPr txBox="1"/>
            <p:nvPr/>
          </p:nvSpPr>
          <p:spPr>
            <a:xfrm>
              <a:off x="3793590" y="1365942"/>
              <a:ext cx="424667" cy="52322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r"/>
              <a:r>
                <a:rPr lang="id-ID" sz="2800" b="1" dirty="0">
                  <a:solidFill>
                    <a:srgbClr val="002060"/>
                  </a:solidFill>
                  <a:latin typeface="Arial" panose="020B0604020202020204" pitchFamily="34" charset="0"/>
                  <a:ea typeface="Lato" panose="020F0502020204030203" pitchFamily="34" charset="0"/>
                  <a:cs typeface="Arial" panose="020B0604020202020204" pitchFamily="34" charset="0"/>
                </a:rPr>
                <a:t>04</a:t>
              </a:r>
            </a:p>
          </p:txBody>
        </p:sp>
        <p:sp>
          <p:nvSpPr>
            <p:cNvPr id="8" name="CuadroTexto 7">
              <a:extLst>
                <a:ext uri="{FF2B5EF4-FFF2-40B4-BE49-F238E27FC236}">
                  <a16:creationId xmlns:a16="http://schemas.microsoft.com/office/drawing/2014/main" id="{07B9C5ED-73FB-AFF8-E6D8-DD667B3B4B55}"/>
                </a:ext>
              </a:extLst>
            </p:cNvPr>
            <p:cNvSpPr txBox="1"/>
            <p:nvPr/>
          </p:nvSpPr>
          <p:spPr>
            <a:xfrm>
              <a:off x="4694695" y="1299388"/>
              <a:ext cx="6466420" cy="64633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s-ES" dirty="0">
                  <a:solidFill>
                    <a:schemeClr val="tx1">
                      <a:lumMod val="85000"/>
                      <a:lumOff val="15000"/>
                    </a:schemeClr>
                  </a:solidFill>
                  <a:latin typeface="Avenir Book" panose="02000503020000020003" pitchFamily="2" charset="0"/>
                  <a:ea typeface="Lato" panose="020F0502020204030203" pitchFamily="34" charset="0"/>
                  <a:cs typeface="Arial" panose="020B0604020202020204" pitchFamily="34" charset="0"/>
                </a:rPr>
                <a:t>Presenta las deducciones prácticas obtenidas a partir del desarrollo del TT. Recuerda que las conclusiones deben presentarse de manera lógica y organizada.</a:t>
              </a:r>
            </a:p>
          </p:txBody>
        </p:sp>
      </p:grpSp>
      <p:grpSp>
        <p:nvGrpSpPr>
          <p:cNvPr id="9" name="Grupo 8">
            <a:extLst>
              <a:ext uri="{FF2B5EF4-FFF2-40B4-BE49-F238E27FC236}">
                <a16:creationId xmlns:a16="http://schemas.microsoft.com/office/drawing/2014/main" id="{6D77F896-2CD4-B62D-C0F8-B7A08D4F241C}"/>
              </a:ext>
            </a:extLst>
          </p:cNvPr>
          <p:cNvGrpSpPr/>
          <p:nvPr/>
        </p:nvGrpSpPr>
        <p:grpSpPr>
          <a:xfrm>
            <a:off x="942536" y="3347315"/>
            <a:ext cx="10156379" cy="935410"/>
            <a:chOff x="3793589" y="1190625"/>
            <a:chExt cx="7367519" cy="935410"/>
          </a:xfrm>
        </p:grpSpPr>
        <p:cxnSp>
          <p:nvCxnSpPr>
            <p:cNvPr id="10" name="Straight Connector 72">
              <a:extLst>
                <a:ext uri="{FF2B5EF4-FFF2-40B4-BE49-F238E27FC236}">
                  <a16:creationId xmlns:a16="http://schemas.microsoft.com/office/drawing/2014/main" id="{73CF9BDF-D09B-9DCD-D5F4-E9CA76242FCC}"/>
                </a:ext>
              </a:extLst>
            </p:cNvPr>
            <p:cNvCxnSpPr/>
            <p:nvPr/>
          </p:nvCxnSpPr>
          <p:spPr>
            <a:xfrm>
              <a:off x="4400786" y="1190625"/>
              <a:ext cx="0" cy="935410"/>
            </a:xfrm>
            <a:prstGeom prst="line">
              <a:avLst/>
            </a:prstGeom>
            <a:ln w="57150">
              <a:solidFill>
                <a:schemeClr val="accent4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1" name="TextBox 68">
              <a:extLst>
                <a:ext uri="{FF2B5EF4-FFF2-40B4-BE49-F238E27FC236}">
                  <a16:creationId xmlns:a16="http://schemas.microsoft.com/office/drawing/2014/main" id="{51EE3641-77DC-2331-393E-45D3B6C359BC}"/>
                </a:ext>
              </a:extLst>
            </p:cNvPr>
            <p:cNvSpPr txBox="1"/>
            <p:nvPr/>
          </p:nvSpPr>
          <p:spPr>
            <a:xfrm>
              <a:off x="3793589" y="1365942"/>
              <a:ext cx="424666" cy="52322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r"/>
              <a:r>
                <a:rPr lang="id-ID" sz="2800" b="1" dirty="0">
                  <a:solidFill>
                    <a:srgbClr val="002060"/>
                  </a:solidFill>
                  <a:latin typeface="Arial" panose="020B0604020202020204" pitchFamily="34" charset="0"/>
                  <a:ea typeface="Lato" panose="020F0502020204030203" pitchFamily="34" charset="0"/>
                  <a:cs typeface="Arial" panose="020B0604020202020204" pitchFamily="34" charset="0"/>
                </a:rPr>
                <a:t>0</a:t>
              </a:r>
              <a:r>
                <a:rPr lang="es-ES" sz="2800" b="1" dirty="0">
                  <a:solidFill>
                    <a:srgbClr val="002060"/>
                  </a:solidFill>
                  <a:latin typeface="Arial" panose="020B0604020202020204" pitchFamily="34" charset="0"/>
                  <a:ea typeface="Lato" panose="020F0502020204030203" pitchFamily="34" charset="0"/>
                  <a:cs typeface="Arial" panose="020B0604020202020204" pitchFamily="34" charset="0"/>
                </a:rPr>
                <a:t>5</a:t>
              </a:r>
              <a:endParaRPr lang="id-ID" sz="2800" b="1" dirty="0">
                <a:solidFill>
                  <a:srgbClr val="002060"/>
                </a:solidFill>
                <a:latin typeface="Arial" panose="020B0604020202020204" pitchFamily="34" charset="0"/>
                <a:ea typeface="Lato" panose="020F0502020204030203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12" name="CuadroTexto 11">
              <a:extLst>
                <a:ext uri="{FF2B5EF4-FFF2-40B4-BE49-F238E27FC236}">
                  <a16:creationId xmlns:a16="http://schemas.microsoft.com/office/drawing/2014/main" id="{F7CB631F-4DD2-4933-1431-D38BDA6FF7B4}"/>
                </a:ext>
              </a:extLst>
            </p:cNvPr>
            <p:cNvSpPr txBox="1"/>
            <p:nvPr/>
          </p:nvSpPr>
          <p:spPr>
            <a:xfrm>
              <a:off x="4694695" y="1335163"/>
              <a:ext cx="6466413" cy="64633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s-ES" dirty="0">
                  <a:solidFill>
                    <a:schemeClr val="tx1">
                      <a:lumMod val="85000"/>
                      <a:lumOff val="15000"/>
                    </a:schemeClr>
                  </a:solidFill>
                  <a:latin typeface="Avenir Book" panose="02000503020000020003" pitchFamily="2" charset="0"/>
                  <a:ea typeface="Lato" panose="020F0502020204030203" pitchFamily="34" charset="0"/>
                  <a:cs typeface="Arial" panose="020B0604020202020204" pitchFamily="34" charset="0"/>
                </a:rPr>
                <a:t>Presenta las deducciones prácticas obtenidas a partir del desarrollo del TT. Recuerda que las conclusiones deben presentarse de manera lógica y organizada.</a:t>
              </a:r>
            </a:p>
          </p:txBody>
        </p:sp>
      </p:grpSp>
      <p:grpSp>
        <p:nvGrpSpPr>
          <p:cNvPr id="13" name="Grupo 12">
            <a:extLst>
              <a:ext uri="{FF2B5EF4-FFF2-40B4-BE49-F238E27FC236}">
                <a16:creationId xmlns:a16="http://schemas.microsoft.com/office/drawing/2014/main" id="{DC8BB8BC-81DE-48A0-BE40-8122579D857B}"/>
              </a:ext>
            </a:extLst>
          </p:cNvPr>
          <p:cNvGrpSpPr/>
          <p:nvPr/>
        </p:nvGrpSpPr>
        <p:grpSpPr>
          <a:xfrm>
            <a:off x="942536" y="4699865"/>
            <a:ext cx="10156378" cy="935410"/>
            <a:chOff x="3793590" y="1190625"/>
            <a:chExt cx="7367519" cy="935410"/>
          </a:xfrm>
        </p:grpSpPr>
        <p:cxnSp>
          <p:nvCxnSpPr>
            <p:cNvPr id="14" name="Straight Connector 72">
              <a:extLst>
                <a:ext uri="{FF2B5EF4-FFF2-40B4-BE49-F238E27FC236}">
                  <a16:creationId xmlns:a16="http://schemas.microsoft.com/office/drawing/2014/main" id="{E6ECF26D-4EDB-3960-B7ED-E3D34CE10C28}"/>
                </a:ext>
              </a:extLst>
            </p:cNvPr>
            <p:cNvCxnSpPr/>
            <p:nvPr/>
          </p:nvCxnSpPr>
          <p:spPr>
            <a:xfrm>
              <a:off x="4400786" y="1190625"/>
              <a:ext cx="0" cy="935410"/>
            </a:xfrm>
            <a:prstGeom prst="line">
              <a:avLst/>
            </a:prstGeom>
            <a:ln w="57150">
              <a:solidFill>
                <a:schemeClr val="accent5">
                  <a:lumMod val="7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5" name="TextBox 68">
              <a:extLst>
                <a:ext uri="{FF2B5EF4-FFF2-40B4-BE49-F238E27FC236}">
                  <a16:creationId xmlns:a16="http://schemas.microsoft.com/office/drawing/2014/main" id="{569BE5AC-294D-4229-BA67-8FA5DCE59504}"/>
                </a:ext>
              </a:extLst>
            </p:cNvPr>
            <p:cNvSpPr txBox="1"/>
            <p:nvPr/>
          </p:nvSpPr>
          <p:spPr>
            <a:xfrm>
              <a:off x="3793590" y="1365942"/>
              <a:ext cx="424667" cy="52322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r"/>
              <a:r>
                <a:rPr lang="es-ES" sz="2800" b="1" dirty="0">
                  <a:solidFill>
                    <a:srgbClr val="002060"/>
                  </a:solidFill>
                  <a:latin typeface="Arial" panose="020B0604020202020204" pitchFamily="34" charset="0"/>
                  <a:ea typeface="Lato" panose="020F0502020204030203" pitchFamily="34" charset="0"/>
                  <a:cs typeface="Arial" panose="020B0604020202020204" pitchFamily="34" charset="0"/>
                </a:rPr>
                <a:t>06</a:t>
              </a:r>
              <a:endParaRPr lang="id-ID" sz="2800" b="1" dirty="0">
                <a:solidFill>
                  <a:srgbClr val="002060"/>
                </a:solidFill>
                <a:latin typeface="Arial" panose="020B0604020202020204" pitchFamily="34" charset="0"/>
                <a:ea typeface="Lato" panose="020F0502020204030203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16" name="CuadroTexto 15">
              <a:extLst>
                <a:ext uri="{FF2B5EF4-FFF2-40B4-BE49-F238E27FC236}">
                  <a16:creationId xmlns:a16="http://schemas.microsoft.com/office/drawing/2014/main" id="{C9EFFC21-597A-9CC5-BB16-A384EBD76C90}"/>
                </a:ext>
              </a:extLst>
            </p:cNvPr>
            <p:cNvSpPr txBox="1"/>
            <p:nvPr/>
          </p:nvSpPr>
          <p:spPr>
            <a:xfrm>
              <a:off x="4694695" y="1335163"/>
              <a:ext cx="6466414" cy="64633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s-ES" dirty="0">
                  <a:solidFill>
                    <a:schemeClr val="tx1">
                      <a:lumMod val="85000"/>
                      <a:lumOff val="15000"/>
                    </a:schemeClr>
                  </a:solidFill>
                  <a:latin typeface="Avenir Book" panose="02000503020000020003" pitchFamily="2" charset="0"/>
                  <a:ea typeface="Lato" panose="020F0502020204030203" pitchFamily="34" charset="0"/>
                  <a:cs typeface="Arial" panose="020B0604020202020204" pitchFamily="34" charset="0"/>
                </a:rPr>
                <a:t>Presenta las deducciones prácticas obtenidas a partir del desarrollo del TT. Recuerda que las conclusiones deben presentarse de manera lógica y organizada.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2519982690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347;p4">
            <a:extLst>
              <a:ext uri="{FF2B5EF4-FFF2-40B4-BE49-F238E27FC236}">
                <a16:creationId xmlns:a16="http://schemas.microsoft.com/office/drawing/2014/main" id="{D5166995-C6A6-350E-541D-A5713EC4D4B4}"/>
              </a:ext>
            </a:extLst>
          </p:cNvPr>
          <p:cNvSpPr/>
          <p:nvPr/>
        </p:nvSpPr>
        <p:spPr>
          <a:xfrm>
            <a:off x="0" y="1433020"/>
            <a:ext cx="1576552" cy="66507"/>
          </a:xfrm>
          <a:prstGeom prst="roundRect">
            <a:avLst>
              <a:gd name="adj" fmla="val 50000"/>
            </a:avLst>
          </a:prstGeom>
          <a:solidFill>
            <a:srgbClr val="FFC000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lt1"/>
              </a:solidFill>
              <a:latin typeface="Avenir Book" panose="02000503020000020003" pitchFamily="2" charset="0"/>
              <a:ea typeface="Calibri"/>
              <a:cs typeface="Calibri"/>
              <a:sym typeface="Calibri"/>
            </a:endParaRPr>
          </a:p>
        </p:txBody>
      </p:sp>
      <p:sp>
        <p:nvSpPr>
          <p:cNvPr id="7" name="Google Shape;348;p4">
            <a:extLst>
              <a:ext uri="{FF2B5EF4-FFF2-40B4-BE49-F238E27FC236}">
                <a16:creationId xmlns:a16="http://schemas.microsoft.com/office/drawing/2014/main" id="{5116B45A-D21E-E9EF-234D-3B55AF972E85}"/>
              </a:ext>
            </a:extLst>
          </p:cNvPr>
          <p:cNvSpPr txBox="1"/>
          <p:nvPr/>
        </p:nvSpPr>
        <p:spPr>
          <a:xfrm>
            <a:off x="720936" y="529226"/>
            <a:ext cx="5911091" cy="62140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2060"/>
              </a:buClr>
              <a:buSzPts val="3600"/>
              <a:buFont typeface="Arial"/>
              <a:buNone/>
            </a:pPr>
            <a:r>
              <a:rPr lang="es-PE" sz="3600" b="1" dirty="0">
                <a:latin typeface="Avenir Book" panose="02000503020000020003" pitchFamily="2" charset="0"/>
                <a:ea typeface="Arial"/>
                <a:cs typeface="Arial"/>
                <a:sym typeface="Arial"/>
              </a:rPr>
              <a:t>Recomendaciones</a:t>
            </a:r>
            <a:endParaRPr sz="3600" b="1" dirty="0">
              <a:latin typeface="Avenir Book" panose="02000503020000020003" pitchFamily="2" charset="0"/>
              <a:ea typeface="Arial"/>
              <a:cs typeface="Arial"/>
              <a:sym typeface="Arial"/>
            </a:endParaRPr>
          </a:p>
        </p:txBody>
      </p:sp>
      <p:grpSp>
        <p:nvGrpSpPr>
          <p:cNvPr id="2" name="Grupo 1">
            <a:extLst>
              <a:ext uri="{FF2B5EF4-FFF2-40B4-BE49-F238E27FC236}">
                <a16:creationId xmlns:a16="http://schemas.microsoft.com/office/drawing/2014/main" id="{5BD516A2-E0DE-AC2B-462B-055959308F07}"/>
              </a:ext>
            </a:extLst>
          </p:cNvPr>
          <p:cNvGrpSpPr/>
          <p:nvPr/>
        </p:nvGrpSpPr>
        <p:grpSpPr>
          <a:xfrm>
            <a:off x="942537" y="1994765"/>
            <a:ext cx="10156387" cy="935410"/>
            <a:chOff x="3793590" y="1190625"/>
            <a:chExt cx="7367525" cy="935410"/>
          </a:xfrm>
        </p:grpSpPr>
        <p:cxnSp>
          <p:nvCxnSpPr>
            <p:cNvPr id="4" name="Straight Connector 72">
              <a:extLst>
                <a:ext uri="{FF2B5EF4-FFF2-40B4-BE49-F238E27FC236}">
                  <a16:creationId xmlns:a16="http://schemas.microsoft.com/office/drawing/2014/main" id="{21D25D6D-C598-BE02-FE6F-C10372FA241E}"/>
                </a:ext>
              </a:extLst>
            </p:cNvPr>
            <p:cNvCxnSpPr/>
            <p:nvPr/>
          </p:nvCxnSpPr>
          <p:spPr>
            <a:xfrm>
              <a:off x="4400786" y="1190625"/>
              <a:ext cx="0" cy="935410"/>
            </a:xfrm>
            <a:prstGeom prst="line">
              <a:avLst/>
            </a:prstGeom>
            <a:ln w="57150">
              <a:solidFill>
                <a:schemeClr val="accent5">
                  <a:lumMod val="7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5" name="TextBox 68">
              <a:extLst>
                <a:ext uri="{FF2B5EF4-FFF2-40B4-BE49-F238E27FC236}">
                  <a16:creationId xmlns:a16="http://schemas.microsoft.com/office/drawing/2014/main" id="{E45CE123-DD47-2407-C0A3-4362ECD44CDF}"/>
                </a:ext>
              </a:extLst>
            </p:cNvPr>
            <p:cNvSpPr txBox="1"/>
            <p:nvPr/>
          </p:nvSpPr>
          <p:spPr>
            <a:xfrm>
              <a:off x="3793590" y="1365942"/>
              <a:ext cx="424666" cy="52322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r"/>
              <a:r>
                <a:rPr lang="id-ID" sz="2800" b="1" dirty="0">
                  <a:solidFill>
                    <a:srgbClr val="002060"/>
                  </a:solidFill>
                  <a:latin typeface="Arial" panose="020B0604020202020204" pitchFamily="34" charset="0"/>
                  <a:ea typeface="Lato" panose="020F0502020204030203" pitchFamily="34" charset="0"/>
                  <a:cs typeface="Arial" panose="020B0604020202020204" pitchFamily="34" charset="0"/>
                </a:rPr>
                <a:t>01</a:t>
              </a:r>
            </a:p>
          </p:txBody>
        </p:sp>
        <p:sp>
          <p:nvSpPr>
            <p:cNvPr id="8" name="CuadroTexto 7">
              <a:extLst>
                <a:ext uri="{FF2B5EF4-FFF2-40B4-BE49-F238E27FC236}">
                  <a16:creationId xmlns:a16="http://schemas.microsoft.com/office/drawing/2014/main" id="{07B9C5ED-73FB-AFF8-E6D8-DD667B3B4B55}"/>
                </a:ext>
              </a:extLst>
            </p:cNvPr>
            <p:cNvSpPr txBox="1"/>
            <p:nvPr/>
          </p:nvSpPr>
          <p:spPr>
            <a:xfrm>
              <a:off x="4694695" y="1299388"/>
              <a:ext cx="6466420" cy="64633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s-ES" sz="1800" dirty="0">
                  <a:solidFill>
                    <a:schemeClr val="tx1">
                      <a:lumMod val="85000"/>
                      <a:lumOff val="15000"/>
                    </a:schemeClr>
                  </a:solidFill>
                  <a:latin typeface="Avenir Book" panose="02000503020000020003" pitchFamily="2" charset="0"/>
                  <a:ea typeface="Lato" panose="020F0502020204030203" pitchFamily="34" charset="0"/>
                  <a:cs typeface="Arial" panose="020B0604020202020204" pitchFamily="34" charset="0"/>
                </a:rPr>
                <a:t>Recuerda que las recomendaciones tienen como fin orientar futuras investigaciones que contribuyan a mejorar los resultados presentados. </a:t>
              </a:r>
            </a:p>
          </p:txBody>
        </p:sp>
      </p:grpSp>
      <p:grpSp>
        <p:nvGrpSpPr>
          <p:cNvPr id="9" name="Grupo 8">
            <a:extLst>
              <a:ext uri="{FF2B5EF4-FFF2-40B4-BE49-F238E27FC236}">
                <a16:creationId xmlns:a16="http://schemas.microsoft.com/office/drawing/2014/main" id="{6D77F896-2CD4-B62D-C0F8-B7A08D4F241C}"/>
              </a:ext>
            </a:extLst>
          </p:cNvPr>
          <p:cNvGrpSpPr/>
          <p:nvPr/>
        </p:nvGrpSpPr>
        <p:grpSpPr>
          <a:xfrm>
            <a:off x="942536" y="3347315"/>
            <a:ext cx="10156379" cy="1067868"/>
            <a:chOff x="3793589" y="1190625"/>
            <a:chExt cx="7367519" cy="1067868"/>
          </a:xfrm>
        </p:grpSpPr>
        <p:cxnSp>
          <p:nvCxnSpPr>
            <p:cNvPr id="10" name="Straight Connector 72">
              <a:extLst>
                <a:ext uri="{FF2B5EF4-FFF2-40B4-BE49-F238E27FC236}">
                  <a16:creationId xmlns:a16="http://schemas.microsoft.com/office/drawing/2014/main" id="{73CF9BDF-D09B-9DCD-D5F4-E9CA76242FCC}"/>
                </a:ext>
              </a:extLst>
            </p:cNvPr>
            <p:cNvCxnSpPr/>
            <p:nvPr/>
          </p:nvCxnSpPr>
          <p:spPr>
            <a:xfrm>
              <a:off x="4400786" y="1190625"/>
              <a:ext cx="0" cy="935410"/>
            </a:xfrm>
            <a:prstGeom prst="line">
              <a:avLst/>
            </a:prstGeom>
            <a:ln w="57150">
              <a:solidFill>
                <a:schemeClr val="accent4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1" name="TextBox 68">
              <a:extLst>
                <a:ext uri="{FF2B5EF4-FFF2-40B4-BE49-F238E27FC236}">
                  <a16:creationId xmlns:a16="http://schemas.microsoft.com/office/drawing/2014/main" id="{51EE3641-77DC-2331-393E-45D3B6C359BC}"/>
                </a:ext>
              </a:extLst>
            </p:cNvPr>
            <p:cNvSpPr txBox="1"/>
            <p:nvPr/>
          </p:nvSpPr>
          <p:spPr>
            <a:xfrm>
              <a:off x="3793589" y="1365942"/>
              <a:ext cx="424666" cy="52322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r"/>
              <a:r>
                <a:rPr lang="id-ID" sz="2800" b="1" dirty="0">
                  <a:solidFill>
                    <a:srgbClr val="002060"/>
                  </a:solidFill>
                  <a:latin typeface="Arial" panose="020B0604020202020204" pitchFamily="34" charset="0"/>
                  <a:ea typeface="Lato" panose="020F0502020204030203" pitchFamily="34" charset="0"/>
                  <a:cs typeface="Arial" panose="020B0604020202020204" pitchFamily="34" charset="0"/>
                </a:rPr>
                <a:t>0</a:t>
              </a:r>
              <a:r>
                <a:rPr lang="es-ES" sz="2800" b="1" dirty="0">
                  <a:solidFill>
                    <a:srgbClr val="002060"/>
                  </a:solidFill>
                  <a:latin typeface="Arial" panose="020B0604020202020204" pitchFamily="34" charset="0"/>
                  <a:ea typeface="Lato" panose="020F0502020204030203" pitchFamily="34" charset="0"/>
                  <a:cs typeface="Arial" panose="020B0604020202020204" pitchFamily="34" charset="0"/>
                </a:rPr>
                <a:t>2</a:t>
              </a:r>
              <a:endParaRPr lang="id-ID" sz="2800" b="1" dirty="0">
                <a:solidFill>
                  <a:srgbClr val="002060"/>
                </a:solidFill>
                <a:latin typeface="Arial" panose="020B0604020202020204" pitchFamily="34" charset="0"/>
                <a:ea typeface="Lato" panose="020F0502020204030203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12" name="CuadroTexto 11">
              <a:extLst>
                <a:ext uri="{FF2B5EF4-FFF2-40B4-BE49-F238E27FC236}">
                  <a16:creationId xmlns:a16="http://schemas.microsoft.com/office/drawing/2014/main" id="{F7CB631F-4DD2-4933-1431-D38BDA6FF7B4}"/>
                </a:ext>
              </a:extLst>
            </p:cNvPr>
            <p:cNvSpPr txBox="1"/>
            <p:nvPr/>
          </p:nvSpPr>
          <p:spPr>
            <a:xfrm>
              <a:off x="4694695" y="1335163"/>
              <a:ext cx="6466413" cy="92333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s-ES" sz="1800" dirty="0">
                  <a:solidFill>
                    <a:schemeClr val="tx1">
                      <a:lumMod val="85000"/>
                      <a:lumOff val="15000"/>
                    </a:schemeClr>
                  </a:solidFill>
                  <a:latin typeface="Avenir Book" panose="02000503020000020003" pitchFamily="2" charset="0"/>
                  <a:ea typeface="Lato" panose="020F0502020204030203" pitchFamily="34" charset="0"/>
                  <a:cs typeface="Arial" panose="020B0604020202020204" pitchFamily="34" charset="0"/>
                </a:rPr>
                <a:t>Asimismo, establecer lineamientos sobre las aplicaciones prácticas de la investigación presentada en etapas no contempladas en el anteproyecto o descubiertas durante el desarrollo.</a:t>
              </a:r>
              <a:endParaRPr lang="es-ES" sz="1800" dirty="0">
                <a:solidFill>
                  <a:schemeClr val="tx1">
                    <a:lumMod val="85000"/>
                    <a:lumOff val="15000"/>
                  </a:schemeClr>
                </a:solidFill>
                <a:latin typeface="Avenir Book" panose="02000503020000020003" pitchFamily="2" charset="0"/>
              </a:endParaRPr>
            </a:p>
          </p:txBody>
        </p:sp>
      </p:grpSp>
      <p:grpSp>
        <p:nvGrpSpPr>
          <p:cNvPr id="13" name="Grupo 12">
            <a:extLst>
              <a:ext uri="{FF2B5EF4-FFF2-40B4-BE49-F238E27FC236}">
                <a16:creationId xmlns:a16="http://schemas.microsoft.com/office/drawing/2014/main" id="{DC8BB8BC-81DE-48A0-BE40-8122579D857B}"/>
              </a:ext>
            </a:extLst>
          </p:cNvPr>
          <p:cNvGrpSpPr/>
          <p:nvPr/>
        </p:nvGrpSpPr>
        <p:grpSpPr>
          <a:xfrm>
            <a:off x="942537" y="4699865"/>
            <a:ext cx="10156379" cy="935410"/>
            <a:chOff x="3793590" y="1190625"/>
            <a:chExt cx="7367519" cy="935410"/>
          </a:xfrm>
        </p:grpSpPr>
        <p:cxnSp>
          <p:nvCxnSpPr>
            <p:cNvPr id="14" name="Straight Connector 72">
              <a:extLst>
                <a:ext uri="{FF2B5EF4-FFF2-40B4-BE49-F238E27FC236}">
                  <a16:creationId xmlns:a16="http://schemas.microsoft.com/office/drawing/2014/main" id="{E6ECF26D-4EDB-3960-B7ED-E3D34CE10C28}"/>
                </a:ext>
              </a:extLst>
            </p:cNvPr>
            <p:cNvCxnSpPr/>
            <p:nvPr/>
          </p:nvCxnSpPr>
          <p:spPr>
            <a:xfrm>
              <a:off x="4400786" y="1190625"/>
              <a:ext cx="0" cy="935410"/>
            </a:xfrm>
            <a:prstGeom prst="line">
              <a:avLst/>
            </a:prstGeom>
            <a:ln w="57150">
              <a:solidFill>
                <a:schemeClr val="accent5">
                  <a:lumMod val="7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5" name="TextBox 68">
              <a:extLst>
                <a:ext uri="{FF2B5EF4-FFF2-40B4-BE49-F238E27FC236}">
                  <a16:creationId xmlns:a16="http://schemas.microsoft.com/office/drawing/2014/main" id="{569BE5AC-294D-4229-BA67-8FA5DCE59504}"/>
                </a:ext>
              </a:extLst>
            </p:cNvPr>
            <p:cNvSpPr txBox="1"/>
            <p:nvPr/>
          </p:nvSpPr>
          <p:spPr>
            <a:xfrm>
              <a:off x="3793590" y="1365942"/>
              <a:ext cx="424666" cy="52322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r"/>
              <a:r>
                <a:rPr lang="es-ES" sz="2800" b="1" dirty="0">
                  <a:solidFill>
                    <a:srgbClr val="002060"/>
                  </a:solidFill>
                  <a:latin typeface="Arial" panose="020B0604020202020204" pitchFamily="34" charset="0"/>
                  <a:ea typeface="Lato" panose="020F0502020204030203" pitchFamily="34" charset="0"/>
                  <a:cs typeface="Arial" panose="020B0604020202020204" pitchFamily="34" charset="0"/>
                </a:rPr>
                <a:t>03</a:t>
              </a:r>
              <a:endParaRPr lang="id-ID" sz="2800" b="1" dirty="0">
                <a:solidFill>
                  <a:srgbClr val="002060"/>
                </a:solidFill>
                <a:latin typeface="Arial" panose="020B0604020202020204" pitchFamily="34" charset="0"/>
                <a:ea typeface="Lato" panose="020F0502020204030203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16" name="CuadroTexto 15">
              <a:extLst>
                <a:ext uri="{FF2B5EF4-FFF2-40B4-BE49-F238E27FC236}">
                  <a16:creationId xmlns:a16="http://schemas.microsoft.com/office/drawing/2014/main" id="{C9EFFC21-597A-9CC5-BB16-A384EBD76C90}"/>
                </a:ext>
              </a:extLst>
            </p:cNvPr>
            <p:cNvSpPr txBox="1"/>
            <p:nvPr/>
          </p:nvSpPr>
          <p:spPr>
            <a:xfrm>
              <a:off x="4694695" y="1335163"/>
              <a:ext cx="6466414" cy="64633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s-ES" sz="1800" dirty="0">
                  <a:solidFill>
                    <a:schemeClr val="tx1">
                      <a:lumMod val="85000"/>
                      <a:lumOff val="15000"/>
                    </a:schemeClr>
                  </a:solidFill>
                  <a:latin typeface="Avenir Book" panose="02000503020000020003" pitchFamily="2" charset="0"/>
                  <a:ea typeface="Lato" panose="020F0502020204030203" pitchFamily="34" charset="0"/>
                  <a:cs typeface="Arial" panose="020B0604020202020204" pitchFamily="34" charset="0"/>
                </a:rPr>
                <a:t>Recuerda que las recomendaciones tienen como fin orientar futuras investigaciones que contribuyan a mejorar los resultados presentados. 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963112409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347;p4">
            <a:extLst>
              <a:ext uri="{FF2B5EF4-FFF2-40B4-BE49-F238E27FC236}">
                <a16:creationId xmlns:a16="http://schemas.microsoft.com/office/drawing/2014/main" id="{D5166995-C6A6-350E-541D-A5713EC4D4B4}"/>
              </a:ext>
            </a:extLst>
          </p:cNvPr>
          <p:cNvSpPr/>
          <p:nvPr/>
        </p:nvSpPr>
        <p:spPr>
          <a:xfrm>
            <a:off x="0" y="1433020"/>
            <a:ext cx="1576552" cy="66507"/>
          </a:xfrm>
          <a:prstGeom prst="roundRect">
            <a:avLst>
              <a:gd name="adj" fmla="val 50000"/>
            </a:avLst>
          </a:prstGeom>
          <a:solidFill>
            <a:srgbClr val="FFC000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lt1"/>
              </a:solidFill>
              <a:latin typeface="Avenir Book" panose="02000503020000020003" pitchFamily="2" charset="0"/>
              <a:ea typeface="Calibri"/>
              <a:cs typeface="Calibri"/>
              <a:sym typeface="Calibri"/>
            </a:endParaRPr>
          </a:p>
        </p:txBody>
      </p:sp>
      <p:sp>
        <p:nvSpPr>
          <p:cNvPr id="7" name="Google Shape;348;p4">
            <a:extLst>
              <a:ext uri="{FF2B5EF4-FFF2-40B4-BE49-F238E27FC236}">
                <a16:creationId xmlns:a16="http://schemas.microsoft.com/office/drawing/2014/main" id="{5116B45A-D21E-E9EF-234D-3B55AF972E85}"/>
              </a:ext>
            </a:extLst>
          </p:cNvPr>
          <p:cNvSpPr txBox="1"/>
          <p:nvPr/>
        </p:nvSpPr>
        <p:spPr>
          <a:xfrm>
            <a:off x="720936" y="529226"/>
            <a:ext cx="5911091" cy="62140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2060"/>
              </a:buClr>
              <a:buSzPts val="3600"/>
              <a:buFont typeface="Arial"/>
              <a:buNone/>
            </a:pPr>
            <a:r>
              <a:rPr lang="es-PE" sz="3600" b="1" dirty="0">
                <a:latin typeface="Avenir Book" panose="02000503020000020003" pitchFamily="2" charset="0"/>
                <a:ea typeface="Arial"/>
                <a:cs typeface="Arial"/>
                <a:sym typeface="Arial"/>
              </a:rPr>
              <a:t>Recomendaciones</a:t>
            </a:r>
            <a:endParaRPr sz="3600" b="1" dirty="0">
              <a:latin typeface="Avenir Book" panose="02000503020000020003" pitchFamily="2" charset="0"/>
              <a:ea typeface="Arial"/>
              <a:cs typeface="Arial"/>
              <a:sym typeface="Arial"/>
            </a:endParaRPr>
          </a:p>
        </p:txBody>
      </p:sp>
      <p:grpSp>
        <p:nvGrpSpPr>
          <p:cNvPr id="2" name="Grupo 1">
            <a:extLst>
              <a:ext uri="{FF2B5EF4-FFF2-40B4-BE49-F238E27FC236}">
                <a16:creationId xmlns:a16="http://schemas.microsoft.com/office/drawing/2014/main" id="{5BD516A2-E0DE-AC2B-462B-055959308F07}"/>
              </a:ext>
            </a:extLst>
          </p:cNvPr>
          <p:cNvGrpSpPr/>
          <p:nvPr/>
        </p:nvGrpSpPr>
        <p:grpSpPr>
          <a:xfrm>
            <a:off x="942538" y="1994765"/>
            <a:ext cx="10156388" cy="935410"/>
            <a:chOff x="3793590" y="1190625"/>
            <a:chExt cx="7367525" cy="935410"/>
          </a:xfrm>
        </p:grpSpPr>
        <p:cxnSp>
          <p:nvCxnSpPr>
            <p:cNvPr id="4" name="Straight Connector 72">
              <a:extLst>
                <a:ext uri="{FF2B5EF4-FFF2-40B4-BE49-F238E27FC236}">
                  <a16:creationId xmlns:a16="http://schemas.microsoft.com/office/drawing/2014/main" id="{21D25D6D-C598-BE02-FE6F-C10372FA241E}"/>
                </a:ext>
              </a:extLst>
            </p:cNvPr>
            <p:cNvCxnSpPr/>
            <p:nvPr/>
          </p:nvCxnSpPr>
          <p:spPr>
            <a:xfrm>
              <a:off x="4400786" y="1190625"/>
              <a:ext cx="0" cy="935410"/>
            </a:xfrm>
            <a:prstGeom prst="line">
              <a:avLst/>
            </a:prstGeom>
            <a:ln w="57150">
              <a:solidFill>
                <a:schemeClr val="accent5">
                  <a:lumMod val="7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5" name="TextBox 68">
              <a:extLst>
                <a:ext uri="{FF2B5EF4-FFF2-40B4-BE49-F238E27FC236}">
                  <a16:creationId xmlns:a16="http://schemas.microsoft.com/office/drawing/2014/main" id="{E45CE123-DD47-2407-C0A3-4362ECD44CDF}"/>
                </a:ext>
              </a:extLst>
            </p:cNvPr>
            <p:cNvSpPr txBox="1"/>
            <p:nvPr/>
          </p:nvSpPr>
          <p:spPr>
            <a:xfrm>
              <a:off x="3793590" y="1365942"/>
              <a:ext cx="424667" cy="52322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r"/>
              <a:r>
                <a:rPr lang="id-ID" sz="2800" b="1" dirty="0">
                  <a:solidFill>
                    <a:srgbClr val="002060"/>
                  </a:solidFill>
                  <a:latin typeface="Arial" panose="020B0604020202020204" pitchFamily="34" charset="0"/>
                  <a:ea typeface="Lato" panose="020F0502020204030203" pitchFamily="34" charset="0"/>
                  <a:cs typeface="Arial" panose="020B0604020202020204" pitchFamily="34" charset="0"/>
                </a:rPr>
                <a:t>04</a:t>
              </a:r>
            </a:p>
          </p:txBody>
        </p:sp>
        <p:sp>
          <p:nvSpPr>
            <p:cNvPr id="8" name="CuadroTexto 7">
              <a:extLst>
                <a:ext uri="{FF2B5EF4-FFF2-40B4-BE49-F238E27FC236}">
                  <a16:creationId xmlns:a16="http://schemas.microsoft.com/office/drawing/2014/main" id="{07B9C5ED-73FB-AFF8-E6D8-DD667B3B4B55}"/>
                </a:ext>
              </a:extLst>
            </p:cNvPr>
            <p:cNvSpPr txBox="1"/>
            <p:nvPr/>
          </p:nvSpPr>
          <p:spPr>
            <a:xfrm>
              <a:off x="4694695" y="1299388"/>
              <a:ext cx="6466420" cy="64633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s-ES" sz="1800" dirty="0">
                  <a:solidFill>
                    <a:schemeClr val="tx1">
                      <a:lumMod val="85000"/>
                      <a:lumOff val="15000"/>
                    </a:schemeClr>
                  </a:solidFill>
                  <a:latin typeface="Avenir Book" panose="02000503020000020003" pitchFamily="2" charset="0"/>
                  <a:ea typeface="Lato" panose="020F0502020204030203" pitchFamily="34" charset="0"/>
                  <a:cs typeface="Arial" panose="020B0604020202020204" pitchFamily="34" charset="0"/>
                </a:rPr>
                <a:t>Recuerda que las recomendaciones tienen como fin orientar futuras investigaciones que contribuyan a mejorar los resultados presentados. </a:t>
              </a:r>
            </a:p>
          </p:txBody>
        </p:sp>
      </p:grpSp>
      <p:grpSp>
        <p:nvGrpSpPr>
          <p:cNvPr id="9" name="Grupo 8">
            <a:extLst>
              <a:ext uri="{FF2B5EF4-FFF2-40B4-BE49-F238E27FC236}">
                <a16:creationId xmlns:a16="http://schemas.microsoft.com/office/drawing/2014/main" id="{6D77F896-2CD4-B62D-C0F8-B7A08D4F241C}"/>
              </a:ext>
            </a:extLst>
          </p:cNvPr>
          <p:cNvGrpSpPr/>
          <p:nvPr/>
        </p:nvGrpSpPr>
        <p:grpSpPr>
          <a:xfrm>
            <a:off x="942536" y="3347315"/>
            <a:ext cx="10156379" cy="1067868"/>
            <a:chOff x="3793589" y="1190625"/>
            <a:chExt cx="7367519" cy="1067868"/>
          </a:xfrm>
        </p:grpSpPr>
        <p:cxnSp>
          <p:nvCxnSpPr>
            <p:cNvPr id="10" name="Straight Connector 72">
              <a:extLst>
                <a:ext uri="{FF2B5EF4-FFF2-40B4-BE49-F238E27FC236}">
                  <a16:creationId xmlns:a16="http://schemas.microsoft.com/office/drawing/2014/main" id="{73CF9BDF-D09B-9DCD-D5F4-E9CA76242FCC}"/>
                </a:ext>
              </a:extLst>
            </p:cNvPr>
            <p:cNvCxnSpPr/>
            <p:nvPr/>
          </p:nvCxnSpPr>
          <p:spPr>
            <a:xfrm>
              <a:off x="4400786" y="1190625"/>
              <a:ext cx="0" cy="935410"/>
            </a:xfrm>
            <a:prstGeom prst="line">
              <a:avLst/>
            </a:prstGeom>
            <a:ln w="57150">
              <a:solidFill>
                <a:schemeClr val="accent4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1" name="TextBox 68">
              <a:extLst>
                <a:ext uri="{FF2B5EF4-FFF2-40B4-BE49-F238E27FC236}">
                  <a16:creationId xmlns:a16="http://schemas.microsoft.com/office/drawing/2014/main" id="{51EE3641-77DC-2331-393E-45D3B6C359BC}"/>
                </a:ext>
              </a:extLst>
            </p:cNvPr>
            <p:cNvSpPr txBox="1"/>
            <p:nvPr/>
          </p:nvSpPr>
          <p:spPr>
            <a:xfrm>
              <a:off x="3793589" y="1365942"/>
              <a:ext cx="424666" cy="52322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r"/>
              <a:r>
                <a:rPr lang="id-ID" sz="2800" b="1" dirty="0">
                  <a:solidFill>
                    <a:srgbClr val="002060"/>
                  </a:solidFill>
                  <a:latin typeface="Arial" panose="020B0604020202020204" pitchFamily="34" charset="0"/>
                  <a:ea typeface="Lato" panose="020F0502020204030203" pitchFamily="34" charset="0"/>
                  <a:cs typeface="Arial" panose="020B0604020202020204" pitchFamily="34" charset="0"/>
                </a:rPr>
                <a:t>0</a:t>
              </a:r>
              <a:r>
                <a:rPr lang="es-ES" sz="2800" b="1" dirty="0">
                  <a:solidFill>
                    <a:srgbClr val="002060"/>
                  </a:solidFill>
                  <a:latin typeface="Arial" panose="020B0604020202020204" pitchFamily="34" charset="0"/>
                  <a:ea typeface="Lato" panose="020F0502020204030203" pitchFamily="34" charset="0"/>
                  <a:cs typeface="Arial" panose="020B0604020202020204" pitchFamily="34" charset="0"/>
                </a:rPr>
                <a:t>5</a:t>
              </a:r>
              <a:endParaRPr lang="id-ID" sz="2800" b="1" dirty="0">
                <a:solidFill>
                  <a:srgbClr val="002060"/>
                </a:solidFill>
                <a:latin typeface="Arial" panose="020B0604020202020204" pitchFamily="34" charset="0"/>
                <a:ea typeface="Lato" panose="020F0502020204030203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12" name="CuadroTexto 11">
              <a:extLst>
                <a:ext uri="{FF2B5EF4-FFF2-40B4-BE49-F238E27FC236}">
                  <a16:creationId xmlns:a16="http://schemas.microsoft.com/office/drawing/2014/main" id="{F7CB631F-4DD2-4933-1431-D38BDA6FF7B4}"/>
                </a:ext>
              </a:extLst>
            </p:cNvPr>
            <p:cNvSpPr txBox="1"/>
            <p:nvPr/>
          </p:nvSpPr>
          <p:spPr>
            <a:xfrm>
              <a:off x="4694695" y="1335163"/>
              <a:ext cx="6466413" cy="92333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s-ES" sz="1800" dirty="0">
                  <a:solidFill>
                    <a:schemeClr val="tx1">
                      <a:lumMod val="85000"/>
                      <a:lumOff val="15000"/>
                    </a:schemeClr>
                  </a:solidFill>
                  <a:latin typeface="Avenir Book" panose="02000503020000020003" pitchFamily="2" charset="0"/>
                  <a:ea typeface="Lato" panose="020F0502020204030203" pitchFamily="34" charset="0"/>
                  <a:cs typeface="Arial" panose="020B0604020202020204" pitchFamily="34" charset="0"/>
                </a:rPr>
                <a:t>Asimismo, establecer lineamientos sobre las aplicaciones prácticas de la investigación presentada en etapas no contempladas en el anteproyecto o descubiertas durante el desarrollo.</a:t>
              </a:r>
              <a:endParaRPr lang="es-ES" sz="1800" dirty="0">
                <a:solidFill>
                  <a:schemeClr val="tx1">
                    <a:lumMod val="85000"/>
                    <a:lumOff val="15000"/>
                  </a:schemeClr>
                </a:solidFill>
                <a:latin typeface="Avenir Book" panose="02000503020000020003" pitchFamily="2" charset="0"/>
              </a:endParaRPr>
            </a:p>
          </p:txBody>
        </p:sp>
      </p:grpSp>
      <p:grpSp>
        <p:nvGrpSpPr>
          <p:cNvPr id="13" name="Grupo 12">
            <a:extLst>
              <a:ext uri="{FF2B5EF4-FFF2-40B4-BE49-F238E27FC236}">
                <a16:creationId xmlns:a16="http://schemas.microsoft.com/office/drawing/2014/main" id="{DC8BB8BC-81DE-48A0-BE40-8122579D857B}"/>
              </a:ext>
            </a:extLst>
          </p:cNvPr>
          <p:cNvGrpSpPr/>
          <p:nvPr/>
        </p:nvGrpSpPr>
        <p:grpSpPr>
          <a:xfrm>
            <a:off x="942536" y="4699865"/>
            <a:ext cx="10156378" cy="935410"/>
            <a:chOff x="3793590" y="1190625"/>
            <a:chExt cx="7367519" cy="935410"/>
          </a:xfrm>
        </p:grpSpPr>
        <p:cxnSp>
          <p:nvCxnSpPr>
            <p:cNvPr id="14" name="Straight Connector 72">
              <a:extLst>
                <a:ext uri="{FF2B5EF4-FFF2-40B4-BE49-F238E27FC236}">
                  <a16:creationId xmlns:a16="http://schemas.microsoft.com/office/drawing/2014/main" id="{E6ECF26D-4EDB-3960-B7ED-E3D34CE10C28}"/>
                </a:ext>
              </a:extLst>
            </p:cNvPr>
            <p:cNvCxnSpPr/>
            <p:nvPr/>
          </p:nvCxnSpPr>
          <p:spPr>
            <a:xfrm>
              <a:off x="4400786" y="1190625"/>
              <a:ext cx="0" cy="935410"/>
            </a:xfrm>
            <a:prstGeom prst="line">
              <a:avLst/>
            </a:prstGeom>
            <a:ln w="57150">
              <a:solidFill>
                <a:schemeClr val="accent5">
                  <a:lumMod val="7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5" name="TextBox 68">
              <a:extLst>
                <a:ext uri="{FF2B5EF4-FFF2-40B4-BE49-F238E27FC236}">
                  <a16:creationId xmlns:a16="http://schemas.microsoft.com/office/drawing/2014/main" id="{569BE5AC-294D-4229-BA67-8FA5DCE59504}"/>
                </a:ext>
              </a:extLst>
            </p:cNvPr>
            <p:cNvSpPr txBox="1"/>
            <p:nvPr/>
          </p:nvSpPr>
          <p:spPr>
            <a:xfrm>
              <a:off x="3793590" y="1365942"/>
              <a:ext cx="424667" cy="52322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r"/>
              <a:r>
                <a:rPr lang="es-ES" sz="2800" b="1" dirty="0">
                  <a:solidFill>
                    <a:srgbClr val="002060"/>
                  </a:solidFill>
                  <a:latin typeface="Arial" panose="020B0604020202020204" pitchFamily="34" charset="0"/>
                  <a:ea typeface="Lato" panose="020F0502020204030203" pitchFamily="34" charset="0"/>
                  <a:cs typeface="Arial" panose="020B0604020202020204" pitchFamily="34" charset="0"/>
                </a:rPr>
                <a:t>06</a:t>
              </a:r>
              <a:endParaRPr lang="id-ID" sz="2800" b="1" dirty="0">
                <a:solidFill>
                  <a:srgbClr val="002060"/>
                </a:solidFill>
                <a:latin typeface="Arial" panose="020B0604020202020204" pitchFamily="34" charset="0"/>
                <a:ea typeface="Lato" panose="020F0502020204030203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16" name="CuadroTexto 15">
              <a:extLst>
                <a:ext uri="{FF2B5EF4-FFF2-40B4-BE49-F238E27FC236}">
                  <a16:creationId xmlns:a16="http://schemas.microsoft.com/office/drawing/2014/main" id="{C9EFFC21-597A-9CC5-BB16-A384EBD76C90}"/>
                </a:ext>
              </a:extLst>
            </p:cNvPr>
            <p:cNvSpPr txBox="1"/>
            <p:nvPr/>
          </p:nvSpPr>
          <p:spPr>
            <a:xfrm>
              <a:off x="4694695" y="1335163"/>
              <a:ext cx="6466414" cy="64633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s-ES" sz="1800" dirty="0">
                  <a:solidFill>
                    <a:schemeClr val="tx1">
                      <a:lumMod val="85000"/>
                      <a:lumOff val="15000"/>
                    </a:schemeClr>
                  </a:solidFill>
                  <a:latin typeface="Avenir Book" panose="02000503020000020003" pitchFamily="2" charset="0"/>
                  <a:ea typeface="Lato" panose="020F0502020204030203" pitchFamily="34" charset="0"/>
                  <a:cs typeface="Arial" panose="020B0604020202020204" pitchFamily="34" charset="0"/>
                </a:rPr>
                <a:t>Recuerda que las recomendaciones tienen como fin orientar futuras investigaciones que contribuyan a mejorar los resultados presentados. 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4147852670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0FBCA1FA-0AB2-E4DE-62D1-541FAE2FD27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2025760"/>
            <a:ext cx="10515600" cy="1325563"/>
          </a:xfrm>
        </p:spPr>
        <p:txBody>
          <a:bodyPr/>
          <a:lstStyle/>
          <a:p>
            <a:pPr algn="ctr"/>
            <a:r>
              <a:rPr lang="es-EC" b="1" dirty="0">
                <a:latin typeface="Avenir Book" panose="02000503020000020003" pitchFamily="2" charset="0"/>
              </a:rPr>
              <a:t>Avance del Trabajo de Integración Curricular</a:t>
            </a:r>
          </a:p>
        </p:txBody>
      </p:sp>
    </p:spTree>
    <p:extLst>
      <p:ext uri="{BB962C8B-B14F-4D97-AF65-F5344CB8AC3E}">
        <p14:creationId xmlns:p14="http://schemas.microsoft.com/office/powerpoint/2010/main" val="3871639405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0FBCA1FA-0AB2-E4DE-62D1-541FAE2FD27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C" b="1" dirty="0">
                <a:latin typeface="Avenir Book" panose="02000503020000020003" pitchFamily="2" charset="0"/>
              </a:rPr>
              <a:t>Planificación del TIC </a:t>
            </a:r>
          </a:p>
        </p:txBody>
      </p:sp>
      <p:sp>
        <p:nvSpPr>
          <p:cNvPr id="4" name="AutoShape 2">
            <a:extLst>
              <a:ext uri="{FF2B5EF4-FFF2-40B4-BE49-F238E27FC236}">
                <a16:creationId xmlns:a16="http://schemas.microsoft.com/office/drawing/2014/main" id="{50EA29BC-5478-4367-5C86-FF1963DEE33C}"/>
              </a:ext>
            </a:extLst>
          </p:cNvPr>
          <p:cNvSpPr>
            <a:spLocks noChangeArrowheads="1"/>
          </p:cNvSpPr>
          <p:nvPr/>
        </p:nvSpPr>
        <p:spPr bwMode="auto">
          <a:xfrm>
            <a:off x="936941" y="1154885"/>
            <a:ext cx="10647947" cy="1317625"/>
          </a:xfrm>
          <a:prstGeom prst="roundRect">
            <a:avLst>
              <a:gd name="adj" fmla="val 9921"/>
            </a:avLst>
          </a:prstGeom>
          <a:gradFill rotWithShape="1">
            <a:gsLst>
              <a:gs pos="0">
                <a:srgbClr val="F6F4F3"/>
              </a:gs>
              <a:gs pos="100000">
                <a:srgbClr val="E3DFDB"/>
              </a:gs>
            </a:gsLst>
            <a:lin ang="5400000" scaled="1"/>
          </a:gra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>
            <a:prstTxWarp prst="textNoShape">
              <a:avLst/>
            </a:prstTxWarp>
          </a:bodyPr>
          <a:lstStyle/>
          <a:p>
            <a:endParaRPr lang="en-GB"/>
          </a:p>
        </p:txBody>
      </p:sp>
      <p:graphicFrame>
        <p:nvGraphicFramePr>
          <p:cNvPr id="5" name="Tabla 4">
            <a:extLst>
              <a:ext uri="{FF2B5EF4-FFF2-40B4-BE49-F238E27FC236}">
                <a16:creationId xmlns:a16="http://schemas.microsoft.com/office/drawing/2014/main" id="{9BCCEF4E-175B-E8A9-33B9-5339FF16A99B}"/>
              </a:ext>
            </a:extLst>
          </p:cNvPr>
          <p:cNvGraphicFramePr>
            <a:graphicFrameLocks noGrp="1"/>
          </p:cNvGraphicFramePr>
          <p:nvPr/>
        </p:nvGraphicFramePr>
        <p:xfrm>
          <a:off x="936941" y="2680732"/>
          <a:ext cx="10647947" cy="3278694"/>
        </p:xfrm>
        <a:graphic>
          <a:graphicData uri="http://schemas.openxmlformats.org/drawingml/2006/table">
            <a:tbl>
              <a:tblPr>
                <a:tableStyleId>{69CF1AB2-1976-4502-BF36-3FF5EA218861}</a:tableStyleId>
              </a:tblPr>
              <a:tblGrid>
                <a:gridCol w="33723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818290">
                  <a:extLst>
                    <a:ext uri="{9D8B030D-6E8A-4147-A177-3AD203B41FA5}">
                      <a16:colId xmlns:a16="http://schemas.microsoft.com/office/drawing/2014/main" val="2777379885"/>
                    </a:ext>
                  </a:extLst>
                </a:gridCol>
                <a:gridCol w="1807779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355834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282263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1011481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</a:tblGrid>
              <a:tr h="727706">
                <a:tc>
                  <a:txBody>
                    <a:bodyPr/>
                    <a:lstStyle/>
                    <a:p>
                      <a:pPr algn="ctr" fontAlgn="b"/>
                      <a:r>
                        <a:rPr lang="es-ES_tradnl" sz="2000" b="0" u="none" strike="noStrike" dirty="0">
                          <a:solidFill>
                            <a:schemeClr val="bg1"/>
                          </a:solidFill>
                          <a:latin typeface="Avenir Book" panose="02000503020000020003" pitchFamily="2" charset="0"/>
                        </a:rPr>
                        <a:t>Nombre Componente</a:t>
                      </a:r>
                      <a:endParaRPr lang="es-ES_tradnl" sz="2000" b="0" i="0" u="none" strike="noStrike" dirty="0">
                        <a:solidFill>
                          <a:schemeClr val="bg1"/>
                        </a:solidFill>
                        <a:latin typeface="Avenir Book" panose="02000503020000020003" pitchFamily="2" charset="0"/>
                      </a:endParaRPr>
                    </a:p>
                  </a:txBody>
                  <a:tcPr marL="0" marR="0" marT="0" marB="0" anchor="ctr">
                    <a:solidFill>
                      <a:schemeClr val="accent1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s-ES_tradnl" sz="2000" b="0" i="0" u="none" strike="noStrike" dirty="0">
                          <a:solidFill>
                            <a:schemeClr val="bg1"/>
                          </a:solidFill>
                          <a:latin typeface="Avenir Book" panose="02000503020000020003" pitchFamily="2" charset="0"/>
                        </a:rPr>
                        <a:t>Fecha de fin planificada</a:t>
                      </a:r>
                    </a:p>
                  </a:txBody>
                  <a:tcPr marL="0" marR="0" marT="0" marB="0" anchor="ctr">
                    <a:solidFill>
                      <a:schemeClr val="accent1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s-ES_tradnl" sz="2000" b="0" u="none" strike="noStrike" dirty="0">
                          <a:solidFill>
                            <a:schemeClr val="bg1"/>
                          </a:solidFill>
                          <a:latin typeface="Avenir Book" panose="02000503020000020003" pitchFamily="2" charset="0"/>
                        </a:rPr>
                        <a:t>Fecha de fin real</a:t>
                      </a:r>
                      <a:endParaRPr lang="es-ES_tradnl" sz="2000" b="0" i="0" u="none" strike="noStrike" dirty="0">
                        <a:solidFill>
                          <a:schemeClr val="bg1"/>
                        </a:solidFill>
                        <a:latin typeface="Avenir Book" panose="02000503020000020003" pitchFamily="2" charset="0"/>
                      </a:endParaRPr>
                    </a:p>
                  </a:txBody>
                  <a:tcPr marL="0" marR="0" marT="0" marB="0" anchor="ctr">
                    <a:solidFill>
                      <a:schemeClr val="accent1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s-ES_tradnl" sz="2000" b="0" u="none" strike="noStrike" dirty="0">
                          <a:solidFill>
                            <a:schemeClr val="bg1"/>
                          </a:solidFill>
                          <a:latin typeface="Avenir Book" panose="02000503020000020003" pitchFamily="2" charset="0"/>
                        </a:rPr>
                        <a:t>% Avance planificado</a:t>
                      </a:r>
                      <a:endParaRPr lang="es-ES_tradnl" sz="2000" b="0" i="0" u="none" strike="noStrike" dirty="0">
                        <a:solidFill>
                          <a:schemeClr val="bg1"/>
                        </a:solidFill>
                        <a:latin typeface="Avenir Book" panose="02000503020000020003" pitchFamily="2" charset="0"/>
                      </a:endParaRPr>
                    </a:p>
                  </a:txBody>
                  <a:tcPr marL="0" marR="0" marT="0" marB="0" anchor="ctr">
                    <a:solidFill>
                      <a:schemeClr val="accent1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s-ES_tradnl" sz="2000" b="0" u="none" strike="noStrike" dirty="0">
                          <a:solidFill>
                            <a:schemeClr val="bg1"/>
                          </a:solidFill>
                          <a:latin typeface="Avenir Book" panose="02000503020000020003" pitchFamily="2" charset="0"/>
                        </a:rPr>
                        <a:t>% Avance Real</a:t>
                      </a:r>
                      <a:endParaRPr lang="es-ES_tradnl" sz="2000" b="0" i="0" u="none" strike="noStrike" dirty="0">
                        <a:solidFill>
                          <a:schemeClr val="bg1"/>
                        </a:solidFill>
                        <a:latin typeface="Avenir Book" panose="02000503020000020003" pitchFamily="2" charset="0"/>
                      </a:endParaRPr>
                    </a:p>
                  </a:txBody>
                  <a:tcPr marL="0" marR="0" marT="0" marB="0" anchor="ctr">
                    <a:solidFill>
                      <a:schemeClr val="accent1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s-ES_tradnl" sz="2000" b="0" u="none" strike="noStrike" dirty="0">
                          <a:solidFill>
                            <a:schemeClr val="bg1"/>
                          </a:solidFill>
                          <a:latin typeface="Avenir Book" panose="02000503020000020003" pitchFamily="2" charset="0"/>
                        </a:rPr>
                        <a:t>% Retraso</a:t>
                      </a:r>
                      <a:endParaRPr lang="es-ES_tradnl" sz="2000" b="0" i="0" u="none" strike="noStrike" dirty="0">
                        <a:solidFill>
                          <a:schemeClr val="bg1"/>
                        </a:solidFill>
                        <a:latin typeface="Avenir Book" panose="02000503020000020003" pitchFamily="2" charset="0"/>
                      </a:endParaRPr>
                    </a:p>
                  </a:txBody>
                  <a:tcPr marL="0" marR="0" marT="0" marB="0" anchor="ctr">
                    <a:solidFill>
                      <a:schemeClr val="accent1">
                        <a:lumMod val="7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637747">
                <a:tc>
                  <a:txBody>
                    <a:bodyPr/>
                    <a:lstStyle/>
                    <a:p>
                      <a:pPr algn="l" fontAlgn="b"/>
                      <a:r>
                        <a:rPr lang="es-ES_tradnl" sz="1800" b="0" u="none" strike="noStrike" dirty="0">
                          <a:solidFill>
                            <a:srgbClr val="000000"/>
                          </a:solidFill>
                          <a:latin typeface="Avenir Book" panose="02000503020000020003" pitchFamily="2" charset="0"/>
                        </a:rPr>
                        <a:t> </a:t>
                      </a:r>
                      <a:endParaRPr lang="es-ES_tradnl" sz="1800" b="0" i="0" u="none" strike="noStrike" dirty="0">
                        <a:solidFill>
                          <a:srgbClr val="000000"/>
                        </a:solidFill>
                        <a:latin typeface="Avenir Book" panose="02000503020000020003" pitchFamily="2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fontAlgn="b"/>
                      <a:endParaRPr lang="es-ES_tradnl" sz="1800" b="0" i="0" u="none" strike="noStrike" dirty="0">
                        <a:solidFill>
                          <a:srgbClr val="000000"/>
                        </a:solidFill>
                        <a:latin typeface="Avenir Book" panose="02000503020000020003" pitchFamily="2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s-ES_tradnl" sz="1800" b="0" u="none" strike="noStrike" dirty="0">
                          <a:solidFill>
                            <a:srgbClr val="000000"/>
                          </a:solidFill>
                          <a:latin typeface="Avenir Book" panose="02000503020000020003" pitchFamily="2" charset="0"/>
                        </a:rPr>
                        <a:t> </a:t>
                      </a:r>
                      <a:endParaRPr lang="es-ES_tradnl" sz="1800" b="0" i="0" u="none" strike="noStrike" dirty="0">
                        <a:solidFill>
                          <a:srgbClr val="000000"/>
                        </a:solidFill>
                        <a:latin typeface="Avenir Book" panose="02000503020000020003" pitchFamily="2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s-ES_tradnl" sz="1800" b="0" u="none" strike="noStrike" dirty="0">
                          <a:solidFill>
                            <a:srgbClr val="000000"/>
                          </a:solidFill>
                          <a:latin typeface="Avenir Book" panose="02000503020000020003" pitchFamily="2" charset="0"/>
                        </a:rPr>
                        <a:t> </a:t>
                      </a:r>
                      <a:endParaRPr lang="es-ES_tradnl" sz="1800" b="0" i="0" u="none" strike="noStrike" dirty="0">
                        <a:solidFill>
                          <a:srgbClr val="000000"/>
                        </a:solidFill>
                        <a:latin typeface="Avenir Book" panose="02000503020000020003" pitchFamily="2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s-ES_tradnl" sz="1800" b="0" u="none" strike="noStrike" dirty="0">
                          <a:solidFill>
                            <a:srgbClr val="000000"/>
                          </a:solidFill>
                          <a:latin typeface="Avenir Book" panose="02000503020000020003" pitchFamily="2" charset="0"/>
                        </a:rPr>
                        <a:t> </a:t>
                      </a:r>
                      <a:endParaRPr lang="es-ES_tradnl" sz="1800" b="0" i="0" u="none" strike="noStrike" dirty="0">
                        <a:solidFill>
                          <a:srgbClr val="000000"/>
                        </a:solidFill>
                        <a:latin typeface="Avenir Book" panose="02000503020000020003" pitchFamily="2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s-ES_tradnl" sz="1800" b="0" u="none" strike="noStrike" dirty="0">
                          <a:solidFill>
                            <a:srgbClr val="000000"/>
                          </a:solidFill>
                          <a:latin typeface="Avenir Book" panose="02000503020000020003" pitchFamily="2" charset="0"/>
                        </a:rPr>
                        <a:t>0,0%</a:t>
                      </a:r>
                      <a:endParaRPr lang="es-ES_tradnl" sz="1800" b="0" i="0" u="none" strike="noStrike" dirty="0">
                        <a:solidFill>
                          <a:srgbClr val="000000"/>
                        </a:solidFill>
                        <a:latin typeface="Avenir Book" panose="02000503020000020003" pitchFamily="2" charset="0"/>
                      </a:endParaRPr>
                    </a:p>
                  </a:txBody>
                  <a:tcPr marL="0" marR="0" marT="0" marB="0" anchor="b"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637747">
                <a:tc>
                  <a:txBody>
                    <a:bodyPr/>
                    <a:lstStyle/>
                    <a:p>
                      <a:pPr algn="l" fontAlgn="b"/>
                      <a:r>
                        <a:rPr lang="es-ES_tradnl" sz="1800" b="0" u="none" strike="noStrike" dirty="0">
                          <a:solidFill>
                            <a:srgbClr val="000000"/>
                          </a:solidFill>
                          <a:latin typeface="Avenir Book" panose="02000503020000020003" pitchFamily="2" charset="0"/>
                        </a:rPr>
                        <a:t> </a:t>
                      </a:r>
                      <a:endParaRPr lang="es-ES_tradnl" sz="1800" b="0" i="0" u="none" strike="noStrike" dirty="0">
                        <a:solidFill>
                          <a:srgbClr val="000000"/>
                        </a:solidFill>
                        <a:latin typeface="Avenir Book" panose="02000503020000020003" pitchFamily="2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fontAlgn="b"/>
                      <a:endParaRPr lang="es-ES_tradnl" sz="1800" b="0" i="0" u="none" strike="noStrike">
                        <a:solidFill>
                          <a:srgbClr val="000000"/>
                        </a:solidFill>
                        <a:latin typeface="Avenir Book" panose="02000503020000020003" pitchFamily="2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s-ES_tradnl" sz="1800" b="0" u="none" strike="noStrike">
                          <a:solidFill>
                            <a:srgbClr val="000000"/>
                          </a:solidFill>
                          <a:latin typeface="Avenir Book" panose="02000503020000020003" pitchFamily="2" charset="0"/>
                        </a:rPr>
                        <a:t> </a:t>
                      </a:r>
                      <a:endParaRPr lang="es-ES_tradnl" sz="1800" b="0" i="0" u="none" strike="noStrike">
                        <a:solidFill>
                          <a:srgbClr val="000000"/>
                        </a:solidFill>
                        <a:latin typeface="Avenir Book" panose="02000503020000020003" pitchFamily="2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s-ES_tradnl" sz="1800" b="0" u="none" strike="noStrike" dirty="0">
                          <a:solidFill>
                            <a:srgbClr val="000000"/>
                          </a:solidFill>
                          <a:latin typeface="Avenir Book" panose="02000503020000020003" pitchFamily="2" charset="0"/>
                        </a:rPr>
                        <a:t> </a:t>
                      </a:r>
                      <a:endParaRPr lang="es-ES_tradnl" sz="1800" b="0" i="0" u="none" strike="noStrike" dirty="0">
                        <a:solidFill>
                          <a:srgbClr val="000000"/>
                        </a:solidFill>
                        <a:latin typeface="Avenir Book" panose="02000503020000020003" pitchFamily="2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s-ES_tradnl" sz="1800" b="0" u="none" strike="noStrike" dirty="0">
                          <a:solidFill>
                            <a:srgbClr val="000000"/>
                          </a:solidFill>
                          <a:latin typeface="Avenir Book" panose="02000503020000020003" pitchFamily="2" charset="0"/>
                        </a:rPr>
                        <a:t> </a:t>
                      </a:r>
                      <a:endParaRPr lang="es-ES_tradnl" sz="1800" b="0" i="0" u="none" strike="noStrike" dirty="0">
                        <a:solidFill>
                          <a:srgbClr val="000000"/>
                        </a:solidFill>
                        <a:latin typeface="Avenir Book" panose="02000503020000020003" pitchFamily="2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s-ES_tradnl" sz="1800" b="0" u="none" strike="noStrike">
                          <a:solidFill>
                            <a:srgbClr val="000000"/>
                          </a:solidFill>
                          <a:latin typeface="Avenir Book" panose="02000503020000020003" pitchFamily="2" charset="0"/>
                        </a:rPr>
                        <a:t>0,0%</a:t>
                      </a:r>
                      <a:endParaRPr lang="es-ES_tradnl" sz="1800" b="0" i="0" u="none" strike="noStrike">
                        <a:solidFill>
                          <a:srgbClr val="000000"/>
                        </a:solidFill>
                        <a:latin typeface="Avenir Book" panose="02000503020000020003" pitchFamily="2" charset="0"/>
                      </a:endParaRPr>
                    </a:p>
                  </a:txBody>
                  <a:tcPr marL="0" marR="0" marT="0" marB="0" anchor="b"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637747">
                <a:tc>
                  <a:txBody>
                    <a:bodyPr/>
                    <a:lstStyle/>
                    <a:p>
                      <a:pPr algn="l" fontAlgn="b"/>
                      <a:r>
                        <a:rPr lang="es-ES_tradnl" sz="1800" b="0" u="none" strike="noStrike" dirty="0">
                          <a:solidFill>
                            <a:srgbClr val="000000"/>
                          </a:solidFill>
                          <a:latin typeface="Avenir Book" panose="02000503020000020003" pitchFamily="2" charset="0"/>
                        </a:rPr>
                        <a:t> </a:t>
                      </a:r>
                      <a:endParaRPr lang="es-ES_tradnl" sz="1800" b="0" i="0" u="none" strike="noStrike" dirty="0">
                        <a:solidFill>
                          <a:srgbClr val="000000"/>
                        </a:solidFill>
                        <a:latin typeface="Avenir Book" panose="02000503020000020003" pitchFamily="2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fontAlgn="b"/>
                      <a:endParaRPr lang="es-ES_tradnl" sz="1800" b="0" i="0" u="none" strike="noStrike">
                        <a:solidFill>
                          <a:srgbClr val="000000"/>
                        </a:solidFill>
                        <a:latin typeface="Avenir Book" panose="02000503020000020003" pitchFamily="2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s-ES_tradnl" sz="1800" b="0" u="none" strike="noStrike">
                          <a:solidFill>
                            <a:srgbClr val="000000"/>
                          </a:solidFill>
                          <a:latin typeface="Avenir Book" panose="02000503020000020003" pitchFamily="2" charset="0"/>
                        </a:rPr>
                        <a:t> </a:t>
                      </a:r>
                      <a:endParaRPr lang="es-ES_tradnl" sz="1800" b="0" i="0" u="none" strike="noStrike">
                        <a:solidFill>
                          <a:srgbClr val="000000"/>
                        </a:solidFill>
                        <a:latin typeface="Avenir Book" panose="02000503020000020003" pitchFamily="2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s-ES_tradnl" sz="1800" b="0" u="none" strike="noStrike" dirty="0">
                          <a:solidFill>
                            <a:srgbClr val="000000"/>
                          </a:solidFill>
                          <a:latin typeface="Avenir Book" panose="02000503020000020003" pitchFamily="2" charset="0"/>
                        </a:rPr>
                        <a:t> </a:t>
                      </a:r>
                      <a:endParaRPr lang="es-ES_tradnl" sz="1800" b="0" i="0" u="none" strike="noStrike" dirty="0">
                        <a:solidFill>
                          <a:srgbClr val="000000"/>
                        </a:solidFill>
                        <a:latin typeface="Avenir Book" panose="02000503020000020003" pitchFamily="2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s-ES_tradnl" sz="1800" b="0" u="none" strike="noStrike" dirty="0">
                          <a:solidFill>
                            <a:srgbClr val="000000"/>
                          </a:solidFill>
                          <a:latin typeface="Avenir Book" panose="02000503020000020003" pitchFamily="2" charset="0"/>
                        </a:rPr>
                        <a:t> </a:t>
                      </a:r>
                      <a:endParaRPr lang="es-ES_tradnl" sz="1800" b="0" i="0" u="none" strike="noStrike" dirty="0">
                        <a:solidFill>
                          <a:srgbClr val="000000"/>
                        </a:solidFill>
                        <a:latin typeface="Avenir Book" panose="02000503020000020003" pitchFamily="2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s-ES_tradnl" sz="1800" b="0" u="none" strike="noStrike" dirty="0">
                          <a:solidFill>
                            <a:srgbClr val="000000"/>
                          </a:solidFill>
                          <a:latin typeface="Avenir Book" panose="02000503020000020003" pitchFamily="2" charset="0"/>
                        </a:rPr>
                        <a:t>0,0%</a:t>
                      </a:r>
                      <a:endParaRPr lang="es-ES_tradnl" sz="1800" b="0" i="0" u="none" strike="noStrike" dirty="0">
                        <a:solidFill>
                          <a:srgbClr val="000000"/>
                        </a:solidFill>
                        <a:latin typeface="Avenir Book" panose="02000503020000020003" pitchFamily="2" charset="0"/>
                      </a:endParaRPr>
                    </a:p>
                  </a:txBody>
                  <a:tcPr marL="0" marR="0" marT="0" marB="0" anchor="b"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637747">
                <a:tc>
                  <a:txBody>
                    <a:bodyPr/>
                    <a:lstStyle/>
                    <a:p>
                      <a:pPr algn="l" fontAlgn="b"/>
                      <a:r>
                        <a:rPr lang="es-ES_tradnl" sz="1800" b="0" u="none" strike="noStrike" dirty="0">
                          <a:solidFill>
                            <a:srgbClr val="000000"/>
                          </a:solidFill>
                          <a:latin typeface="Avenir Book" panose="02000503020000020003" pitchFamily="2" charset="0"/>
                        </a:rPr>
                        <a:t> </a:t>
                      </a:r>
                      <a:endParaRPr lang="es-ES_tradnl" sz="1800" b="0" i="0" u="none" strike="noStrike" dirty="0">
                        <a:solidFill>
                          <a:srgbClr val="000000"/>
                        </a:solidFill>
                        <a:latin typeface="Avenir Book" panose="02000503020000020003" pitchFamily="2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fontAlgn="b"/>
                      <a:endParaRPr lang="es-ES_tradnl" sz="1800" b="0" i="0" u="none" strike="noStrike" dirty="0">
                        <a:solidFill>
                          <a:srgbClr val="000000"/>
                        </a:solidFill>
                        <a:latin typeface="Avenir Book" panose="02000503020000020003" pitchFamily="2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s-ES_tradnl" sz="1800" b="0" u="none" strike="noStrike">
                          <a:solidFill>
                            <a:srgbClr val="000000"/>
                          </a:solidFill>
                          <a:latin typeface="Avenir Book" panose="02000503020000020003" pitchFamily="2" charset="0"/>
                        </a:rPr>
                        <a:t> </a:t>
                      </a:r>
                      <a:endParaRPr lang="es-ES_tradnl" sz="1800" b="0" i="0" u="none" strike="noStrike">
                        <a:solidFill>
                          <a:srgbClr val="000000"/>
                        </a:solidFill>
                        <a:latin typeface="Avenir Book" panose="02000503020000020003" pitchFamily="2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s-ES_tradnl" sz="1800" b="0" u="none" strike="noStrike">
                          <a:solidFill>
                            <a:srgbClr val="000000"/>
                          </a:solidFill>
                          <a:latin typeface="Avenir Book" panose="02000503020000020003" pitchFamily="2" charset="0"/>
                        </a:rPr>
                        <a:t> </a:t>
                      </a:r>
                      <a:endParaRPr lang="es-ES_tradnl" sz="1800" b="0" i="0" u="none" strike="noStrike">
                        <a:solidFill>
                          <a:srgbClr val="000000"/>
                        </a:solidFill>
                        <a:latin typeface="Avenir Book" panose="02000503020000020003" pitchFamily="2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s-ES_tradnl" sz="1800" b="0" u="none" strike="noStrike" dirty="0">
                          <a:solidFill>
                            <a:srgbClr val="000000"/>
                          </a:solidFill>
                          <a:latin typeface="Avenir Book" panose="02000503020000020003" pitchFamily="2" charset="0"/>
                        </a:rPr>
                        <a:t> </a:t>
                      </a:r>
                      <a:endParaRPr lang="es-ES_tradnl" sz="1800" b="0" i="0" u="none" strike="noStrike" dirty="0">
                        <a:solidFill>
                          <a:srgbClr val="000000"/>
                        </a:solidFill>
                        <a:latin typeface="Avenir Book" panose="02000503020000020003" pitchFamily="2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s-ES_tradnl" sz="1800" b="0" u="none" strike="noStrike" dirty="0">
                          <a:solidFill>
                            <a:srgbClr val="000000"/>
                          </a:solidFill>
                          <a:latin typeface="Avenir Book" panose="02000503020000020003" pitchFamily="2" charset="0"/>
                        </a:rPr>
                        <a:t>0,0%</a:t>
                      </a:r>
                      <a:endParaRPr lang="es-ES_tradnl" sz="1800" b="0" i="0" u="none" strike="noStrike" dirty="0">
                        <a:solidFill>
                          <a:srgbClr val="000000"/>
                        </a:solidFill>
                        <a:latin typeface="Avenir Book" panose="02000503020000020003" pitchFamily="2" charset="0"/>
                      </a:endParaRPr>
                    </a:p>
                  </a:txBody>
                  <a:tcPr marL="0" marR="0" marT="0" marB="0" anchor="b"/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sp>
        <p:nvSpPr>
          <p:cNvPr id="7" name="TextBox 31">
            <a:extLst>
              <a:ext uri="{FF2B5EF4-FFF2-40B4-BE49-F238E27FC236}">
                <a16:creationId xmlns:a16="http://schemas.microsoft.com/office/drawing/2014/main" id="{5C42B9E5-1B9B-CF1C-5FB5-A57B867A0A71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079500" y="1246929"/>
            <a:ext cx="1809750" cy="36988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prstTxWarp prst="textNoShape">
              <a:avLst/>
            </a:prstTxWarp>
            <a:spAutoFit/>
          </a:bodyPr>
          <a:lstStyle/>
          <a:p>
            <a:r>
              <a:rPr lang="es-MX" dirty="0">
                <a:latin typeface="Avenir Book" panose="02000503020000020003" pitchFamily="2" charset="0"/>
              </a:rPr>
              <a:t>% Avance Real:</a:t>
            </a:r>
            <a:endParaRPr lang="en-US" dirty="0">
              <a:latin typeface="Avenir Book" panose="02000503020000020003" pitchFamily="2" charset="0"/>
            </a:endParaRPr>
          </a:p>
        </p:txBody>
      </p:sp>
      <p:sp>
        <p:nvSpPr>
          <p:cNvPr id="8" name="TextBox 32">
            <a:extLst>
              <a:ext uri="{FF2B5EF4-FFF2-40B4-BE49-F238E27FC236}">
                <a16:creationId xmlns:a16="http://schemas.microsoft.com/office/drawing/2014/main" id="{FE9919FD-A3CA-9796-EF58-366CFE57CA0B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079501" y="1589829"/>
            <a:ext cx="2322513" cy="36988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prstTxWarp prst="textNoShape">
              <a:avLst/>
            </a:prstTxWarp>
            <a:spAutoFit/>
          </a:bodyPr>
          <a:lstStyle/>
          <a:p>
            <a:r>
              <a:rPr lang="es-MX" dirty="0">
                <a:latin typeface="Avenir Book" panose="02000503020000020003" pitchFamily="2" charset="0"/>
              </a:rPr>
              <a:t>% Avance Esperado:</a:t>
            </a:r>
            <a:endParaRPr lang="en-US" dirty="0">
              <a:latin typeface="Avenir Book" panose="02000503020000020003" pitchFamily="2" charset="0"/>
            </a:endParaRPr>
          </a:p>
        </p:txBody>
      </p:sp>
      <p:sp>
        <p:nvSpPr>
          <p:cNvPr id="9" name="TextBox 33">
            <a:extLst>
              <a:ext uri="{FF2B5EF4-FFF2-40B4-BE49-F238E27FC236}">
                <a16:creationId xmlns:a16="http://schemas.microsoft.com/office/drawing/2014/main" id="{F7FDEB65-E074-DF59-80ED-9DABC59A182D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079500" y="1932729"/>
            <a:ext cx="2039938" cy="36988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prstTxWarp prst="textNoShape">
              <a:avLst/>
            </a:prstTxWarp>
            <a:spAutoFit/>
          </a:bodyPr>
          <a:lstStyle/>
          <a:p>
            <a:r>
              <a:rPr lang="es-MX" dirty="0">
                <a:latin typeface="Avenir Book" panose="02000503020000020003" pitchFamily="2" charset="0"/>
              </a:rPr>
              <a:t>% Avance Desvío:</a:t>
            </a:r>
            <a:endParaRPr lang="en-US" dirty="0">
              <a:latin typeface="Avenir Book" panose="02000503020000020003" pitchFamily="2" charset="0"/>
            </a:endParaRPr>
          </a:p>
        </p:txBody>
      </p:sp>
      <p:sp>
        <p:nvSpPr>
          <p:cNvPr id="10" name="TextBox 34">
            <a:extLst>
              <a:ext uri="{FF2B5EF4-FFF2-40B4-BE49-F238E27FC236}">
                <a16:creationId xmlns:a16="http://schemas.microsoft.com/office/drawing/2014/main" id="{6732A2B0-EE22-BC89-3784-04CE8909DABA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378201" y="1255395"/>
            <a:ext cx="677333" cy="36933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>
            <a:prstTxWarp prst="textNoShape">
              <a:avLst/>
            </a:prstTxWarp>
            <a:spAutoFit/>
          </a:bodyPr>
          <a:lstStyle/>
          <a:p>
            <a:r>
              <a:rPr lang="es-MX" dirty="0"/>
              <a:t>%</a:t>
            </a:r>
            <a:endParaRPr lang="en-US" dirty="0"/>
          </a:p>
        </p:txBody>
      </p:sp>
      <p:sp>
        <p:nvSpPr>
          <p:cNvPr id="11" name="TextBox 35">
            <a:extLst>
              <a:ext uri="{FF2B5EF4-FFF2-40B4-BE49-F238E27FC236}">
                <a16:creationId xmlns:a16="http://schemas.microsoft.com/office/drawing/2014/main" id="{541824F0-60E2-446F-1397-056C5A1B53E2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365501" y="1577129"/>
            <a:ext cx="740833" cy="38258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>
            <a:prstTxWarp prst="textNoShape">
              <a:avLst/>
            </a:prstTxWarp>
            <a:spAutoFit/>
          </a:bodyPr>
          <a:lstStyle/>
          <a:p>
            <a:r>
              <a:rPr lang="es-MX" dirty="0"/>
              <a:t>%</a:t>
            </a:r>
            <a:endParaRPr lang="en-US" dirty="0"/>
          </a:p>
        </p:txBody>
      </p:sp>
      <p:sp>
        <p:nvSpPr>
          <p:cNvPr id="12" name="TextBox 36">
            <a:extLst>
              <a:ext uri="{FF2B5EF4-FFF2-40B4-BE49-F238E27FC236}">
                <a16:creationId xmlns:a16="http://schemas.microsoft.com/office/drawing/2014/main" id="{1F3CC821-5EB5-A114-8398-9516A3F1156E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395136" y="1932729"/>
            <a:ext cx="694265" cy="36988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>
            <a:prstTxWarp prst="textNoShape">
              <a:avLst/>
            </a:prstTxWarp>
            <a:spAutoFit/>
          </a:bodyPr>
          <a:lstStyle/>
          <a:p>
            <a:r>
              <a:rPr lang="es-MX" b="1" dirty="0">
                <a:solidFill>
                  <a:srgbClr val="00B050"/>
                </a:solidFill>
              </a:rPr>
              <a:t>%</a:t>
            </a:r>
            <a:endParaRPr lang="en-US" b="1" dirty="0">
              <a:solidFill>
                <a:srgbClr val="00B050"/>
              </a:solidFill>
            </a:endParaRPr>
          </a:p>
        </p:txBody>
      </p:sp>
      <p:sp>
        <p:nvSpPr>
          <p:cNvPr id="13" name="TextBox 39">
            <a:extLst>
              <a:ext uri="{FF2B5EF4-FFF2-40B4-BE49-F238E27FC236}">
                <a16:creationId xmlns:a16="http://schemas.microsoft.com/office/drawing/2014/main" id="{048DA54C-563E-5DF3-521E-59537CCB75CE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229101" y="1246929"/>
            <a:ext cx="1787525" cy="36988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prstTxWarp prst="textNoShape">
              <a:avLst/>
            </a:prstTxWarp>
            <a:spAutoFit/>
          </a:bodyPr>
          <a:lstStyle/>
          <a:p>
            <a:r>
              <a:rPr lang="es-MX" dirty="0">
                <a:latin typeface="Avenir Book" panose="02000503020000020003" pitchFamily="2" charset="0"/>
              </a:rPr>
              <a:t>Observaciones:</a:t>
            </a:r>
            <a:endParaRPr lang="en-US" dirty="0">
              <a:latin typeface="Avenir Book" panose="02000503020000020003" pitchFamily="2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83585775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0FBCA1FA-0AB2-E4DE-62D1-541FAE2FD27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C" b="1" dirty="0">
                <a:latin typeface="Avenir Book" panose="02000503020000020003" pitchFamily="2" charset="0"/>
              </a:rPr>
              <a:t>Componentes y actividades pendientes en el Prácticum 4.2 TIC</a:t>
            </a:r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F0F6ABEE-F82A-96AF-B066-30136D9247B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5"/>
            <a:ext cx="10515600" cy="4351338"/>
          </a:xfrm>
        </p:spPr>
        <p:txBody>
          <a:bodyPr/>
          <a:lstStyle/>
          <a:p>
            <a:r>
              <a:rPr lang="es-EC" dirty="0">
                <a:latin typeface="Avenir Book" panose="02000503020000020003" pitchFamily="2" charset="0"/>
              </a:rPr>
              <a:t>Actividad pendiente 1…</a:t>
            </a:r>
          </a:p>
          <a:p>
            <a:pPr lvl="1"/>
            <a:r>
              <a:rPr lang="es-EC" dirty="0">
                <a:latin typeface="Avenir Book" panose="02000503020000020003" pitchFamily="2" charset="0"/>
              </a:rPr>
              <a:t>Fecha de culminación..</a:t>
            </a:r>
          </a:p>
          <a:p>
            <a:r>
              <a:rPr lang="es-EC" dirty="0">
                <a:latin typeface="Avenir Book" panose="02000503020000020003" pitchFamily="2" charset="0"/>
              </a:rPr>
              <a:t>Actividad pendiente 2 …</a:t>
            </a:r>
          </a:p>
          <a:p>
            <a:pPr lvl="1"/>
            <a:r>
              <a:rPr lang="es-EC" dirty="0">
                <a:latin typeface="Avenir Book" panose="02000503020000020003" pitchFamily="2" charset="0"/>
              </a:rPr>
              <a:t>Fecha de culminación …</a:t>
            </a:r>
          </a:p>
          <a:p>
            <a:pPr marL="457200" lvl="1" indent="0">
              <a:buNone/>
            </a:pPr>
            <a:endParaRPr lang="es-EC" dirty="0">
              <a:latin typeface="Avenir Book" panose="02000503020000020003" pitchFamily="2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788713512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B47FB99F-8350-B089-8126-7FE7E8A8E2A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452018"/>
            <a:ext cx="10515600" cy="1325563"/>
          </a:xfrm>
        </p:spPr>
        <p:txBody>
          <a:bodyPr/>
          <a:lstStyle/>
          <a:p>
            <a:r>
              <a:rPr lang="es-EC" dirty="0">
                <a:solidFill>
                  <a:schemeClr val="accent4"/>
                </a:solidFill>
                <a:latin typeface="Avenir Book" panose="02000503020000020003" pitchFamily="2" charset="0"/>
              </a:rPr>
              <a:t>¡Gracias por su atención!</a:t>
            </a:r>
          </a:p>
        </p:txBody>
      </p:sp>
      <p:sp>
        <p:nvSpPr>
          <p:cNvPr id="4" name="Título 1">
            <a:extLst>
              <a:ext uri="{FF2B5EF4-FFF2-40B4-BE49-F238E27FC236}">
                <a16:creationId xmlns:a16="http://schemas.microsoft.com/office/drawing/2014/main" id="{826D9245-2ABB-CCC9-95EE-C3EFD0FC3926}"/>
              </a:ext>
            </a:extLst>
          </p:cNvPr>
          <p:cNvSpPr txBox="1">
            <a:spLocks/>
          </p:cNvSpPr>
          <p:nvPr/>
        </p:nvSpPr>
        <p:spPr>
          <a:xfrm>
            <a:off x="838200" y="1440655"/>
            <a:ext cx="10515600" cy="1325563"/>
          </a:xfrm>
          <a:prstGeom prst="rect">
            <a:avLst/>
          </a:prstGeom>
        </p:spPr>
        <p:txBody>
          <a:bodyPr/>
          <a:lstStyle>
            <a:lvl1pPr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5400" b="1" kern="1200">
                <a:solidFill>
                  <a:schemeClr val="bg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s-EC" dirty="0">
                <a:latin typeface="Avenir Book" panose="02000503020000020003" pitchFamily="2" charset="0"/>
              </a:rPr>
              <a:t>¿Preguntas?</a:t>
            </a:r>
          </a:p>
        </p:txBody>
      </p:sp>
    </p:spTree>
    <p:extLst>
      <p:ext uri="{BB962C8B-B14F-4D97-AF65-F5344CB8AC3E}">
        <p14:creationId xmlns:p14="http://schemas.microsoft.com/office/powerpoint/2010/main" val="1019094318"/>
      </p:ext>
    </p:extLst>
  </p:cSld>
  <p:clrMapOvr>
    <a:masterClrMapping/>
  </p:clrMapOvr>
</p:sld>
</file>

<file path=ppt/theme/theme1.xml><?xml version="1.0" encoding="utf-8"?>
<a:theme xmlns:a="http://schemas.openxmlformats.org/drawingml/2006/main" name="Tema de 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Tema de 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Tema de 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13403</TotalTime>
  <Words>1004</Words>
  <Application>Microsoft Office PowerPoint</Application>
  <PresentationFormat>Panorámica</PresentationFormat>
  <Paragraphs>149</Paragraphs>
  <Slides>19</Slides>
  <Notes>1</Notes>
  <HiddenSlides>0</HiddenSlides>
  <MMClips>0</MMClips>
  <ScaleCrop>false</ScaleCrop>
  <HeadingPairs>
    <vt:vector size="6" baseType="variant">
      <vt:variant>
        <vt:lpstr>Fuentes usadas</vt:lpstr>
      </vt:variant>
      <vt:variant>
        <vt:i4>6</vt:i4>
      </vt:variant>
      <vt:variant>
        <vt:lpstr>Tema</vt:lpstr>
      </vt:variant>
      <vt:variant>
        <vt:i4>1</vt:i4>
      </vt:variant>
      <vt:variant>
        <vt:lpstr>Títulos de diapositiva</vt:lpstr>
      </vt:variant>
      <vt:variant>
        <vt:i4>19</vt:i4>
      </vt:variant>
    </vt:vector>
  </HeadingPairs>
  <TitlesOfParts>
    <vt:vector size="26" baseType="lpstr">
      <vt:lpstr>Arial</vt:lpstr>
      <vt:lpstr>Avenir Black</vt:lpstr>
      <vt:lpstr>Avenir Book</vt:lpstr>
      <vt:lpstr>Avenir Medium</vt:lpstr>
      <vt:lpstr>Calibri</vt:lpstr>
      <vt:lpstr>Lato</vt:lpstr>
      <vt:lpstr>Tema de Office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Avance del Trabajo de Integración Curricular</vt:lpstr>
      <vt:lpstr>Planificación del TIC </vt:lpstr>
      <vt:lpstr>Componentes y actividades pendientes en el Prácticum 4.2 TIC</vt:lpstr>
      <vt:lpstr>¡Gracias por su atención!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Presentación de PowerPoint</dc:title>
  <dc:creator>Microsoft Office User</dc:creator>
  <cp:lastModifiedBy>Farith Mejia</cp:lastModifiedBy>
  <cp:revision>22</cp:revision>
  <dcterms:created xsi:type="dcterms:W3CDTF">2022-04-18T16:36:16Z</dcterms:created>
  <dcterms:modified xsi:type="dcterms:W3CDTF">2026-05-25T05:39:56Z</dcterms:modified>
</cp:coreProperties>
</file>